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8"/>
  </p:notesMasterIdLst>
  <p:sldIdLst>
    <p:sldId id="256" r:id="rId2"/>
    <p:sldId id="337" r:id="rId3"/>
    <p:sldId id="257" r:id="rId4"/>
    <p:sldId id="317" r:id="rId5"/>
    <p:sldId id="330" r:id="rId6"/>
    <p:sldId id="302" r:id="rId7"/>
    <p:sldId id="318" r:id="rId8"/>
    <p:sldId id="331" r:id="rId9"/>
    <p:sldId id="301" r:id="rId10"/>
    <p:sldId id="258" r:id="rId11"/>
    <p:sldId id="332" r:id="rId12"/>
    <p:sldId id="307" r:id="rId13"/>
    <p:sldId id="308" r:id="rId14"/>
    <p:sldId id="309" r:id="rId15"/>
    <p:sldId id="306" r:id="rId16"/>
    <p:sldId id="310" r:id="rId17"/>
    <p:sldId id="333" r:id="rId18"/>
    <p:sldId id="377" r:id="rId19"/>
    <p:sldId id="387" r:id="rId20"/>
    <p:sldId id="271" r:id="rId21"/>
    <p:sldId id="319" r:id="rId22"/>
    <p:sldId id="389" r:id="rId23"/>
    <p:sldId id="390" r:id="rId24"/>
    <p:sldId id="391" r:id="rId25"/>
    <p:sldId id="392" r:id="rId26"/>
    <p:sldId id="396" r:id="rId27"/>
    <p:sldId id="393" r:id="rId28"/>
    <p:sldId id="394" r:id="rId29"/>
    <p:sldId id="395" r:id="rId30"/>
    <p:sldId id="397" r:id="rId31"/>
    <p:sldId id="398" r:id="rId32"/>
    <p:sldId id="399" r:id="rId33"/>
    <p:sldId id="400" r:id="rId34"/>
    <p:sldId id="401" r:id="rId35"/>
    <p:sldId id="402" r:id="rId36"/>
    <p:sldId id="403" r:id="rId37"/>
    <p:sldId id="404" r:id="rId38"/>
    <p:sldId id="405" r:id="rId39"/>
    <p:sldId id="313" r:id="rId40"/>
    <p:sldId id="261" r:id="rId41"/>
    <p:sldId id="311" r:id="rId42"/>
    <p:sldId id="312" r:id="rId43"/>
    <p:sldId id="284" r:id="rId44"/>
    <p:sldId id="334" r:id="rId45"/>
    <p:sldId id="364" r:id="rId46"/>
    <p:sldId id="365" r:id="rId47"/>
    <p:sldId id="366" r:id="rId48"/>
    <p:sldId id="428" r:id="rId49"/>
    <p:sldId id="367" r:id="rId50"/>
    <p:sldId id="368" r:id="rId51"/>
    <p:sldId id="369" r:id="rId52"/>
    <p:sldId id="370" r:id="rId53"/>
    <p:sldId id="371" r:id="rId54"/>
    <p:sldId id="324" r:id="rId55"/>
    <p:sldId id="326" r:id="rId56"/>
    <p:sldId id="325" r:id="rId57"/>
    <p:sldId id="315" r:id="rId58"/>
    <p:sldId id="316" r:id="rId59"/>
    <p:sldId id="262" r:id="rId60"/>
    <p:sldId id="335" r:id="rId61"/>
    <p:sldId id="327" r:id="rId62"/>
    <p:sldId id="341" r:id="rId63"/>
    <p:sldId id="372" r:id="rId64"/>
    <p:sldId id="373" r:id="rId65"/>
    <p:sldId id="291" r:id="rId66"/>
    <p:sldId id="374" r:id="rId67"/>
    <p:sldId id="283" r:id="rId68"/>
    <p:sldId id="338" r:id="rId69"/>
    <p:sldId id="344" r:id="rId70"/>
    <p:sldId id="345" r:id="rId71"/>
    <p:sldId id="346" r:id="rId72"/>
    <p:sldId id="269" r:id="rId73"/>
    <p:sldId id="347" r:id="rId74"/>
    <p:sldId id="381" r:id="rId75"/>
    <p:sldId id="348" r:id="rId76"/>
    <p:sldId id="378" r:id="rId77"/>
    <p:sldId id="380" r:id="rId78"/>
    <p:sldId id="382" r:id="rId79"/>
    <p:sldId id="359" r:id="rId80"/>
    <p:sldId id="360" r:id="rId81"/>
    <p:sldId id="362" r:id="rId82"/>
    <p:sldId id="363" r:id="rId83"/>
    <p:sldId id="422" r:id="rId84"/>
    <p:sldId id="349" r:id="rId85"/>
    <p:sldId id="383" r:id="rId86"/>
    <p:sldId id="385" r:id="rId87"/>
    <p:sldId id="386" r:id="rId88"/>
    <p:sldId id="352" r:id="rId89"/>
    <p:sldId id="409" r:id="rId90"/>
    <p:sldId id="410" r:id="rId91"/>
    <p:sldId id="354" r:id="rId92"/>
    <p:sldId id="355" r:id="rId93"/>
    <p:sldId id="423" r:id="rId94"/>
    <p:sldId id="424" r:id="rId95"/>
    <p:sldId id="425" r:id="rId96"/>
    <p:sldId id="357" r:id="rId97"/>
    <p:sldId id="426" r:id="rId98"/>
    <p:sldId id="427" r:id="rId99"/>
    <p:sldId id="339" r:id="rId100"/>
    <p:sldId id="406" r:id="rId101"/>
    <p:sldId id="388" r:id="rId102"/>
    <p:sldId id="429" r:id="rId103"/>
    <p:sldId id="407" r:id="rId104"/>
    <p:sldId id="414" r:id="rId105"/>
    <p:sldId id="415" r:id="rId106"/>
    <p:sldId id="416" r:id="rId107"/>
    <p:sldId id="417" r:id="rId108"/>
    <p:sldId id="418" r:id="rId109"/>
    <p:sldId id="411" r:id="rId110"/>
    <p:sldId id="408" r:id="rId111"/>
    <p:sldId id="419" r:id="rId112"/>
    <p:sldId id="420" r:id="rId113"/>
    <p:sldId id="421" r:id="rId114"/>
    <p:sldId id="413" r:id="rId115"/>
    <p:sldId id="412" r:id="rId116"/>
    <p:sldId id="375" r:id="rId117"/>
  </p:sldIdLst>
  <p:sldSz cx="12192000" cy="6858000"/>
  <p:notesSz cx="6669088"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kcja domyślna" id="{EC45B438-DDF3-4BAC-8494-6C3DFE38D8A8}">
          <p14:sldIdLst>
            <p14:sldId id="256"/>
            <p14:sldId id="337"/>
            <p14:sldId id="257"/>
            <p14:sldId id="317"/>
            <p14:sldId id="330"/>
            <p14:sldId id="302"/>
            <p14:sldId id="318"/>
            <p14:sldId id="331"/>
            <p14:sldId id="301"/>
            <p14:sldId id="258"/>
            <p14:sldId id="332"/>
            <p14:sldId id="307"/>
            <p14:sldId id="308"/>
            <p14:sldId id="309"/>
            <p14:sldId id="306"/>
            <p14:sldId id="310"/>
            <p14:sldId id="333"/>
            <p14:sldId id="377"/>
            <p14:sldId id="387"/>
          </p14:sldIdLst>
        </p14:section>
        <p14:section name="Sekcja bez tytułu" id="{9A2891AA-0D2F-4E6D-A287-6D82FF7E0B40}">
          <p14:sldIdLst>
            <p14:sldId id="271"/>
            <p14:sldId id="319"/>
            <p14:sldId id="389"/>
            <p14:sldId id="390"/>
            <p14:sldId id="391"/>
            <p14:sldId id="392"/>
            <p14:sldId id="396"/>
            <p14:sldId id="393"/>
            <p14:sldId id="394"/>
            <p14:sldId id="395"/>
            <p14:sldId id="397"/>
            <p14:sldId id="398"/>
            <p14:sldId id="399"/>
            <p14:sldId id="400"/>
            <p14:sldId id="401"/>
            <p14:sldId id="402"/>
            <p14:sldId id="403"/>
            <p14:sldId id="404"/>
            <p14:sldId id="405"/>
            <p14:sldId id="313"/>
            <p14:sldId id="261"/>
            <p14:sldId id="311"/>
            <p14:sldId id="312"/>
            <p14:sldId id="284"/>
            <p14:sldId id="334"/>
            <p14:sldId id="364"/>
            <p14:sldId id="365"/>
            <p14:sldId id="366"/>
            <p14:sldId id="428"/>
            <p14:sldId id="367"/>
            <p14:sldId id="368"/>
            <p14:sldId id="369"/>
            <p14:sldId id="370"/>
            <p14:sldId id="371"/>
            <p14:sldId id="324"/>
            <p14:sldId id="326"/>
            <p14:sldId id="325"/>
            <p14:sldId id="315"/>
            <p14:sldId id="316"/>
            <p14:sldId id="262"/>
            <p14:sldId id="335"/>
            <p14:sldId id="327"/>
            <p14:sldId id="341"/>
            <p14:sldId id="372"/>
            <p14:sldId id="373"/>
            <p14:sldId id="291"/>
            <p14:sldId id="374"/>
            <p14:sldId id="283"/>
            <p14:sldId id="338"/>
            <p14:sldId id="344"/>
            <p14:sldId id="345"/>
            <p14:sldId id="346"/>
            <p14:sldId id="269"/>
            <p14:sldId id="347"/>
            <p14:sldId id="381"/>
            <p14:sldId id="348"/>
            <p14:sldId id="378"/>
            <p14:sldId id="380"/>
            <p14:sldId id="382"/>
            <p14:sldId id="359"/>
            <p14:sldId id="360"/>
            <p14:sldId id="362"/>
            <p14:sldId id="363"/>
            <p14:sldId id="422"/>
            <p14:sldId id="349"/>
            <p14:sldId id="383"/>
            <p14:sldId id="385"/>
            <p14:sldId id="386"/>
            <p14:sldId id="352"/>
            <p14:sldId id="409"/>
            <p14:sldId id="410"/>
            <p14:sldId id="354"/>
            <p14:sldId id="355"/>
            <p14:sldId id="423"/>
            <p14:sldId id="424"/>
            <p14:sldId id="425"/>
            <p14:sldId id="357"/>
            <p14:sldId id="426"/>
            <p14:sldId id="427"/>
            <p14:sldId id="339"/>
            <p14:sldId id="406"/>
            <p14:sldId id="388"/>
            <p14:sldId id="429"/>
            <p14:sldId id="407"/>
            <p14:sldId id="414"/>
            <p14:sldId id="415"/>
            <p14:sldId id="416"/>
            <p14:sldId id="417"/>
            <p14:sldId id="418"/>
            <p14:sldId id="411"/>
            <p14:sldId id="408"/>
            <p14:sldId id="419"/>
            <p14:sldId id="420"/>
            <p14:sldId id="421"/>
            <p14:sldId id="413"/>
            <p14:sldId id="412"/>
            <p14:sldId id="3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93" autoAdjust="0"/>
    <p:restoredTop sz="95268" autoAdjust="0"/>
  </p:normalViewPr>
  <p:slideViewPr>
    <p:cSldViewPr snapToGrid="0">
      <p:cViewPr varScale="1">
        <p:scale>
          <a:sx n="83" d="100"/>
          <a:sy n="83" d="100"/>
        </p:scale>
        <p:origin x="744" y="4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534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7607" y="0"/>
            <a:ext cx="2889938" cy="495348"/>
          </a:xfrm>
          <a:prstGeom prst="rect">
            <a:avLst/>
          </a:prstGeom>
        </p:spPr>
        <p:txBody>
          <a:bodyPr vert="horz" lIns="91440" tIns="45720" rIns="91440" bIns="45720" rtlCol="0"/>
          <a:lstStyle>
            <a:lvl1pPr algn="r">
              <a:defRPr sz="1200"/>
            </a:lvl1pPr>
          </a:lstStyle>
          <a:p>
            <a:fld id="{06342332-5572-4056-A65F-CFA00DE12A84}" type="datetimeFigureOut">
              <a:rPr lang="en-US" smtClean="0"/>
              <a:t>6/20/2023</a:t>
            </a:fld>
            <a:endParaRPr lang="en-US"/>
          </a:p>
        </p:txBody>
      </p:sp>
      <p:sp>
        <p:nvSpPr>
          <p:cNvPr id="4" name="Slide Image Placeholder 3"/>
          <p:cNvSpPr>
            <a:spLocks noGrp="1" noRot="1" noChangeAspect="1"/>
          </p:cNvSpPr>
          <p:nvPr>
            <p:ph type="sldImg" idx="2"/>
          </p:nvPr>
        </p:nvSpPr>
        <p:spPr>
          <a:xfrm>
            <a:off x="373063" y="1233488"/>
            <a:ext cx="5922962" cy="333216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6909" y="4751219"/>
            <a:ext cx="5335270" cy="388736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7317"/>
            <a:ext cx="2889938" cy="49534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7607" y="9377317"/>
            <a:ext cx="2889938" cy="495347"/>
          </a:xfrm>
          <a:prstGeom prst="rect">
            <a:avLst/>
          </a:prstGeom>
        </p:spPr>
        <p:txBody>
          <a:bodyPr vert="horz" lIns="91440" tIns="45720" rIns="91440" bIns="45720" rtlCol="0" anchor="b"/>
          <a:lstStyle>
            <a:lvl1pPr algn="r">
              <a:defRPr sz="1200"/>
            </a:lvl1pPr>
          </a:lstStyle>
          <a:p>
            <a:fld id="{2701B6DA-81C0-488E-BFED-F5321E4669D3}" type="slidenum">
              <a:rPr lang="en-US" smtClean="0"/>
              <a:t>‹#›</a:t>
            </a:fld>
            <a:endParaRPr lang="en-US"/>
          </a:p>
        </p:txBody>
      </p:sp>
    </p:spTree>
    <p:extLst>
      <p:ext uri="{BB962C8B-B14F-4D97-AF65-F5344CB8AC3E}">
        <p14:creationId xmlns:p14="http://schemas.microsoft.com/office/powerpoint/2010/main" val="675954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kład niestandardow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B9B05E3-C48F-4BD6-8A96-A14D2BAF38A6}"/>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C87A4BEA-E09C-401F-AD54-92B2C41AC5FB}"/>
              </a:ext>
            </a:extLst>
          </p:cNvPr>
          <p:cNvSpPr>
            <a:spLocks noGrp="1"/>
          </p:cNvSpPr>
          <p:nvPr>
            <p:ph type="subTitle" idx="1" hasCustomPrompt="1"/>
          </p:nvPr>
        </p:nvSpPr>
        <p:spPr>
          <a:xfrm>
            <a:off x="1524000" y="4251780"/>
            <a:ext cx="9144000" cy="438754"/>
          </a:xfrm>
          <a:prstGeom prst="rect">
            <a:avLst/>
          </a:prstGeom>
        </p:spPr>
        <p:txBody>
          <a:bodyPr/>
          <a:lstStyle>
            <a:lvl1pPr marL="0" indent="93663" algn="l">
              <a:buNone/>
              <a:defRPr sz="2000" baseline="0">
                <a:solidFill>
                  <a:schemeClr val="bg1"/>
                </a:solidFill>
                <a:latin typeface="Mundial" pitchFamily="50"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dirty="0"/>
              <a:t>Dodatkowa nazwa czy autor prezentacji. </a:t>
            </a:r>
            <a:endParaRPr lang="en-US" dirty="0"/>
          </a:p>
        </p:txBody>
      </p:sp>
      <p:sp>
        <p:nvSpPr>
          <p:cNvPr id="7" name="Footer Placeholder 4">
            <a:extLst>
              <a:ext uri="{FF2B5EF4-FFF2-40B4-BE49-F238E27FC236}">
                <a16:creationId xmlns:a16="http://schemas.microsoft.com/office/drawing/2014/main" id="{BECC2253-B2D8-4107-892B-CBF89401093F}"/>
              </a:ext>
            </a:extLst>
          </p:cNvPr>
          <p:cNvSpPr txBox="1">
            <a:spLocks/>
          </p:cNvSpPr>
          <p:nvPr userDrawn="1"/>
        </p:nvSpPr>
        <p:spPr>
          <a:xfrm>
            <a:off x="3722915" y="365125"/>
            <a:ext cx="457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OCRpolski" panose="02010509020102010303" pitchFamily="50" charset="2"/>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l-PL" dirty="0">
                <a:solidFill>
                  <a:schemeClr val="bg1"/>
                </a:solidFill>
              </a:rPr>
              <a:t>Polsko-Japońska Akademia Technik Komputerowych</a:t>
            </a:r>
            <a:endParaRPr lang="en-US" dirty="0">
              <a:solidFill>
                <a:schemeClr val="bg1"/>
              </a:solidFill>
            </a:endParaRPr>
          </a:p>
        </p:txBody>
      </p:sp>
      <p:pic>
        <p:nvPicPr>
          <p:cNvPr id="8" name="Picture 7">
            <a:extLst>
              <a:ext uri="{FF2B5EF4-FFF2-40B4-BE49-F238E27FC236}">
                <a16:creationId xmlns:a16="http://schemas.microsoft.com/office/drawing/2014/main" id="{41301AC5-525F-4011-95AA-296E08440CF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77551" y="5680453"/>
            <a:ext cx="615590" cy="627004"/>
          </a:xfrm>
          <a:prstGeom prst="rect">
            <a:avLst/>
          </a:prstGeom>
        </p:spPr>
      </p:pic>
      <p:sp>
        <p:nvSpPr>
          <p:cNvPr id="9" name="Picture Placeholder 12">
            <a:extLst>
              <a:ext uri="{FF2B5EF4-FFF2-40B4-BE49-F238E27FC236}">
                <a16:creationId xmlns:a16="http://schemas.microsoft.com/office/drawing/2014/main" id="{9E7C9829-D927-495C-9147-448A7A695413}"/>
              </a:ext>
            </a:extLst>
          </p:cNvPr>
          <p:cNvSpPr>
            <a:spLocks noGrp="1"/>
          </p:cNvSpPr>
          <p:nvPr>
            <p:ph type="pic" sz="quarter" idx="13" hasCustomPrompt="1"/>
          </p:nvPr>
        </p:nvSpPr>
        <p:spPr>
          <a:xfrm>
            <a:off x="3384777" y="5696214"/>
            <a:ext cx="1483556" cy="627063"/>
          </a:xfrm>
          <a:prstGeom prst="rect">
            <a:avLst/>
          </a:prstGeom>
        </p:spPr>
        <p:txBody>
          <a:bodyPr/>
          <a:lstStyle>
            <a:lvl1pPr marL="0" indent="0" algn="ctr">
              <a:buNone/>
              <a:defRPr sz="900" baseline="0">
                <a:solidFill>
                  <a:schemeClr val="bg1"/>
                </a:solidFill>
                <a:latin typeface="Mundial Light" pitchFamily="50" charset="-18"/>
              </a:defRPr>
            </a:lvl1pPr>
          </a:lstStyle>
          <a:p>
            <a:br>
              <a:rPr lang="pl-PL" dirty="0"/>
            </a:br>
            <a:r>
              <a:rPr lang="pl-PL" dirty="0"/>
              <a:t>Miejsce na wasze osobiste logo</a:t>
            </a:r>
            <a:endParaRPr lang="en-US" dirty="0"/>
          </a:p>
        </p:txBody>
      </p:sp>
      <p:sp>
        <p:nvSpPr>
          <p:cNvPr id="10" name="Picture Placeholder 12">
            <a:extLst>
              <a:ext uri="{FF2B5EF4-FFF2-40B4-BE49-F238E27FC236}">
                <a16:creationId xmlns:a16="http://schemas.microsoft.com/office/drawing/2014/main" id="{97D90A88-35AF-4ADC-ACE2-DB1D81EB3994}"/>
              </a:ext>
            </a:extLst>
          </p:cNvPr>
          <p:cNvSpPr>
            <a:spLocks noGrp="1"/>
          </p:cNvSpPr>
          <p:nvPr>
            <p:ph type="pic" sz="quarter" idx="12" hasCustomPrompt="1"/>
          </p:nvPr>
        </p:nvSpPr>
        <p:spPr>
          <a:xfrm>
            <a:off x="2532063" y="5680075"/>
            <a:ext cx="676275" cy="627063"/>
          </a:xfrm>
          <a:prstGeom prst="rect">
            <a:avLst/>
          </a:prstGeom>
        </p:spPr>
        <p:txBody>
          <a:bodyPr/>
          <a:lstStyle>
            <a:lvl1pPr marL="0" indent="0" algn="ctr">
              <a:buNone/>
              <a:defRPr sz="900" baseline="0">
                <a:solidFill>
                  <a:schemeClr val="bg1"/>
                </a:solidFill>
                <a:latin typeface="Mundial Light" pitchFamily="50" charset="-18"/>
              </a:defRPr>
            </a:lvl1pPr>
          </a:lstStyle>
          <a:p>
            <a:r>
              <a:rPr lang="pl-PL" dirty="0"/>
              <a:t>Miejsce na wasze osobiste logo</a:t>
            </a:r>
            <a:endParaRPr lang="en-US" dirty="0"/>
          </a:p>
        </p:txBody>
      </p:sp>
      <p:sp>
        <p:nvSpPr>
          <p:cNvPr id="11" name="Title 1">
            <a:extLst>
              <a:ext uri="{FF2B5EF4-FFF2-40B4-BE49-F238E27FC236}">
                <a16:creationId xmlns:a16="http://schemas.microsoft.com/office/drawing/2014/main" id="{AC7C27E8-2E3B-4A11-9E20-5BA04B40F673}"/>
              </a:ext>
            </a:extLst>
          </p:cNvPr>
          <p:cNvSpPr>
            <a:spLocks noGrp="1"/>
          </p:cNvSpPr>
          <p:nvPr>
            <p:ph type="ctrTitle" hasCustomPrompt="1"/>
          </p:nvPr>
        </p:nvSpPr>
        <p:spPr>
          <a:xfrm>
            <a:off x="1524000" y="1566333"/>
            <a:ext cx="9144000" cy="2547787"/>
          </a:xfrm>
        </p:spPr>
        <p:txBody>
          <a:bodyPr anchor="b"/>
          <a:lstStyle>
            <a:lvl1pPr algn="l">
              <a:defRPr sz="6000" baseline="0">
                <a:solidFill>
                  <a:schemeClr val="bg1"/>
                </a:solidFill>
              </a:defRPr>
            </a:lvl1pPr>
          </a:lstStyle>
          <a:p>
            <a:r>
              <a:rPr lang="pl-PL" dirty="0"/>
              <a:t>Nazwa </a:t>
            </a:r>
            <a:br>
              <a:rPr lang="pl-PL" dirty="0"/>
            </a:br>
            <a:r>
              <a:rPr lang="pl-PL" dirty="0"/>
              <a:t>Prezentacji</a:t>
            </a:r>
            <a:br>
              <a:rPr lang="pl-PL" dirty="0"/>
            </a:br>
            <a:r>
              <a:rPr lang="pl-PL" dirty="0"/>
              <a:t>Administracja PJATK</a:t>
            </a:r>
            <a:endParaRPr lang="en-US" dirty="0"/>
          </a:p>
        </p:txBody>
      </p:sp>
    </p:spTree>
    <p:extLst>
      <p:ext uri="{BB962C8B-B14F-4D97-AF65-F5344CB8AC3E}">
        <p14:creationId xmlns:p14="http://schemas.microsoft.com/office/powerpoint/2010/main" val="4008774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kst - 1 ">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pl-PL" dirty="0"/>
              <a:t>Temat Rozdziału</a:t>
            </a:r>
            <a:endParaRPr lang="en-US" dirty="0"/>
          </a:p>
        </p:txBody>
      </p:sp>
      <p:sp>
        <p:nvSpPr>
          <p:cNvPr id="5" name="Footer Placeholder 4"/>
          <p:cNvSpPr>
            <a:spLocks noGrp="1"/>
          </p:cNvSpPr>
          <p:nvPr>
            <p:ph type="ftr" sz="quarter" idx="11"/>
          </p:nvPr>
        </p:nvSpPr>
        <p:spPr/>
        <p:txBody>
          <a:bodyPr/>
          <a:lstStyle/>
          <a:p>
            <a:r>
              <a:rPr lang="pl-PL" dirty="0"/>
              <a:t>Polsko-Japońska Akademia Technik Komputerowych</a:t>
            </a:r>
            <a:endParaRPr lang="en-US" dirty="0"/>
          </a:p>
        </p:txBody>
      </p:sp>
      <p:sp>
        <p:nvSpPr>
          <p:cNvPr id="6" name="Slide Number Placeholder 5"/>
          <p:cNvSpPr>
            <a:spLocks noGrp="1"/>
          </p:cNvSpPr>
          <p:nvPr>
            <p:ph type="sldNum" sz="quarter" idx="12"/>
          </p:nvPr>
        </p:nvSpPr>
        <p:spPr/>
        <p:txBody>
          <a:bodyPr/>
          <a:lstStyle/>
          <a:p>
            <a:fld id="{439CBD9F-C91E-49DF-B625-7C7E2E3EE5C8}" type="slidenum">
              <a:rPr lang="en-US" smtClean="0"/>
              <a:t>‹#›</a:t>
            </a:fld>
            <a:endParaRPr lang="en-US"/>
          </a:p>
        </p:txBody>
      </p:sp>
      <p:sp>
        <p:nvSpPr>
          <p:cNvPr id="11" name="Text Placeholder 10"/>
          <p:cNvSpPr>
            <a:spLocks noGrp="1"/>
          </p:cNvSpPr>
          <p:nvPr>
            <p:ph type="body" sz="quarter" idx="13" hasCustomPrompt="1"/>
          </p:nvPr>
        </p:nvSpPr>
        <p:spPr>
          <a:xfrm>
            <a:off x="3722915" y="2247069"/>
            <a:ext cx="6188527" cy="3314019"/>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laoreet</a:t>
            </a:r>
            <a:r>
              <a:rPr lang="pl-PL" dirty="0"/>
              <a:t> </a:t>
            </a:r>
            <a:r>
              <a:rPr lang="pl-PL" dirty="0" err="1"/>
              <a:t>dolore</a:t>
            </a:r>
            <a:r>
              <a:rPr lang="pl-PL" dirty="0"/>
              <a:t> </a:t>
            </a:r>
            <a:r>
              <a:rPr lang="pl-PL" dirty="0" err="1"/>
              <a:t>magna</a:t>
            </a:r>
            <a:r>
              <a:rPr lang="pl-PL" dirty="0"/>
              <a:t> </a:t>
            </a:r>
            <a:r>
              <a:rPr lang="pl-PL" dirty="0" err="1"/>
              <a:t>aliquam</a:t>
            </a:r>
            <a:r>
              <a:rPr lang="pl-PL" dirty="0"/>
              <a:t> </a:t>
            </a:r>
            <a:r>
              <a:rPr lang="pl-PL" dirty="0" err="1"/>
              <a:t>erat</a:t>
            </a:r>
            <a:r>
              <a:rPr lang="pl-PL" dirty="0"/>
              <a:t> </a:t>
            </a:r>
            <a:r>
              <a:rPr lang="pl-PL" dirty="0" err="1"/>
              <a:t>volutpat</a:t>
            </a:r>
            <a:r>
              <a:rPr lang="pl-PL" dirty="0"/>
              <a:t>. </a:t>
            </a:r>
            <a:r>
              <a:rPr lang="pl-PL" dirty="0" err="1"/>
              <a:t>Ut</a:t>
            </a:r>
            <a:r>
              <a:rPr lang="pl-PL" dirty="0"/>
              <a:t> wisi </a:t>
            </a:r>
            <a:r>
              <a:rPr lang="pl-PL" dirty="0" err="1"/>
              <a:t>enim</a:t>
            </a:r>
            <a:r>
              <a:rPr lang="pl-PL" dirty="0"/>
              <a:t> ad </a:t>
            </a:r>
            <a:r>
              <a:rPr lang="pl-PL" dirty="0" err="1"/>
              <a:t>minim</a:t>
            </a:r>
            <a:r>
              <a:rPr lang="pl-PL" dirty="0"/>
              <a:t> </a:t>
            </a:r>
            <a:r>
              <a:rPr lang="pl-PL" dirty="0" err="1"/>
              <a:t>veniam</a:t>
            </a:r>
            <a:r>
              <a:rPr lang="pl-PL" dirty="0"/>
              <a:t>, </a:t>
            </a:r>
            <a:r>
              <a:rPr lang="pl-PL" dirty="0" err="1"/>
              <a:t>quis</a:t>
            </a:r>
            <a:r>
              <a:rPr lang="pl-PL" dirty="0"/>
              <a:t> </a:t>
            </a:r>
            <a:r>
              <a:rPr lang="pl-PL" dirty="0" err="1"/>
              <a:t>nostrud</a:t>
            </a:r>
            <a:r>
              <a:rPr lang="pl-PL" dirty="0"/>
              <a:t> </a:t>
            </a:r>
            <a:r>
              <a:rPr lang="pl-PL" dirty="0" err="1"/>
              <a:t>exerci</a:t>
            </a:r>
            <a:r>
              <a:rPr lang="pl-PL" dirty="0"/>
              <a:t> </a:t>
            </a:r>
            <a:r>
              <a:rPr lang="pl-PL" dirty="0" err="1"/>
              <a:t>tation</a:t>
            </a:r>
            <a:r>
              <a:rPr lang="pl-PL" dirty="0"/>
              <a:t> </a:t>
            </a:r>
            <a:r>
              <a:rPr lang="pl-PL" dirty="0" err="1"/>
              <a:t>ullamcorper</a:t>
            </a:r>
            <a:r>
              <a:rPr lang="pl-PL" dirty="0"/>
              <a:t> </a:t>
            </a:r>
            <a:r>
              <a:rPr lang="pl-PL" dirty="0" err="1"/>
              <a:t>suscipit</a:t>
            </a:r>
            <a:r>
              <a:rPr lang="pl-PL" dirty="0"/>
              <a:t> </a:t>
            </a:r>
            <a:r>
              <a:rPr lang="pl-PL" dirty="0" err="1"/>
              <a:t>lobortis</a:t>
            </a:r>
            <a:r>
              <a:rPr lang="pl-PL" dirty="0"/>
              <a:t> </a:t>
            </a:r>
            <a:r>
              <a:rPr lang="pl-PL" dirty="0" err="1"/>
              <a:t>nisl</a:t>
            </a:r>
            <a:r>
              <a:rPr lang="pl-PL" dirty="0"/>
              <a:t> </a:t>
            </a:r>
            <a:r>
              <a:rPr lang="pl-PL" dirty="0" err="1"/>
              <a:t>ut</a:t>
            </a:r>
            <a:r>
              <a:rPr lang="pl-PL" dirty="0"/>
              <a:t> </a:t>
            </a:r>
            <a:r>
              <a:rPr lang="pl-PL" dirty="0" err="1"/>
              <a:t>aliquip</a:t>
            </a:r>
            <a:r>
              <a:rPr lang="pl-PL" dirty="0"/>
              <a:t> ex </a:t>
            </a:r>
            <a:r>
              <a:rPr lang="pl-PL" dirty="0" err="1"/>
              <a:t>ea</a:t>
            </a:r>
            <a:r>
              <a:rPr lang="pl-PL" dirty="0"/>
              <a:t> </a:t>
            </a:r>
            <a:r>
              <a:rPr lang="pl-PL" dirty="0" err="1"/>
              <a:t>commodo</a:t>
            </a:r>
            <a:r>
              <a:rPr lang="pl-PL" dirty="0"/>
              <a:t> </a:t>
            </a:r>
            <a:r>
              <a:rPr lang="pl-PL" dirty="0" err="1"/>
              <a:t>consequat</a:t>
            </a:r>
            <a:r>
              <a:rPr lang="pl-PL" dirty="0"/>
              <a:t>. </a:t>
            </a:r>
            <a:r>
              <a:rPr lang="pl-PL" dirty="0" err="1"/>
              <a:t>Duis</a:t>
            </a:r>
            <a:r>
              <a:rPr lang="pl-PL" dirty="0"/>
              <a:t> autem vel </a:t>
            </a:r>
            <a:r>
              <a:rPr lang="pl-PL" dirty="0" err="1"/>
              <a:t>eum</a:t>
            </a:r>
            <a:r>
              <a:rPr lang="pl-PL" dirty="0"/>
              <a:t> </a:t>
            </a:r>
            <a:r>
              <a:rPr lang="pl-PL" dirty="0" err="1"/>
              <a:t>iriure</a:t>
            </a:r>
            <a:r>
              <a:rPr lang="pl-PL" dirty="0"/>
              <a:t> </a:t>
            </a:r>
            <a:r>
              <a:rPr lang="pl-PL" dirty="0" err="1"/>
              <a:t>dolor</a:t>
            </a:r>
            <a:r>
              <a:rPr lang="pl-PL" dirty="0"/>
              <a:t> in </a:t>
            </a:r>
            <a:r>
              <a:rPr lang="pl-PL" dirty="0" err="1"/>
              <a:t>hendrerit</a:t>
            </a:r>
            <a:r>
              <a:rPr lang="pl-PL" dirty="0"/>
              <a:t> in </a:t>
            </a:r>
            <a:r>
              <a:rPr lang="pl-PL" dirty="0" err="1"/>
              <a:t>vulputate</a:t>
            </a:r>
            <a:r>
              <a:rPr lang="pl-PL" dirty="0"/>
              <a:t> </a:t>
            </a:r>
            <a:r>
              <a:rPr lang="pl-PL" dirty="0" err="1"/>
              <a:t>velit</a:t>
            </a:r>
            <a:r>
              <a:rPr lang="pl-PL" dirty="0"/>
              <a:t> </a:t>
            </a:r>
            <a:r>
              <a:rPr lang="pl-PL" dirty="0" err="1"/>
              <a:t>esse</a:t>
            </a:r>
            <a:r>
              <a:rPr lang="pl-PL" dirty="0"/>
              <a:t> </a:t>
            </a:r>
            <a:r>
              <a:rPr lang="pl-PL" dirty="0" err="1"/>
              <a:t>molestie</a:t>
            </a:r>
            <a:r>
              <a:rPr lang="pl-PL" dirty="0"/>
              <a:t> </a:t>
            </a:r>
            <a:r>
              <a:rPr lang="pl-PL" dirty="0" err="1"/>
              <a:t>consequat</a:t>
            </a:r>
            <a:r>
              <a:rPr lang="pl-PL" dirty="0"/>
              <a:t>, vel </a:t>
            </a:r>
            <a:r>
              <a:rPr lang="pl-PL" dirty="0" err="1"/>
              <a:t>illum</a:t>
            </a:r>
            <a:r>
              <a:rPr lang="pl-PL" dirty="0"/>
              <a:t> </a:t>
            </a:r>
            <a:r>
              <a:rPr lang="pl-PL" dirty="0" err="1"/>
              <a:t>dolore</a:t>
            </a:r>
            <a:r>
              <a:rPr lang="pl-PL" dirty="0"/>
              <a:t> </a:t>
            </a:r>
            <a:r>
              <a:rPr lang="pl-PL" dirty="0" err="1"/>
              <a:t>eu</a:t>
            </a:r>
            <a:r>
              <a:rPr lang="pl-PL" dirty="0"/>
              <a:t> </a:t>
            </a:r>
            <a:r>
              <a:rPr lang="pl-PL" dirty="0" err="1"/>
              <a:t>feugiat</a:t>
            </a:r>
            <a:r>
              <a:rPr lang="pl-PL" dirty="0"/>
              <a:t> </a:t>
            </a:r>
            <a:r>
              <a:rPr lang="pl-PL" dirty="0" err="1"/>
              <a:t>nulla</a:t>
            </a:r>
            <a:r>
              <a:rPr lang="pl-PL" dirty="0"/>
              <a:t> </a:t>
            </a:r>
            <a:r>
              <a:rPr lang="pl-PL" dirty="0" err="1"/>
              <a:t>facilisis</a:t>
            </a:r>
            <a:r>
              <a:rPr lang="pl-PL" dirty="0"/>
              <a:t> </a:t>
            </a:r>
            <a:r>
              <a:rPr lang="pl-PL" dirty="0" err="1"/>
              <a:t>at</a:t>
            </a:r>
            <a:r>
              <a:rPr lang="pl-PL" dirty="0"/>
              <a:t> </a:t>
            </a:r>
            <a:r>
              <a:rPr lang="pl-PL" dirty="0" err="1"/>
              <a:t>vero</a:t>
            </a:r>
            <a:r>
              <a:rPr lang="pl-PL" dirty="0"/>
              <a:t> eros et </a:t>
            </a:r>
            <a:r>
              <a:rPr lang="pl-PL" dirty="0" err="1"/>
              <a:t>accumsan</a:t>
            </a:r>
            <a:r>
              <a:rPr lang="pl-PL" dirty="0"/>
              <a:t> et </a:t>
            </a:r>
            <a:r>
              <a:rPr lang="pl-PL" dirty="0" err="1"/>
              <a:t>iusto</a:t>
            </a:r>
            <a:r>
              <a:rPr lang="pl-PL" dirty="0"/>
              <a:t> </a:t>
            </a:r>
            <a:r>
              <a:rPr lang="pl-PL" dirty="0" err="1"/>
              <a:t>odio</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laoreet</a:t>
            </a:r>
            <a:r>
              <a:rPr lang="pl-PL" dirty="0"/>
              <a:t> </a:t>
            </a:r>
            <a:r>
              <a:rPr lang="pl-PL" dirty="0" err="1"/>
              <a:t>dolore</a:t>
            </a:r>
            <a:r>
              <a:rPr lang="pl-PL" dirty="0"/>
              <a:t> </a:t>
            </a:r>
            <a:r>
              <a:rPr lang="pl-PL" dirty="0" err="1"/>
              <a:t>magna</a:t>
            </a:r>
            <a:r>
              <a:rPr lang="pl-PL" dirty="0"/>
              <a:t> </a:t>
            </a:r>
            <a:r>
              <a:rPr lang="pl-PL" dirty="0" err="1"/>
              <a:t>aliquam</a:t>
            </a:r>
            <a:r>
              <a:rPr lang="pl-PL" dirty="0"/>
              <a:t> </a:t>
            </a:r>
            <a:r>
              <a:rPr lang="pl-PL" dirty="0" err="1"/>
              <a:t>erat</a:t>
            </a:r>
            <a:r>
              <a:rPr lang="pl-PL" dirty="0"/>
              <a:t> </a:t>
            </a:r>
            <a:r>
              <a:rPr lang="pl-PL" dirty="0" err="1"/>
              <a:t>volutpat</a:t>
            </a:r>
            <a:r>
              <a:rPr lang="pl-PL" dirty="0"/>
              <a:t>. </a:t>
            </a:r>
            <a:r>
              <a:rPr lang="pl-PL" dirty="0" err="1"/>
              <a:t>Ut</a:t>
            </a:r>
            <a:r>
              <a:rPr lang="pl-PL" dirty="0"/>
              <a:t> wisi </a:t>
            </a:r>
            <a:r>
              <a:rPr lang="pl-PL" dirty="0" err="1"/>
              <a:t>enim</a:t>
            </a:r>
            <a:r>
              <a:rPr lang="pl-PL" dirty="0"/>
              <a:t> ad </a:t>
            </a:r>
            <a:r>
              <a:rPr lang="pl-PL" dirty="0" err="1"/>
              <a:t>minim</a:t>
            </a:r>
            <a:r>
              <a:rPr lang="pl-PL" dirty="0"/>
              <a:t> </a:t>
            </a:r>
            <a:r>
              <a:rPr lang="pl-PL" dirty="0" err="1"/>
              <a:t>veniam</a:t>
            </a:r>
            <a:r>
              <a:rPr lang="pl-PL" dirty="0"/>
              <a:t>, </a:t>
            </a:r>
            <a:r>
              <a:rPr lang="pl-PL" dirty="0" err="1"/>
              <a:t>quis</a:t>
            </a:r>
            <a:r>
              <a:rPr lang="pl-PL" dirty="0"/>
              <a:t> </a:t>
            </a:r>
            <a:r>
              <a:rPr lang="pl-PL" dirty="0" err="1"/>
              <a:t>nostrud</a:t>
            </a:r>
            <a:r>
              <a:rPr lang="pl-PL" dirty="0"/>
              <a:t> </a:t>
            </a:r>
            <a:r>
              <a:rPr lang="pl-PL" dirty="0" err="1"/>
              <a:t>exerci</a:t>
            </a:r>
            <a:r>
              <a:rPr lang="pl-PL" dirty="0"/>
              <a:t> </a:t>
            </a:r>
            <a:r>
              <a:rPr lang="pl-PL" dirty="0" err="1"/>
              <a:t>tation</a:t>
            </a:r>
            <a:r>
              <a:rPr lang="pl-PL" dirty="0"/>
              <a:t> </a:t>
            </a:r>
            <a:r>
              <a:rPr lang="pl-PL" dirty="0" err="1"/>
              <a:t>ullamcorper</a:t>
            </a:r>
            <a:r>
              <a:rPr lang="pl-PL" dirty="0"/>
              <a:t> </a:t>
            </a:r>
            <a:r>
              <a:rPr lang="pl-PL" dirty="0" err="1"/>
              <a:t>suscipit</a:t>
            </a:r>
            <a:r>
              <a:rPr lang="pl-PL" dirty="0"/>
              <a:t> </a:t>
            </a:r>
            <a:r>
              <a:rPr lang="pl-PL" dirty="0" err="1"/>
              <a:t>lobortis</a:t>
            </a:r>
            <a:r>
              <a:rPr lang="pl-PL" dirty="0"/>
              <a:t> </a:t>
            </a:r>
            <a:r>
              <a:rPr lang="pl-PL" dirty="0" err="1"/>
              <a:t>nisl</a:t>
            </a:r>
            <a:r>
              <a:rPr lang="pl-PL" dirty="0"/>
              <a:t> </a:t>
            </a:r>
            <a:r>
              <a:rPr lang="pl-PL" dirty="0" err="1"/>
              <a:t>ut</a:t>
            </a:r>
            <a:r>
              <a:rPr lang="pl-PL" dirty="0"/>
              <a:t> </a:t>
            </a:r>
            <a:r>
              <a:rPr lang="pl-PL" dirty="0" err="1"/>
              <a:t>aliquip</a:t>
            </a:r>
            <a:r>
              <a:rPr lang="pl-PL" dirty="0"/>
              <a:t> ex </a:t>
            </a:r>
            <a:r>
              <a:rPr lang="pl-PL" dirty="0" err="1"/>
              <a:t>ea</a:t>
            </a:r>
            <a:r>
              <a:rPr lang="pl-PL" dirty="0"/>
              <a:t> </a:t>
            </a:r>
            <a:r>
              <a:rPr lang="pl-PL" dirty="0" err="1"/>
              <a:t>commodo</a:t>
            </a:r>
            <a:r>
              <a:rPr lang="pl-PL" dirty="0"/>
              <a:t> </a:t>
            </a:r>
            <a:r>
              <a:rPr lang="pl-PL" dirty="0" err="1"/>
              <a:t>consequat</a:t>
            </a:r>
            <a:r>
              <a:rPr lang="pl-PL" dirty="0"/>
              <a:t>. </a:t>
            </a:r>
            <a:r>
              <a:rPr lang="pl-PL" dirty="0" err="1"/>
              <a:t>Duis</a:t>
            </a:r>
            <a:r>
              <a:rPr lang="pl-PL" dirty="0"/>
              <a:t> autem vel </a:t>
            </a:r>
            <a:r>
              <a:rPr lang="pl-PL" dirty="0" err="1"/>
              <a:t>eum</a:t>
            </a:r>
            <a:r>
              <a:rPr lang="pl-PL" dirty="0"/>
              <a:t> </a:t>
            </a:r>
            <a:r>
              <a:rPr lang="pl-PL" dirty="0" err="1"/>
              <a:t>iriure</a:t>
            </a:r>
            <a:r>
              <a:rPr lang="pl-PL" dirty="0"/>
              <a:t> </a:t>
            </a:r>
            <a:r>
              <a:rPr lang="pl-PL" dirty="0" err="1"/>
              <a:t>dolor</a:t>
            </a:r>
            <a:r>
              <a:rPr lang="pl-PL" dirty="0"/>
              <a:t> in </a:t>
            </a:r>
            <a:r>
              <a:rPr lang="pl-PL" dirty="0" err="1"/>
              <a:t>hendrerit</a:t>
            </a:r>
            <a:r>
              <a:rPr lang="pl-PL" dirty="0"/>
              <a:t> in </a:t>
            </a:r>
            <a:r>
              <a:rPr lang="pl-PL" dirty="0" err="1"/>
              <a:t>vulputate</a:t>
            </a:r>
            <a:r>
              <a:rPr lang="pl-PL" dirty="0"/>
              <a:t> </a:t>
            </a:r>
            <a:r>
              <a:rPr lang="pl-PL" dirty="0" err="1"/>
              <a:t>velit</a:t>
            </a:r>
            <a:r>
              <a:rPr lang="pl-PL" dirty="0"/>
              <a:t> </a:t>
            </a:r>
            <a:r>
              <a:rPr lang="pl-PL" dirty="0" err="1"/>
              <a:t>esse</a:t>
            </a:r>
            <a:r>
              <a:rPr lang="pl-PL" dirty="0"/>
              <a:t> </a:t>
            </a:r>
            <a:r>
              <a:rPr lang="pl-PL" dirty="0" err="1"/>
              <a:t>moles</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p>
        </p:txBody>
      </p:sp>
    </p:spTree>
    <p:extLst>
      <p:ext uri="{BB962C8B-B14F-4D97-AF65-F5344CB8AC3E}">
        <p14:creationId xmlns:p14="http://schemas.microsoft.com/office/powerpoint/2010/main" val="4003994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kst 1 - Czerwon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F3EFC0A-C5B3-49DC-83A4-14D6D9F0FED2}"/>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10A32EC3-58B5-478C-8320-5C7562DEB4E5}"/>
              </a:ext>
            </a:extLst>
          </p:cNvPr>
          <p:cNvSpPr>
            <a:spLocks noGrp="1"/>
          </p:cNvSpPr>
          <p:nvPr>
            <p:ph type="title" hasCustomPrompt="1"/>
          </p:nvPr>
        </p:nvSpPr>
        <p:spPr>
          <a:xfrm>
            <a:off x="699407" y="1421266"/>
            <a:ext cx="2221594" cy="629331"/>
          </a:xfrm>
        </p:spPr>
        <p:txBody>
          <a:bodyPr/>
          <a:lstStyle>
            <a:lvl1pPr>
              <a:defRPr baseline="0">
                <a:solidFill>
                  <a:schemeClr val="bg1"/>
                </a:solidFill>
              </a:defRPr>
            </a:lvl1pPr>
          </a:lstStyle>
          <a:p>
            <a:r>
              <a:rPr lang="pl-PL" dirty="0"/>
              <a:t>Temat Rozdziału</a:t>
            </a:r>
            <a:endParaRPr lang="en-US" dirty="0"/>
          </a:p>
        </p:txBody>
      </p:sp>
      <p:sp>
        <p:nvSpPr>
          <p:cNvPr id="4" name="Footer Placeholder 4">
            <a:extLst>
              <a:ext uri="{FF2B5EF4-FFF2-40B4-BE49-F238E27FC236}">
                <a16:creationId xmlns:a16="http://schemas.microsoft.com/office/drawing/2014/main" id="{AE9119D5-FB68-45DC-870F-8567649CC752}"/>
              </a:ext>
            </a:extLst>
          </p:cNvPr>
          <p:cNvSpPr>
            <a:spLocks noGrp="1"/>
          </p:cNvSpPr>
          <p:nvPr>
            <p:ph type="ftr" sz="quarter" idx="11"/>
          </p:nvPr>
        </p:nvSpPr>
        <p:spPr>
          <a:xfrm>
            <a:off x="3722915" y="365125"/>
            <a:ext cx="4577443" cy="365125"/>
          </a:xfrm>
        </p:spPr>
        <p:txBody>
          <a:bodyPr/>
          <a:lstStyle>
            <a:lvl1pPr>
              <a:defRPr>
                <a:solidFill>
                  <a:schemeClr val="bg1"/>
                </a:solidFill>
              </a:defRPr>
            </a:lvl1pPr>
          </a:lstStyle>
          <a:p>
            <a:r>
              <a:rPr lang="pl-PL" dirty="0"/>
              <a:t>Polsko-Japońska Akademia Technik Komputerowych</a:t>
            </a:r>
            <a:endParaRPr lang="en-US" dirty="0"/>
          </a:p>
        </p:txBody>
      </p:sp>
      <p:sp>
        <p:nvSpPr>
          <p:cNvPr id="5" name="Slide Number Placeholder 5">
            <a:extLst>
              <a:ext uri="{FF2B5EF4-FFF2-40B4-BE49-F238E27FC236}">
                <a16:creationId xmlns:a16="http://schemas.microsoft.com/office/drawing/2014/main" id="{025B1B1F-84C1-42DE-83DB-A5710C024DC7}"/>
              </a:ext>
            </a:extLst>
          </p:cNvPr>
          <p:cNvSpPr>
            <a:spLocks noGrp="1"/>
          </p:cNvSpPr>
          <p:nvPr>
            <p:ph type="sldNum" sz="quarter" idx="12"/>
          </p:nvPr>
        </p:nvSpPr>
        <p:spPr>
          <a:xfrm>
            <a:off x="11472333" y="365125"/>
            <a:ext cx="554169" cy="365125"/>
          </a:xfrm>
        </p:spPr>
        <p:txBody>
          <a:bodyPr/>
          <a:lstStyle>
            <a:lvl1pPr>
              <a:defRPr>
                <a:solidFill>
                  <a:schemeClr val="bg1"/>
                </a:solidFill>
              </a:defRPr>
            </a:lvl1pPr>
          </a:lstStyle>
          <a:p>
            <a:fld id="{439CBD9F-C91E-49DF-B625-7C7E2E3EE5C8}" type="slidenum">
              <a:rPr lang="en-US" smtClean="0"/>
              <a:pPr/>
              <a:t>‹#›</a:t>
            </a:fld>
            <a:endParaRPr lang="en-US" dirty="0"/>
          </a:p>
        </p:txBody>
      </p:sp>
      <p:sp>
        <p:nvSpPr>
          <p:cNvPr id="6" name="Text Placeholder 10">
            <a:extLst>
              <a:ext uri="{FF2B5EF4-FFF2-40B4-BE49-F238E27FC236}">
                <a16:creationId xmlns:a16="http://schemas.microsoft.com/office/drawing/2014/main" id="{97BE65F8-1881-4C96-9999-6FEDA42EF588}"/>
              </a:ext>
            </a:extLst>
          </p:cNvPr>
          <p:cNvSpPr>
            <a:spLocks noGrp="1"/>
          </p:cNvSpPr>
          <p:nvPr>
            <p:ph type="body" sz="quarter" idx="13" hasCustomPrompt="1"/>
          </p:nvPr>
        </p:nvSpPr>
        <p:spPr>
          <a:xfrm>
            <a:off x="3722915" y="2247069"/>
            <a:ext cx="6188527" cy="3314019"/>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bg1"/>
                </a:solidFill>
                <a:latin typeface="Mundial"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laoreet</a:t>
            </a:r>
            <a:r>
              <a:rPr lang="pl-PL" dirty="0"/>
              <a:t> </a:t>
            </a:r>
            <a:r>
              <a:rPr lang="pl-PL" dirty="0" err="1"/>
              <a:t>dolore</a:t>
            </a:r>
            <a:r>
              <a:rPr lang="pl-PL" dirty="0"/>
              <a:t> </a:t>
            </a:r>
            <a:r>
              <a:rPr lang="pl-PL" dirty="0" err="1"/>
              <a:t>magna</a:t>
            </a:r>
            <a:r>
              <a:rPr lang="pl-PL" dirty="0"/>
              <a:t> </a:t>
            </a:r>
            <a:r>
              <a:rPr lang="pl-PL" dirty="0" err="1"/>
              <a:t>aliquam</a:t>
            </a:r>
            <a:r>
              <a:rPr lang="pl-PL" dirty="0"/>
              <a:t> </a:t>
            </a:r>
            <a:r>
              <a:rPr lang="pl-PL" dirty="0" err="1"/>
              <a:t>erat</a:t>
            </a:r>
            <a:r>
              <a:rPr lang="pl-PL" dirty="0"/>
              <a:t> </a:t>
            </a:r>
            <a:r>
              <a:rPr lang="pl-PL" dirty="0" err="1"/>
              <a:t>volutpat</a:t>
            </a:r>
            <a:r>
              <a:rPr lang="pl-PL" dirty="0"/>
              <a:t>. </a:t>
            </a:r>
            <a:r>
              <a:rPr lang="pl-PL" dirty="0" err="1"/>
              <a:t>Ut</a:t>
            </a:r>
            <a:r>
              <a:rPr lang="pl-PL" dirty="0"/>
              <a:t> wisi </a:t>
            </a:r>
            <a:r>
              <a:rPr lang="pl-PL" dirty="0" err="1"/>
              <a:t>enim</a:t>
            </a:r>
            <a:r>
              <a:rPr lang="pl-PL" dirty="0"/>
              <a:t> ad </a:t>
            </a:r>
            <a:r>
              <a:rPr lang="pl-PL" dirty="0" err="1"/>
              <a:t>minim</a:t>
            </a:r>
            <a:r>
              <a:rPr lang="pl-PL" dirty="0"/>
              <a:t> </a:t>
            </a:r>
            <a:r>
              <a:rPr lang="pl-PL" dirty="0" err="1"/>
              <a:t>veniam</a:t>
            </a:r>
            <a:r>
              <a:rPr lang="pl-PL" dirty="0"/>
              <a:t>, </a:t>
            </a:r>
            <a:r>
              <a:rPr lang="pl-PL" dirty="0" err="1"/>
              <a:t>quis</a:t>
            </a:r>
            <a:r>
              <a:rPr lang="pl-PL" dirty="0"/>
              <a:t> </a:t>
            </a:r>
            <a:r>
              <a:rPr lang="pl-PL" dirty="0" err="1"/>
              <a:t>nostrud</a:t>
            </a:r>
            <a:r>
              <a:rPr lang="pl-PL" dirty="0"/>
              <a:t> </a:t>
            </a:r>
            <a:r>
              <a:rPr lang="pl-PL" dirty="0" err="1"/>
              <a:t>exerci</a:t>
            </a:r>
            <a:r>
              <a:rPr lang="pl-PL" dirty="0"/>
              <a:t> </a:t>
            </a:r>
            <a:r>
              <a:rPr lang="pl-PL" dirty="0" err="1"/>
              <a:t>tation</a:t>
            </a:r>
            <a:r>
              <a:rPr lang="pl-PL" dirty="0"/>
              <a:t> </a:t>
            </a:r>
            <a:r>
              <a:rPr lang="pl-PL" dirty="0" err="1"/>
              <a:t>ullamcorper</a:t>
            </a:r>
            <a:r>
              <a:rPr lang="pl-PL" dirty="0"/>
              <a:t> </a:t>
            </a:r>
            <a:r>
              <a:rPr lang="pl-PL" dirty="0" err="1"/>
              <a:t>suscipit</a:t>
            </a:r>
            <a:r>
              <a:rPr lang="pl-PL" dirty="0"/>
              <a:t> </a:t>
            </a:r>
            <a:r>
              <a:rPr lang="pl-PL" dirty="0" err="1"/>
              <a:t>lobortis</a:t>
            </a:r>
            <a:r>
              <a:rPr lang="pl-PL" dirty="0"/>
              <a:t> </a:t>
            </a:r>
            <a:r>
              <a:rPr lang="pl-PL" dirty="0" err="1"/>
              <a:t>nisl</a:t>
            </a:r>
            <a:r>
              <a:rPr lang="pl-PL" dirty="0"/>
              <a:t> </a:t>
            </a:r>
            <a:r>
              <a:rPr lang="pl-PL" dirty="0" err="1"/>
              <a:t>ut</a:t>
            </a:r>
            <a:r>
              <a:rPr lang="pl-PL" dirty="0"/>
              <a:t> </a:t>
            </a:r>
            <a:r>
              <a:rPr lang="pl-PL" dirty="0" err="1"/>
              <a:t>aliquip</a:t>
            </a:r>
            <a:r>
              <a:rPr lang="pl-PL" dirty="0"/>
              <a:t> ex </a:t>
            </a:r>
            <a:r>
              <a:rPr lang="pl-PL" dirty="0" err="1"/>
              <a:t>ea</a:t>
            </a:r>
            <a:r>
              <a:rPr lang="pl-PL" dirty="0"/>
              <a:t> </a:t>
            </a:r>
            <a:r>
              <a:rPr lang="pl-PL" dirty="0" err="1"/>
              <a:t>commodo</a:t>
            </a:r>
            <a:r>
              <a:rPr lang="pl-PL" dirty="0"/>
              <a:t> </a:t>
            </a:r>
            <a:r>
              <a:rPr lang="pl-PL" dirty="0" err="1"/>
              <a:t>consequat</a:t>
            </a:r>
            <a:r>
              <a:rPr lang="pl-PL" dirty="0"/>
              <a:t>. </a:t>
            </a:r>
            <a:r>
              <a:rPr lang="pl-PL" dirty="0" err="1"/>
              <a:t>Duis</a:t>
            </a:r>
            <a:r>
              <a:rPr lang="pl-PL" dirty="0"/>
              <a:t> autem vel </a:t>
            </a:r>
            <a:r>
              <a:rPr lang="pl-PL" dirty="0" err="1"/>
              <a:t>eum</a:t>
            </a:r>
            <a:r>
              <a:rPr lang="pl-PL" dirty="0"/>
              <a:t> </a:t>
            </a:r>
            <a:r>
              <a:rPr lang="pl-PL" dirty="0" err="1"/>
              <a:t>iriure</a:t>
            </a:r>
            <a:r>
              <a:rPr lang="pl-PL" dirty="0"/>
              <a:t> </a:t>
            </a:r>
            <a:r>
              <a:rPr lang="pl-PL" dirty="0" err="1"/>
              <a:t>dolor</a:t>
            </a:r>
            <a:r>
              <a:rPr lang="pl-PL" dirty="0"/>
              <a:t> in </a:t>
            </a:r>
            <a:r>
              <a:rPr lang="pl-PL" dirty="0" err="1"/>
              <a:t>hendrerit</a:t>
            </a:r>
            <a:r>
              <a:rPr lang="pl-PL" dirty="0"/>
              <a:t> in </a:t>
            </a:r>
            <a:r>
              <a:rPr lang="pl-PL" dirty="0" err="1"/>
              <a:t>vulputate</a:t>
            </a:r>
            <a:r>
              <a:rPr lang="pl-PL" dirty="0"/>
              <a:t> </a:t>
            </a:r>
            <a:r>
              <a:rPr lang="pl-PL" dirty="0" err="1"/>
              <a:t>velit</a:t>
            </a:r>
            <a:r>
              <a:rPr lang="pl-PL" dirty="0"/>
              <a:t> </a:t>
            </a:r>
            <a:r>
              <a:rPr lang="pl-PL" dirty="0" err="1"/>
              <a:t>esse</a:t>
            </a:r>
            <a:r>
              <a:rPr lang="pl-PL" dirty="0"/>
              <a:t> </a:t>
            </a:r>
            <a:r>
              <a:rPr lang="pl-PL" dirty="0" err="1"/>
              <a:t>molestie</a:t>
            </a:r>
            <a:r>
              <a:rPr lang="pl-PL" dirty="0"/>
              <a:t> </a:t>
            </a:r>
            <a:r>
              <a:rPr lang="pl-PL" dirty="0" err="1"/>
              <a:t>consequat</a:t>
            </a:r>
            <a:r>
              <a:rPr lang="pl-PL" dirty="0"/>
              <a:t>, vel </a:t>
            </a:r>
            <a:r>
              <a:rPr lang="pl-PL" dirty="0" err="1"/>
              <a:t>illum</a:t>
            </a:r>
            <a:r>
              <a:rPr lang="pl-PL" dirty="0"/>
              <a:t> </a:t>
            </a:r>
            <a:r>
              <a:rPr lang="pl-PL" dirty="0" err="1"/>
              <a:t>dolore</a:t>
            </a:r>
            <a:r>
              <a:rPr lang="pl-PL" dirty="0"/>
              <a:t> </a:t>
            </a:r>
            <a:r>
              <a:rPr lang="pl-PL" dirty="0" err="1"/>
              <a:t>eu</a:t>
            </a:r>
            <a:r>
              <a:rPr lang="pl-PL" dirty="0"/>
              <a:t> </a:t>
            </a:r>
            <a:r>
              <a:rPr lang="pl-PL" dirty="0" err="1"/>
              <a:t>feugiat</a:t>
            </a:r>
            <a:r>
              <a:rPr lang="pl-PL" dirty="0"/>
              <a:t> </a:t>
            </a:r>
            <a:r>
              <a:rPr lang="pl-PL" dirty="0" err="1"/>
              <a:t>nulla</a:t>
            </a:r>
            <a:r>
              <a:rPr lang="pl-PL" dirty="0"/>
              <a:t> </a:t>
            </a:r>
            <a:r>
              <a:rPr lang="pl-PL" dirty="0" err="1"/>
              <a:t>facilisis</a:t>
            </a:r>
            <a:r>
              <a:rPr lang="pl-PL" dirty="0"/>
              <a:t> </a:t>
            </a:r>
            <a:r>
              <a:rPr lang="pl-PL" dirty="0" err="1"/>
              <a:t>at</a:t>
            </a:r>
            <a:r>
              <a:rPr lang="pl-PL" dirty="0"/>
              <a:t> </a:t>
            </a:r>
            <a:r>
              <a:rPr lang="pl-PL" dirty="0" err="1"/>
              <a:t>vero</a:t>
            </a:r>
            <a:r>
              <a:rPr lang="pl-PL" dirty="0"/>
              <a:t> eros et </a:t>
            </a:r>
            <a:r>
              <a:rPr lang="pl-PL" dirty="0" err="1"/>
              <a:t>accumsan</a:t>
            </a:r>
            <a:r>
              <a:rPr lang="pl-PL" dirty="0"/>
              <a:t> et </a:t>
            </a:r>
            <a:r>
              <a:rPr lang="pl-PL" dirty="0" err="1"/>
              <a:t>iusto</a:t>
            </a:r>
            <a:r>
              <a:rPr lang="pl-PL" dirty="0"/>
              <a:t> </a:t>
            </a:r>
            <a:r>
              <a:rPr lang="pl-PL" dirty="0" err="1"/>
              <a:t>odio</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laoreet</a:t>
            </a:r>
            <a:r>
              <a:rPr lang="pl-PL" dirty="0"/>
              <a:t> </a:t>
            </a:r>
            <a:r>
              <a:rPr lang="pl-PL" dirty="0" err="1"/>
              <a:t>dolore</a:t>
            </a:r>
            <a:r>
              <a:rPr lang="pl-PL" dirty="0"/>
              <a:t> </a:t>
            </a:r>
            <a:r>
              <a:rPr lang="pl-PL" dirty="0" err="1"/>
              <a:t>magna</a:t>
            </a:r>
            <a:r>
              <a:rPr lang="pl-PL" dirty="0"/>
              <a:t> </a:t>
            </a:r>
            <a:r>
              <a:rPr lang="pl-PL" dirty="0" err="1"/>
              <a:t>aliquam</a:t>
            </a:r>
            <a:r>
              <a:rPr lang="pl-PL" dirty="0"/>
              <a:t> </a:t>
            </a:r>
            <a:r>
              <a:rPr lang="pl-PL" dirty="0" err="1"/>
              <a:t>erat</a:t>
            </a:r>
            <a:r>
              <a:rPr lang="pl-PL" dirty="0"/>
              <a:t> </a:t>
            </a:r>
            <a:r>
              <a:rPr lang="pl-PL" dirty="0" err="1"/>
              <a:t>volutpat</a:t>
            </a:r>
            <a:r>
              <a:rPr lang="pl-PL" dirty="0"/>
              <a:t>. </a:t>
            </a:r>
            <a:r>
              <a:rPr lang="pl-PL" dirty="0" err="1"/>
              <a:t>Ut</a:t>
            </a:r>
            <a:r>
              <a:rPr lang="pl-PL" dirty="0"/>
              <a:t> wisi </a:t>
            </a:r>
            <a:r>
              <a:rPr lang="pl-PL" dirty="0" err="1"/>
              <a:t>enim</a:t>
            </a:r>
            <a:r>
              <a:rPr lang="pl-PL" dirty="0"/>
              <a:t> ad </a:t>
            </a:r>
            <a:r>
              <a:rPr lang="pl-PL" dirty="0" err="1"/>
              <a:t>minim</a:t>
            </a:r>
            <a:r>
              <a:rPr lang="pl-PL" dirty="0"/>
              <a:t> </a:t>
            </a:r>
            <a:r>
              <a:rPr lang="pl-PL" dirty="0" err="1"/>
              <a:t>veniam</a:t>
            </a:r>
            <a:r>
              <a:rPr lang="pl-PL" dirty="0"/>
              <a:t>, </a:t>
            </a:r>
            <a:r>
              <a:rPr lang="pl-PL" dirty="0" err="1"/>
              <a:t>quis</a:t>
            </a:r>
            <a:r>
              <a:rPr lang="pl-PL" dirty="0"/>
              <a:t> </a:t>
            </a:r>
            <a:r>
              <a:rPr lang="pl-PL" dirty="0" err="1"/>
              <a:t>nostrud</a:t>
            </a:r>
            <a:r>
              <a:rPr lang="pl-PL" dirty="0"/>
              <a:t> </a:t>
            </a:r>
            <a:r>
              <a:rPr lang="pl-PL" dirty="0" err="1"/>
              <a:t>exerci</a:t>
            </a:r>
            <a:r>
              <a:rPr lang="pl-PL" dirty="0"/>
              <a:t> </a:t>
            </a:r>
            <a:r>
              <a:rPr lang="pl-PL" dirty="0" err="1"/>
              <a:t>tation</a:t>
            </a:r>
            <a:r>
              <a:rPr lang="pl-PL" dirty="0"/>
              <a:t> </a:t>
            </a:r>
            <a:r>
              <a:rPr lang="pl-PL" dirty="0" err="1"/>
              <a:t>ullamcorper</a:t>
            </a:r>
            <a:r>
              <a:rPr lang="pl-PL" dirty="0"/>
              <a:t> </a:t>
            </a:r>
            <a:r>
              <a:rPr lang="pl-PL" dirty="0" err="1"/>
              <a:t>suscipit</a:t>
            </a:r>
            <a:r>
              <a:rPr lang="pl-PL" dirty="0"/>
              <a:t> </a:t>
            </a:r>
            <a:r>
              <a:rPr lang="pl-PL" dirty="0" err="1"/>
              <a:t>lobortis</a:t>
            </a:r>
            <a:r>
              <a:rPr lang="pl-PL" dirty="0"/>
              <a:t> </a:t>
            </a:r>
            <a:r>
              <a:rPr lang="pl-PL" dirty="0" err="1"/>
              <a:t>nisl</a:t>
            </a:r>
            <a:r>
              <a:rPr lang="pl-PL" dirty="0"/>
              <a:t> </a:t>
            </a:r>
            <a:r>
              <a:rPr lang="pl-PL" dirty="0" err="1"/>
              <a:t>ut</a:t>
            </a:r>
            <a:r>
              <a:rPr lang="pl-PL" dirty="0"/>
              <a:t> </a:t>
            </a:r>
            <a:r>
              <a:rPr lang="pl-PL" dirty="0" err="1"/>
              <a:t>aliquip</a:t>
            </a:r>
            <a:r>
              <a:rPr lang="pl-PL" dirty="0"/>
              <a:t> ex </a:t>
            </a:r>
            <a:r>
              <a:rPr lang="pl-PL" dirty="0" err="1"/>
              <a:t>ea</a:t>
            </a:r>
            <a:r>
              <a:rPr lang="pl-PL" dirty="0"/>
              <a:t> </a:t>
            </a:r>
            <a:r>
              <a:rPr lang="pl-PL" dirty="0" err="1"/>
              <a:t>commodo</a:t>
            </a:r>
            <a:r>
              <a:rPr lang="pl-PL" dirty="0"/>
              <a:t> </a:t>
            </a:r>
            <a:r>
              <a:rPr lang="pl-PL" dirty="0" err="1"/>
              <a:t>consequat</a:t>
            </a:r>
            <a:r>
              <a:rPr lang="pl-PL" dirty="0"/>
              <a:t>. </a:t>
            </a:r>
            <a:r>
              <a:rPr lang="pl-PL" dirty="0" err="1"/>
              <a:t>Duis</a:t>
            </a:r>
            <a:r>
              <a:rPr lang="pl-PL" dirty="0"/>
              <a:t> autem vel </a:t>
            </a:r>
            <a:r>
              <a:rPr lang="pl-PL" dirty="0" err="1"/>
              <a:t>eum</a:t>
            </a:r>
            <a:r>
              <a:rPr lang="pl-PL" dirty="0"/>
              <a:t> </a:t>
            </a:r>
            <a:r>
              <a:rPr lang="pl-PL" dirty="0" err="1"/>
              <a:t>iriure</a:t>
            </a:r>
            <a:r>
              <a:rPr lang="pl-PL" dirty="0"/>
              <a:t> </a:t>
            </a:r>
            <a:r>
              <a:rPr lang="pl-PL" dirty="0" err="1"/>
              <a:t>dolor</a:t>
            </a:r>
            <a:r>
              <a:rPr lang="pl-PL" dirty="0"/>
              <a:t> in </a:t>
            </a:r>
            <a:r>
              <a:rPr lang="pl-PL" dirty="0" err="1"/>
              <a:t>hendrerit</a:t>
            </a:r>
            <a:r>
              <a:rPr lang="pl-PL" dirty="0"/>
              <a:t> in </a:t>
            </a:r>
            <a:r>
              <a:rPr lang="pl-PL" dirty="0" err="1"/>
              <a:t>vulputate</a:t>
            </a:r>
            <a:r>
              <a:rPr lang="pl-PL" dirty="0"/>
              <a:t> </a:t>
            </a:r>
            <a:r>
              <a:rPr lang="pl-PL" dirty="0" err="1"/>
              <a:t>velit</a:t>
            </a:r>
            <a:r>
              <a:rPr lang="pl-PL" dirty="0"/>
              <a:t> </a:t>
            </a:r>
            <a:r>
              <a:rPr lang="pl-PL" dirty="0" err="1"/>
              <a:t>esse</a:t>
            </a:r>
            <a:r>
              <a:rPr lang="pl-PL" dirty="0"/>
              <a:t> </a:t>
            </a:r>
            <a:r>
              <a:rPr lang="pl-PL" dirty="0" err="1"/>
              <a:t>moles</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p>
        </p:txBody>
      </p:sp>
    </p:spTree>
    <p:extLst>
      <p:ext uri="{BB962C8B-B14F-4D97-AF65-F5344CB8AC3E}">
        <p14:creationId xmlns:p14="http://schemas.microsoft.com/office/powerpoint/2010/main" val="1175533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kst -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pl-PL" dirty="0"/>
              <a:t>Temat Rozdziału</a:t>
            </a:r>
            <a:endParaRPr lang="en-US" dirty="0"/>
          </a:p>
        </p:txBody>
      </p:sp>
      <p:sp>
        <p:nvSpPr>
          <p:cNvPr id="4" name="Footer Placeholder 3"/>
          <p:cNvSpPr>
            <a:spLocks noGrp="1"/>
          </p:cNvSpPr>
          <p:nvPr>
            <p:ph type="ftr" sz="quarter" idx="11"/>
          </p:nvPr>
        </p:nvSpPr>
        <p:spPr/>
        <p:txBody>
          <a:bodyPr/>
          <a:lstStyle/>
          <a:p>
            <a:r>
              <a:rPr lang="pl-PL" dirty="0"/>
              <a:t>Polsko-Japońska Akademia Technik Komputerowych</a:t>
            </a:r>
            <a:endParaRPr lang="en-US" dirty="0"/>
          </a:p>
        </p:txBody>
      </p:sp>
      <p:sp>
        <p:nvSpPr>
          <p:cNvPr id="5" name="Slide Number Placeholder 4"/>
          <p:cNvSpPr>
            <a:spLocks noGrp="1"/>
          </p:cNvSpPr>
          <p:nvPr>
            <p:ph type="sldNum" sz="quarter" idx="12"/>
          </p:nvPr>
        </p:nvSpPr>
        <p:spPr/>
        <p:txBody>
          <a:bodyPr/>
          <a:lstStyle/>
          <a:p>
            <a:fld id="{439CBD9F-C91E-49DF-B625-7C7E2E3EE5C8}" type="slidenum">
              <a:rPr lang="en-US" smtClean="0"/>
              <a:t>‹#›</a:t>
            </a:fld>
            <a:endParaRPr lang="en-US"/>
          </a:p>
        </p:txBody>
      </p:sp>
      <p:sp>
        <p:nvSpPr>
          <p:cNvPr id="7" name="Text Placeholder 10"/>
          <p:cNvSpPr>
            <a:spLocks noGrp="1"/>
          </p:cNvSpPr>
          <p:nvPr>
            <p:ph type="body" sz="quarter" idx="14" hasCustomPrompt="1"/>
          </p:nvPr>
        </p:nvSpPr>
        <p:spPr>
          <a:xfrm>
            <a:off x="3722915" y="2191206"/>
            <a:ext cx="3418113" cy="4150327"/>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laoreet</a:t>
            </a:r>
            <a:r>
              <a:rPr lang="pl-PL" dirty="0"/>
              <a:t> </a:t>
            </a:r>
            <a:r>
              <a:rPr lang="pl-PL" dirty="0" err="1"/>
              <a:t>dolore</a:t>
            </a:r>
            <a:r>
              <a:rPr lang="pl-PL" dirty="0"/>
              <a:t> </a:t>
            </a:r>
            <a:r>
              <a:rPr lang="pl-PL" dirty="0" err="1"/>
              <a:t>magna</a:t>
            </a:r>
            <a:r>
              <a:rPr lang="pl-PL" dirty="0"/>
              <a:t> </a:t>
            </a:r>
            <a:r>
              <a:rPr lang="pl-PL" dirty="0" err="1"/>
              <a:t>aliquam</a:t>
            </a:r>
            <a:r>
              <a:rPr lang="pl-PL" dirty="0"/>
              <a:t> </a:t>
            </a:r>
            <a:r>
              <a:rPr lang="pl-PL" dirty="0" err="1"/>
              <a:t>erat</a:t>
            </a:r>
            <a:r>
              <a:rPr lang="pl-PL" dirty="0"/>
              <a:t> </a:t>
            </a:r>
            <a:r>
              <a:rPr lang="pl-PL" dirty="0" err="1"/>
              <a:t>volutpat</a:t>
            </a:r>
            <a:r>
              <a:rPr lang="pl-PL" dirty="0"/>
              <a:t>. </a:t>
            </a:r>
            <a:r>
              <a:rPr lang="pl-PL" dirty="0" err="1"/>
              <a:t>Ut</a:t>
            </a:r>
            <a:r>
              <a:rPr lang="pl-PL" dirty="0"/>
              <a:t> wisi </a:t>
            </a:r>
            <a:r>
              <a:rPr lang="pl-PL" dirty="0" err="1"/>
              <a:t>enim</a:t>
            </a:r>
            <a:r>
              <a:rPr lang="pl-PL" dirty="0"/>
              <a:t> ad </a:t>
            </a:r>
            <a:r>
              <a:rPr lang="pl-PL" dirty="0" err="1"/>
              <a:t>minim</a:t>
            </a:r>
            <a:r>
              <a:rPr lang="pl-PL" dirty="0"/>
              <a:t> </a:t>
            </a:r>
            <a:r>
              <a:rPr lang="pl-PL" dirty="0" err="1"/>
              <a:t>veniam</a:t>
            </a:r>
            <a:r>
              <a:rPr lang="pl-PL" dirty="0"/>
              <a:t>, </a:t>
            </a:r>
            <a:r>
              <a:rPr lang="pl-PL" dirty="0" err="1"/>
              <a:t>quis</a:t>
            </a:r>
            <a:r>
              <a:rPr lang="pl-PL" dirty="0"/>
              <a:t> </a:t>
            </a:r>
            <a:r>
              <a:rPr lang="pl-PL" dirty="0" err="1"/>
              <a:t>nostrud</a:t>
            </a:r>
            <a:r>
              <a:rPr lang="pl-PL" dirty="0"/>
              <a:t> </a:t>
            </a:r>
            <a:r>
              <a:rPr lang="pl-PL" dirty="0" err="1"/>
              <a:t>exerci</a:t>
            </a:r>
            <a:r>
              <a:rPr lang="pl-PL" dirty="0"/>
              <a:t> </a:t>
            </a:r>
            <a:r>
              <a:rPr lang="pl-PL" dirty="0" err="1"/>
              <a:t>tation</a:t>
            </a:r>
            <a:r>
              <a:rPr lang="pl-PL" dirty="0"/>
              <a:t> </a:t>
            </a:r>
            <a:r>
              <a:rPr lang="pl-PL" dirty="0" err="1"/>
              <a:t>ullamcorper</a:t>
            </a:r>
            <a:r>
              <a:rPr lang="pl-PL" dirty="0"/>
              <a:t> </a:t>
            </a:r>
            <a:r>
              <a:rPr lang="pl-PL" dirty="0" err="1"/>
              <a:t>suscipit</a:t>
            </a:r>
            <a:r>
              <a:rPr lang="pl-PL" dirty="0"/>
              <a:t> </a:t>
            </a:r>
            <a:r>
              <a:rPr lang="pl-PL" dirty="0" err="1"/>
              <a:t>lobortis</a:t>
            </a:r>
            <a:r>
              <a:rPr lang="pl-PL" dirty="0"/>
              <a:t> </a:t>
            </a:r>
            <a:r>
              <a:rPr lang="pl-PL" dirty="0" err="1"/>
              <a:t>nisl</a:t>
            </a:r>
            <a:r>
              <a:rPr lang="pl-PL" dirty="0"/>
              <a:t> </a:t>
            </a:r>
            <a:r>
              <a:rPr lang="pl-PL" dirty="0" err="1"/>
              <a:t>ut</a:t>
            </a:r>
            <a:r>
              <a:rPr lang="pl-PL" dirty="0"/>
              <a:t> </a:t>
            </a:r>
            <a:r>
              <a:rPr lang="pl-PL" dirty="0" err="1"/>
              <a:t>aliquip</a:t>
            </a:r>
            <a:r>
              <a:rPr lang="pl-PL" dirty="0"/>
              <a:t> ex </a:t>
            </a:r>
            <a:r>
              <a:rPr lang="pl-PL" dirty="0" err="1"/>
              <a:t>ea</a:t>
            </a:r>
            <a:r>
              <a:rPr lang="pl-PL" dirty="0"/>
              <a:t> </a:t>
            </a:r>
            <a:r>
              <a:rPr lang="pl-PL" dirty="0" err="1"/>
              <a:t>commodo</a:t>
            </a:r>
            <a:r>
              <a:rPr lang="pl-PL" dirty="0"/>
              <a:t> </a:t>
            </a:r>
            <a:r>
              <a:rPr lang="pl-PL" dirty="0" err="1"/>
              <a:t>consequat</a:t>
            </a:r>
            <a:r>
              <a:rPr lang="pl-PL" dirty="0"/>
              <a:t>. </a:t>
            </a:r>
            <a:r>
              <a:rPr lang="pl-PL" dirty="0" err="1"/>
              <a:t>Duis</a:t>
            </a:r>
            <a:r>
              <a:rPr lang="pl-PL" dirty="0"/>
              <a:t> autem vel </a:t>
            </a:r>
            <a:r>
              <a:rPr lang="pl-PL" dirty="0" err="1"/>
              <a:t>eum</a:t>
            </a:r>
            <a:r>
              <a:rPr lang="pl-PL" dirty="0"/>
              <a:t> </a:t>
            </a:r>
            <a:r>
              <a:rPr lang="pl-PL" dirty="0" err="1"/>
              <a:t>iriure</a:t>
            </a:r>
            <a:r>
              <a:rPr lang="pl-PL" dirty="0"/>
              <a:t> </a:t>
            </a:r>
            <a:r>
              <a:rPr lang="pl-PL" dirty="0" err="1"/>
              <a:t>dolor</a:t>
            </a:r>
            <a:r>
              <a:rPr lang="pl-PL" dirty="0"/>
              <a:t> in </a:t>
            </a:r>
            <a:r>
              <a:rPr lang="pl-PL" dirty="0" err="1"/>
              <a:t>hendrerit</a:t>
            </a:r>
            <a:r>
              <a:rPr lang="pl-PL" dirty="0"/>
              <a:t> in </a:t>
            </a:r>
            <a:r>
              <a:rPr lang="pl-PL" dirty="0" err="1"/>
              <a:t>vulputate</a:t>
            </a:r>
            <a:r>
              <a:rPr lang="pl-PL" dirty="0"/>
              <a:t> </a:t>
            </a:r>
            <a:r>
              <a:rPr lang="pl-PL" dirty="0" err="1"/>
              <a:t>velit</a:t>
            </a:r>
            <a:r>
              <a:rPr lang="pl-PL" dirty="0"/>
              <a:t> </a:t>
            </a:r>
            <a:r>
              <a:rPr lang="pl-PL" dirty="0" err="1"/>
              <a:t>esse</a:t>
            </a:r>
            <a:r>
              <a:rPr lang="pl-PL" dirty="0"/>
              <a:t> </a:t>
            </a:r>
            <a:r>
              <a:rPr lang="pl-PL" dirty="0" err="1"/>
              <a:t>molestie</a:t>
            </a:r>
            <a:r>
              <a:rPr lang="pl-PL" dirty="0"/>
              <a:t> </a:t>
            </a:r>
            <a:r>
              <a:rPr lang="pl-PL" dirty="0" err="1"/>
              <a:t>consequat</a:t>
            </a:r>
            <a:r>
              <a:rPr lang="pl-PL" dirty="0"/>
              <a:t>, vel </a:t>
            </a:r>
            <a:r>
              <a:rPr lang="pl-PL" dirty="0" err="1"/>
              <a:t>illum</a:t>
            </a:r>
            <a:r>
              <a:rPr lang="pl-PL" dirty="0"/>
              <a:t> </a:t>
            </a:r>
            <a:r>
              <a:rPr lang="pl-PL" dirty="0" err="1"/>
              <a:t>dolore</a:t>
            </a:r>
            <a:r>
              <a:rPr lang="pl-PL" dirty="0"/>
              <a:t> </a:t>
            </a:r>
            <a:r>
              <a:rPr lang="pl-PL" dirty="0" err="1"/>
              <a:t>eu</a:t>
            </a:r>
            <a:r>
              <a:rPr lang="pl-PL" dirty="0"/>
              <a:t> </a:t>
            </a:r>
            <a:r>
              <a:rPr lang="pl-PL" dirty="0" err="1"/>
              <a:t>feugiat</a:t>
            </a:r>
            <a:r>
              <a:rPr lang="pl-PL" dirty="0"/>
              <a:t> </a:t>
            </a:r>
            <a:r>
              <a:rPr lang="pl-PL" dirty="0" err="1"/>
              <a:t>nulla</a:t>
            </a:r>
            <a:r>
              <a:rPr lang="pl-PL" dirty="0"/>
              <a:t> </a:t>
            </a:r>
            <a:r>
              <a:rPr lang="pl-PL" dirty="0" err="1"/>
              <a:t>facilisis</a:t>
            </a:r>
            <a:r>
              <a:rPr lang="pl-PL" dirty="0"/>
              <a:t> </a:t>
            </a:r>
            <a:r>
              <a:rPr lang="pl-PL" dirty="0" err="1"/>
              <a:t>at</a:t>
            </a:r>
            <a:r>
              <a:rPr lang="pl-PL" dirty="0"/>
              <a:t> </a:t>
            </a:r>
            <a:r>
              <a:rPr lang="pl-PL" dirty="0" err="1"/>
              <a:t>vero</a:t>
            </a:r>
            <a:r>
              <a:rPr lang="pl-PL" dirty="0"/>
              <a:t> eros et </a:t>
            </a:r>
            <a:r>
              <a:rPr lang="pl-PL" dirty="0" err="1"/>
              <a:t>accumsan</a:t>
            </a:r>
            <a:r>
              <a:rPr lang="pl-PL" dirty="0"/>
              <a:t> et </a:t>
            </a:r>
            <a:r>
              <a:rPr lang="pl-PL" dirty="0" err="1"/>
              <a:t>iusto</a:t>
            </a:r>
            <a:r>
              <a:rPr lang="pl-PL" dirty="0"/>
              <a:t> </a:t>
            </a:r>
            <a:r>
              <a:rPr lang="pl-PL" dirty="0" err="1"/>
              <a:t>odio</a:t>
            </a:r>
            <a:r>
              <a:rPr lang="pl-PL" dirty="0"/>
              <a:t> </a:t>
            </a:r>
            <a:r>
              <a:rPr lang="pl-PL" dirty="0" err="1"/>
              <a:t>Lorem</a:t>
            </a:r>
            <a:r>
              <a:rPr lang="pl-PL" dirty="0"/>
              <a:t> </a:t>
            </a:r>
            <a:r>
              <a:rPr lang="pl-PL" dirty="0" err="1"/>
              <a:t>ipsum</a:t>
            </a:r>
            <a:endParaRPr lang="pl-PL" dirty="0"/>
          </a:p>
        </p:txBody>
      </p:sp>
      <p:sp>
        <p:nvSpPr>
          <p:cNvPr id="8" name="Text Placeholder 10"/>
          <p:cNvSpPr>
            <a:spLocks noGrp="1"/>
          </p:cNvSpPr>
          <p:nvPr>
            <p:ph type="body" sz="quarter" idx="15" hasCustomPrompt="1"/>
          </p:nvPr>
        </p:nvSpPr>
        <p:spPr>
          <a:xfrm>
            <a:off x="7396446" y="2191206"/>
            <a:ext cx="3418113" cy="4150327"/>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laoreet</a:t>
            </a:r>
            <a:r>
              <a:rPr lang="pl-PL" dirty="0"/>
              <a:t> </a:t>
            </a:r>
            <a:r>
              <a:rPr lang="pl-PL" dirty="0" err="1"/>
              <a:t>dolore</a:t>
            </a:r>
            <a:r>
              <a:rPr lang="pl-PL" dirty="0"/>
              <a:t> </a:t>
            </a:r>
            <a:r>
              <a:rPr lang="pl-PL" dirty="0" err="1"/>
              <a:t>magna</a:t>
            </a:r>
            <a:r>
              <a:rPr lang="pl-PL" dirty="0"/>
              <a:t> </a:t>
            </a:r>
            <a:r>
              <a:rPr lang="pl-PL" dirty="0" err="1"/>
              <a:t>aliquam</a:t>
            </a:r>
            <a:r>
              <a:rPr lang="pl-PL" dirty="0"/>
              <a:t> </a:t>
            </a:r>
            <a:r>
              <a:rPr lang="pl-PL" dirty="0" err="1"/>
              <a:t>erat</a:t>
            </a:r>
            <a:r>
              <a:rPr lang="pl-PL" dirty="0"/>
              <a:t> </a:t>
            </a:r>
            <a:r>
              <a:rPr lang="pl-PL" dirty="0" err="1"/>
              <a:t>volutpat</a:t>
            </a:r>
            <a:r>
              <a:rPr lang="pl-PL" dirty="0"/>
              <a:t>. </a:t>
            </a:r>
            <a:r>
              <a:rPr lang="pl-PL" dirty="0" err="1"/>
              <a:t>Ut</a:t>
            </a:r>
            <a:r>
              <a:rPr lang="pl-PL" dirty="0"/>
              <a:t> wisi </a:t>
            </a:r>
            <a:r>
              <a:rPr lang="pl-PL" dirty="0" err="1"/>
              <a:t>enim</a:t>
            </a:r>
            <a:r>
              <a:rPr lang="pl-PL" dirty="0"/>
              <a:t> ad </a:t>
            </a:r>
            <a:r>
              <a:rPr lang="pl-PL" dirty="0" err="1"/>
              <a:t>minim</a:t>
            </a:r>
            <a:r>
              <a:rPr lang="pl-PL" dirty="0"/>
              <a:t> </a:t>
            </a:r>
            <a:r>
              <a:rPr lang="pl-PL" dirty="0" err="1"/>
              <a:t>veniam</a:t>
            </a:r>
            <a:r>
              <a:rPr lang="pl-PL" dirty="0"/>
              <a:t>, </a:t>
            </a:r>
            <a:r>
              <a:rPr lang="pl-PL" dirty="0" err="1"/>
              <a:t>quis</a:t>
            </a:r>
            <a:r>
              <a:rPr lang="pl-PL" dirty="0"/>
              <a:t> </a:t>
            </a:r>
            <a:r>
              <a:rPr lang="pl-PL" dirty="0" err="1"/>
              <a:t>nostrud</a:t>
            </a:r>
            <a:r>
              <a:rPr lang="pl-PL" dirty="0"/>
              <a:t> </a:t>
            </a:r>
            <a:r>
              <a:rPr lang="pl-PL" dirty="0" err="1"/>
              <a:t>exerci</a:t>
            </a:r>
            <a:r>
              <a:rPr lang="pl-PL" dirty="0"/>
              <a:t> </a:t>
            </a:r>
            <a:r>
              <a:rPr lang="pl-PL" dirty="0" err="1"/>
              <a:t>tation</a:t>
            </a:r>
            <a:r>
              <a:rPr lang="pl-PL" dirty="0"/>
              <a:t> </a:t>
            </a:r>
            <a:r>
              <a:rPr lang="pl-PL" dirty="0" err="1"/>
              <a:t>ullamcorper</a:t>
            </a:r>
            <a:r>
              <a:rPr lang="pl-PL" dirty="0"/>
              <a:t> </a:t>
            </a:r>
            <a:r>
              <a:rPr lang="pl-PL" dirty="0" err="1"/>
              <a:t>suscipit</a:t>
            </a:r>
            <a:r>
              <a:rPr lang="pl-PL" dirty="0"/>
              <a:t> </a:t>
            </a:r>
            <a:r>
              <a:rPr lang="pl-PL" dirty="0" err="1"/>
              <a:t>lobortis</a:t>
            </a:r>
            <a:r>
              <a:rPr lang="pl-PL" dirty="0"/>
              <a:t> </a:t>
            </a:r>
            <a:r>
              <a:rPr lang="pl-PL" dirty="0" err="1"/>
              <a:t>nisl</a:t>
            </a:r>
            <a:r>
              <a:rPr lang="pl-PL" dirty="0"/>
              <a:t> </a:t>
            </a:r>
            <a:r>
              <a:rPr lang="pl-PL" dirty="0" err="1"/>
              <a:t>ut</a:t>
            </a:r>
            <a:r>
              <a:rPr lang="pl-PL" dirty="0"/>
              <a:t> </a:t>
            </a:r>
            <a:r>
              <a:rPr lang="pl-PL" dirty="0" err="1"/>
              <a:t>aliquip</a:t>
            </a:r>
            <a:r>
              <a:rPr lang="pl-PL" dirty="0"/>
              <a:t> ex </a:t>
            </a:r>
            <a:r>
              <a:rPr lang="pl-PL" dirty="0" err="1"/>
              <a:t>ea</a:t>
            </a:r>
            <a:r>
              <a:rPr lang="pl-PL" dirty="0"/>
              <a:t> </a:t>
            </a:r>
            <a:r>
              <a:rPr lang="pl-PL" dirty="0" err="1"/>
              <a:t>commodo</a:t>
            </a:r>
            <a:r>
              <a:rPr lang="pl-PL" dirty="0"/>
              <a:t> </a:t>
            </a:r>
            <a:r>
              <a:rPr lang="pl-PL" dirty="0" err="1"/>
              <a:t>consequat</a:t>
            </a:r>
            <a:r>
              <a:rPr lang="pl-PL" dirty="0"/>
              <a:t>. </a:t>
            </a:r>
            <a:r>
              <a:rPr lang="pl-PL" dirty="0" err="1"/>
              <a:t>Duis</a:t>
            </a:r>
            <a:r>
              <a:rPr lang="pl-PL" dirty="0"/>
              <a:t> autem vel </a:t>
            </a:r>
            <a:r>
              <a:rPr lang="pl-PL" dirty="0" err="1"/>
              <a:t>eum</a:t>
            </a:r>
            <a:r>
              <a:rPr lang="pl-PL" dirty="0"/>
              <a:t> </a:t>
            </a:r>
            <a:r>
              <a:rPr lang="pl-PL" dirty="0" err="1"/>
              <a:t>iriure</a:t>
            </a:r>
            <a:r>
              <a:rPr lang="pl-PL" dirty="0"/>
              <a:t> </a:t>
            </a:r>
            <a:r>
              <a:rPr lang="pl-PL" dirty="0" err="1"/>
              <a:t>dolor</a:t>
            </a:r>
            <a:r>
              <a:rPr lang="pl-PL" dirty="0"/>
              <a:t> in </a:t>
            </a:r>
            <a:r>
              <a:rPr lang="pl-PL" dirty="0" err="1"/>
              <a:t>hendrerit</a:t>
            </a:r>
            <a:r>
              <a:rPr lang="pl-PL" dirty="0"/>
              <a:t> in </a:t>
            </a:r>
            <a:r>
              <a:rPr lang="pl-PL" dirty="0" err="1"/>
              <a:t>vulputate</a:t>
            </a:r>
            <a:r>
              <a:rPr lang="pl-PL" dirty="0"/>
              <a:t> </a:t>
            </a:r>
            <a:r>
              <a:rPr lang="pl-PL" dirty="0" err="1"/>
              <a:t>velit</a:t>
            </a:r>
            <a:r>
              <a:rPr lang="pl-PL" dirty="0"/>
              <a:t> </a:t>
            </a:r>
            <a:r>
              <a:rPr lang="pl-PL" dirty="0" err="1"/>
              <a:t>esse</a:t>
            </a:r>
            <a:r>
              <a:rPr lang="pl-PL" dirty="0"/>
              <a:t> </a:t>
            </a:r>
            <a:r>
              <a:rPr lang="pl-PL" dirty="0" err="1"/>
              <a:t>molestie</a:t>
            </a:r>
            <a:r>
              <a:rPr lang="pl-PL" dirty="0"/>
              <a:t> </a:t>
            </a:r>
            <a:r>
              <a:rPr lang="pl-PL" dirty="0" err="1"/>
              <a:t>consequat</a:t>
            </a:r>
            <a:r>
              <a:rPr lang="pl-PL" dirty="0"/>
              <a:t>, vel </a:t>
            </a:r>
            <a:r>
              <a:rPr lang="pl-PL" dirty="0" err="1"/>
              <a:t>illum</a:t>
            </a:r>
            <a:r>
              <a:rPr lang="pl-PL" dirty="0"/>
              <a:t> </a:t>
            </a:r>
            <a:r>
              <a:rPr lang="pl-PL" dirty="0" err="1"/>
              <a:t>dolore</a:t>
            </a:r>
            <a:r>
              <a:rPr lang="pl-PL" dirty="0"/>
              <a:t> </a:t>
            </a:r>
            <a:r>
              <a:rPr lang="pl-PL" dirty="0" err="1"/>
              <a:t>eu</a:t>
            </a:r>
            <a:r>
              <a:rPr lang="pl-PL" dirty="0"/>
              <a:t> </a:t>
            </a:r>
            <a:r>
              <a:rPr lang="pl-PL" dirty="0" err="1"/>
              <a:t>feugiat</a:t>
            </a:r>
            <a:r>
              <a:rPr lang="pl-PL" dirty="0"/>
              <a:t> </a:t>
            </a:r>
            <a:r>
              <a:rPr lang="pl-PL" dirty="0" err="1"/>
              <a:t>nulla</a:t>
            </a:r>
            <a:r>
              <a:rPr lang="pl-PL" dirty="0"/>
              <a:t> </a:t>
            </a:r>
            <a:r>
              <a:rPr lang="pl-PL" dirty="0" err="1"/>
              <a:t>facilisis</a:t>
            </a:r>
            <a:r>
              <a:rPr lang="pl-PL" dirty="0"/>
              <a:t> </a:t>
            </a:r>
            <a:r>
              <a:rPr lang="pl-PL" dirty="0" err="1"/>
              <a:t>at</a:t>
            </a:r>
            <a:r>
              <a:rPr lang="pl-PL" dirty="0"/>
              <a:t> </a:t>
            </a:r>
            <a:r>
              <a:rPr lang="pl-PL" dirty="0" err="1"/>
              <a:t>vero</a:t>
            </a:r>
            <a:r>
              <a:rPr lang="pl-PL" dirty="0"/>
              <a:t> eros et </a:t>
            </a:r>
            <a:r>
              <a:rPr lang="pl-PL" dirty="0" err="1"/>
              <a:t>accumsan</a:t>
            </a:r>
            <a:r>
              <a:rPr lang="pl-PL" dirty="0"/>
              <a:t> et </a:t>
            </a:r>
            <a:r>
              <a:rPr lang="pl-PL" dirty="0" err="1"/>
              <a:t>iusto</a:t>
            </a:r>
            <a:r>
              <a:rPr lang="pl-PL" dirty="0"/>
              <a:t> </a:t>
            </a:r>
            <a:r>
              <a:rPr lang="pl-PL" dirty="0" err="1"/>
              <a:t>odio</a:t>
            </a:r>
            <a:r>
              <a:rPr lang="pl-PL" dirty="0"/>
              <a:t> </a:t>
            </a:r>
            <a:r>
              <a:rPr lang="pl-PL" dirty="0" err="1"/>
              <a:t>Lorem</a:t>
            </a:r>
            <a:r>
              <a:rPr lang="pl-PL" dirty="0"/>
              <a:t> </a:t>
            </a:r>
            <a:r>
              <a:rPr lang="pl-PL" dirty="0" err="1"/>
              <a:t>ipsum</a:t>
            </a:r>
            <a:endParaRPr lang="pl-PL" dirty="0"/>
          </a:p>
        </p:txBody>
      </p:sp>
    </p:spTree>
    <p:extLst>
      <p:ext uri="{BB962C8B-B14F-4D97-AF65-F5344CB8AC3E}">
        <p14:creationId xmlns:p14="http://schemas.microsoft.com/office/powerpoint/2010/main" val="3154415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kst 2 - czarn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469952E-7044-4DF2-A785-4D136303F9AA}"/>
              </a:ext>
            </a:extLst>
          </p:cNvPr>
          <p:cNvSpPr/>
          <p:nvPr userDrawn="1"/>
        </p:nvSpPr>
        <p:spPr>
          <a:xfrm>
            <a:off x="0" y="0"/>
            <a:ext cx="12192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pl-PL"/>
          </a:p>
        </p:txBody>
      </p:sp>
      <p:sp>
        <p:nvSpPr>
          <p:cNvPr id="5" name="Title 1">
            <a:extLst>
              <a:ext uri="{FF2B5EF4-FFF2-40B4-BE49-F238E27FC236}">
                <a16:creationId xmlns:a16="http://schemas.microsoft.com/office/drawing/2014/main" id="{9B1AE9ED-1670-4B1B-A11F-1621E0D50D41}"/>
              </a:ext>
            </a:extLst>
          </p:cNvPr>
          <p:cNvSpPr>
            <a:spLocks noGrp="1"/>
          </p:cNvSpPr>
          <p:nvPr>
            <p:ph type="title" hasCustomPrompt="1"/>
          </p:nvPr>
        </p:nvSpPr>
        <p:spPr>
          <a:xfrm>
            <a:off x="699407" y="1421266"/>
            <a:ext cx="2221594" cy="629331"/>
          </a:xfrm>
        </p:spPr>
        <p:txBody>
          <a:bodyPr/>
          <a:lstStyle>
            <a:lvl1pPr>
              <a:defRPr baseline="0">
                <a:solidFill>
                  <a:schemeClr val="bg1"/>
                </a:solidFill>
              </a:defRPr>
            </a:lvl1pPr>
          </a:lstStyle>
          <a:p>
            <a:r>
              <a:rPr lang="pl-PL" dirty="0"/>
              <a:t>Temat Rozdziału</a:t>
            </a:r>
            <a:endParaRPr lang="en-US" dirty="0"/>
          </a:p>
        </p:txBody>
      </p:sp>
      <p:sp>
        <p:nvSpPr>
          <p:cNvPr id="6" name="Footer Placeholder 3">
            <a:extLst>
              <a:ext uri="{FF2B5EF4-FFF2-40B4-BE49-F238E27FC236}">
                <a16:creationId xmlns:a16="http://schemas.microsoft.com/office/drawing/2014/main" id="{DB6D6EE8-8D44-48ED-882E-481EB6E2D91F}"/>
              </a:ext>
            </a:extLst>
          </p:cNvPr>
          <p:cNvSpPr>
            <a:spLocks noGrp="1"/>
          </p:cNvSpPr>
          <p:nvPr>
            <p:ph type="ftr" sz="quarter" idx="11"/>
          </p:nvPr>
        </p:nvSpPr>
        <p:spPr>
          <a:xfrm>
            <a:off x="3722915" y="365125"/>
            <a:ext cx="4577443" cy="365125"/>
          </a:xfrm>
        </p:spPr>
        <p:txBody>
          <a:bodyPr/>
          <a:lstStyle>
            <a:lvl1pPr>
              <a:defRPr>
                <a:solidFill>
                  <a:schemeClr val="bg1"/>
                </a:solidFill>
              </a:defRPr>
            </a:lvl1pPr>
          </a:lstStyle>
          <a:p>
            <a:r>
              <a:rPr lang="pl-PL" dirty="0"/>
              <a:t>Polsko-Japońska Akademia Technik Komputerowych</a:t>
            </a:r>
            <a:endParaRPr lang="en-US" dirty="0"/>
          </a:p>
        </p:txBody>
      </p:sp>
      <p:sp>
        <p:nvSpPr>
          <p:cNvPr id="7" name="Slide Number Placeholder 4">
            <a:extLst>
              <a:ext uri="{FF2B5EF4-FFF2-40B4-BE49-F238E27FC236}">
                <a16:creationId xmlns:a16="http://schemas.microsoft.com/office/drawing/2014/main" id="{9A550E6E-A090-470D-8581-73FF5F2B559C}"/>
              </a:ext>
            </a:extLst>
          </p:cNvPr>
          <p:cNvSpPr>
            <a:spLocks noGrp="1"/>
          </p:cNvSpPr>
          <p:nvPr>
            <p:ph type="sldNum" sz="quarter" idx="12"/>
          </p:nvPr>
        </p:nvSpPr>
        <p:spPr>
          <a:xfrm>
            <a:off x="11472333" y="365125"/>
            <a:ext cx="554169" cy="365125"/>
          </a:xfrm>
        </p:spPr>
        <p:txBody>
          <a:bodyPr/>
          <a:lstStyle>
            <a:lvl1pPr>
              <a:defRPr>
                <a:solidFill>
                  <a:schemeClr val="bg1"/>
                </a:solidFill>
              </a:defRPr>
            </a:lvl1pPr>
          </a:lstStyle>
          <a:p>
            <a:fld id="{439CBD9F-C91E-49DF-B625-7C7E2E3EE5C8}" type="slidenum">
              <a:rPr lang="en-US" smtClean="0"/>
              <a:pPr/>
              <a:t>‹#›</a:t>
            </a:fld>
            <a:endParaRPr lang="en-US" dirty="0"/>
          </a:p>
        </p:txBody>
      </p:sp>
      <p:sp>
        <p:nvSpPr>
          <p:cNvPr id="8" name="Text Placeholder 10">
            <a:extLst>
              <a:ext uri="{FF2B5EF4-FFF2-40B4-BE49-F238E27FC236}">
                <a16:creationId xmlns:a16="http://schemas.microsoft.com/office/drawing/2014/main" id="{C612D94E-43A8-46CF-99B0-6991A44F3CA7}"/>
              </a:ext>
            </a:extLst>
          </p:cNvPr>
          <p:cNvSpPr>
            <a:spLocks noGrp="1"/>
          </p:cNvSpPr>
          <p:nvPr>
            <p:ph type="body" sz="quarter" idx="14" hasCustomPrompt="1"/>
          </p:nvPr>
        </p:nvSpPr>
        <p:spPr>
          <a:xfrm>
            <a:off x="3722915" y="2191206"/>
            <a:ext cx="3418113" cy="4150327"/>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bg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laoreet</a:t>
            </a:r>
            <a:r>
              <a:rPr lang="pl-PL" dirty="0"/>
              <a:t> </a:t>
            </a:r>
            <a:r>
              <a:rPr lang="pl-PL" dirty="0" err="1"/>
              <a:t>dolore</a:t>
            </a:r>
            <a:r>
              <a:rPr lang="pl-PL" dirty="0"/>
              <a:t> </a:t>
            </a:r>
            <a:r>
              <a:rPr lang="pl-PL" dirty="0" err="1"/>
              <a:t>magna</a:t>
            </a:r>
            <a:r>
              <a:rPr lang="pl-PL" dirty="0"/>
              <a:t> </a:t>
            </a:r>
            <a:r>
              <a:rPr lang="pl-PL" dirty="0" err="1"/>
              <a:t>aliquam</a:t>
            </a:r>
            <a:r>
              <a:rPr lang="pl-PL" dirty="0"/>
              <a:t> </a:t>
            </a:r>
            <a:r>
              <a:rPr lang="pl-PL" dirty="0" err="1"/>
              <a:t>erat</a:t>
            </a:r>
            <a:r>
              <a:rPr lang="pl-PL" dirty="0"/>
              <a:t> </a:t>
            </a:r>
            <a:r>
              <a:rPr lang="pl-PL" dirty="0" err="1"/>
              <a:t>volutpat</a:t>
            </a:r>
            <a:r>
              <a:rPr lang="pl-PL" dirty="0"/>
              <a:t>. </a:t>
            </a:r>
            <a:r>
              <a:rPr lang="pl-PL" dirty="0" err="1"/>
              <a:t>Ut</a:t>
            </a:r>
            <a:r>
              <a:rPr lang="pl-PL" dirty="0"/>
              <a:t> wisi </a:t>
            </a:r>
            <a:r>
              <a:rPr lang="pl-PL" dirty="0" err="1"/>
              <a:t>enim</a:t>
            </a:r>
            <a:r>
              <a:rPr lang="pl-PL" dirty="0"/>
              <a:t> ad </a:t>
            </a:r>
            <a:r>
              <a:rPr lang="pl-PL" dirty="0" err="1"/>
              <a:t>minim</a:t>
            </a:r>
            <a:r>
              <a:rPr lang="pl-PL" dirty="0"/>
              <a:t> </a:t>
            </a:r>
            <a:r>
              <a:rPr lang="pl-PL" dirty="0" err="1"/>
              <a:t>veniam</a:t>
            </a:r>
            <a:r>
              <a:rPr lang="pl-PL" dirty="0"/>
              <a:t>, </a:t>
            </a:r>
            <a:r>
              <a:rPr lang="pl-PL" dirty="0" err="1"/>
              <a:t>quis</a:t>
            </a:r>
            <a:r>
              <a:rPr lang="pl-PL" dirty="0"/>
              <a:t> </a:t>
            </a:r>
            <a:r>
              <a:rPr lang="pl-PL" dirty="0" err="1"/>
              <a:t>nostrud</a:t>
            </a:r>
            <a:r>
              <a:rPr lang="pl-PL" dirty="0"/>
              <a:t> </a:t>
            </a:r>
            <a:r>
              <a:rPr lang="pl-PL" dirty="0" err="1"/>
              <a:t>exerci</a:t>
            </a:r>
            <a:r>
              <a:rPr lang="pl-PL" dirty="0"/>
              <a:t> </a:t>
            </a:r>
            <a:r>
              <a:rPr lang="pl-PL" dirty="0" err="1"/>
              <a:t>tation</a:t>
            </a:r>
            <a:r>
              <a:rPr lang="pl-PL" dirty="0"/>
              <a:t> </a:t>
            </a:r>
            <a:r>
              <a:rPr lang="pl-PL" dirty="0" err="1"/>
              <a:t>ullamcorper</a:t>
            </a:r>
            <a:r>
              <a:rPr lang="pl-PL" dirty="0"/>
              <a:t> </a:t>
            </a:r>
            <a:r>
              <a:rPr lang="pl-PL" dirty="0" err="1"/>
              <a:t>suscipit</a:t>
            </a:r>
            <a:r>
              <a:rPr lang="pl-PL" dirty="0"/>
              <a:t> </a:t>
            </a:r>
            <a:r>
              <a:rPr lang="pl-PL" dirty="0" err="1"/>
              <a:t>lobortis</a:t>
            </a:r>
            <a:r>
              <a:rPr lang="pl-PL" dirty="0"/>
              <a:t> </a:t>
            </a:r>
            <a:r>
              <a:rPr lang="pl-PL" dirty="0" err="1"/>
              <a:t>nisl</a:t>
            </a:r>
            <a:r>
              <a:rPr lang="pl-PL" dirty="0"/>
              <a:t> </a:t>
            </a:r>
            <a:r>
              <a:rPr lang="pl-PL" dirty="0" err="1"/>
              <a:t>ut</a:t>
            </a:r>
            <a:r>
              <a:rPr lang="pl-PL" dirty="0"/>
              <a:t> </a:t>
            </a:r>
            <a:r>
              <a:rPr lang="pl-PL" dirty="0" err="1"/>
              <a:t>aliquip</a:t>
            </a:r>
            <a:r>
              <a:rPr lang="pl-PL" dirty="0"/>
              <a:t> ex </a:t>
            </a:r>
            <a:r>
              <a:rPr lang="pl-PL" dirty="0" err="1"/>
              <a:t>ea</a:t>
            </a:r>
            <a:r>
              <a:rPr lang="pl-PL" dirty="0"/>
              <a:t> </a:t>
            </a:r>
            <a:r>
              <a:rPr lang="pl-PL" dirty="0" err="1"/>
              <a:t>commodo</a:t>
            </a:r>
            <a:r>
              <a:rPr lang="pl-PL" dirty="0"/>
              <a:t> </a:t>
            </a:r>
            <a:r>
              <a:rPr lang="pl-PL" dirty="0" err="1"/>
              <a:t>consequat</a:t>
            </a:r>
            <a:r>
              <a:rPr lang="pl-PL" dirty="0"/>
              <a:t>. </a:t>
            </a:r>
            <a:r>
              <a:rPr lang="pl-PL" dirty="0" err="1"/>
              <a:t>Duis</a:t>
            </a:r>
            <a:r>
              <a:rPr lang="pl-PL" dirty="0"/>
              <a:t> autem vel </a:t>
            </a:r>
            <a:r>
              <a:rPr lang="pl-PL" dirty="0" err="1"/>
              <a:t>eum</a:t>
            </a:r>
            <a:r>
              <a:rPr lang="pl-PL" dirty="0"/>
              <a:t> </a:t>
            </a:r>
            <a:r>
              <a:rPr lang="pl-PL" dirty="0" err="1"/>
              <a:t>iriure</a:t>
            </a:r>
            <a:r>
              <a:rPr lang="pl-PL" dirty="0"/>
              <a:t> </a:t>
            </a:r>
            <a:r>
              <a:rPr lang="pl-PL" dirty="0" err="1"/>
              <a:t>dolor</a:t>
            </a:r>
            <a:r>
              <a:rPr lang="pl-PL" dirty="0"/>
              <a:t> in </a:t>
            </a:r>
            <a:r>
              <a:rPr lang="pl-PL" dirty="0" err="1"/>
              <a:t>hendrerit</a:t>
            </a:r>
            <a:r>
              <a:rPr lang="pl-PL" dirty="0"/>
              <a:t> in </a:t>
            </a:r>
            <a:r>
              <a:rPr lang="pl-PL" dirty="0" err="1"/>
              <a:t>vulputate</a:t>
            </a:r>
            <a:r>
              <a:rPr lang="pl-PL" dirty="0"/>
              <a:t> </a:t>
            </a:r>
            <a:r>
              <a:rPr lang="pl-PL" dirty="0" err="1"/>
              <a:t>velit</a:t>
            </a:r>
            <a:r>
              <a:rPr lang="pl-PL" dirty="0"/>
              <a:t> </a:t>
            </a:r>
            <a:r>
              <a:rPr lang="pl-PL" dirty="0" err="1"/>
              <a:t>esse</a:t>
            </a:r>
            <a:r>
              <a:rPr lang="pl-PL" dirty="0"/>
              <a:t> </a:t>
            </a:r>
            <a:r>
              <a:rPr lang="pl-PL" dirty="0" err="1"/>
              <a:t>molestie</a:t>
            </a:r>
            <a:r>
              <a:rPr lang="pl-PL" dirty="0"/>
              <a:t> </a:t>
            </a:r>
            <a:r>
              <a:rPr lang="pl-PL" dirty="0" err="1"/>
              <a:t>consequat</a:t>
            </a:r>
            <a:r>
              <a:rPr lang="pl-PL" dirty="0"/>
              <a:t>, vel </a:t>
            </a:r>
            <a:r>
              <a:rPr lang="pl-PL" dirty="0" err="1"/>
              <a:t>illum</a:t>
            </a:r>
            <a:r>
              <a:rPr lang="pl-PL" dirty="0"/>
              <a:t> </a:t>
            </a:r>
            <a:r>
              <a:rPr lang="pl-PL" dirty="0" err="1"/>
              <a:t>dolore</a:t>
            </a:r>
            <a:r>
              <a:rPr lang="pl-PL" dirty="0"/>
              <a:t> </a:t>
            </a:r>
            <a:r>
              <a:rPr lang="pl-PL" dirty="0" err="1"/>
              <a:t>eu</a:t>
            </a:r>
            <a:r>
              <a:rPr lang="pl-PL" dirty="0"/>
              <a:t> </a:t>
            </a:r>
            <a:r>
              <a:rPr lang="pl-PL" dirty="0" err="1"/>
              <a:t>feugiat</a:t>
            </a:r>
            <a:r>
              <a:rPr lang="pl-PL" dirty="0"/>
              <a:t> </a:t>
            </a:r>
            <a:r>
              <a:rPr lang="pl-PL" dirty="0" err="1"/>
              <a:t>nulla</a:t>
            </a:r>
            <a:r>
              <a:rPr lang="pl-PL" dirty="0"/>
              <a:t> </a:t>
            </a:r>
            <a:r>
              <a:rPr lang="pl-PL" dirty="0" err="1"/>
              <a:t>facilisis</a:t>
            </a:r>
            <a:r>
              <a:rPr lang="pl-PL" dirty="0"/>
              <a:t> </a:t>
            </a:r>
            <a:r>
              <a:rPr lang="pl-PL" dirty="0" err="1"/>
              <a:t>at</a:t>
            </a:r>
            <a:r>
              <a:rPr lang="pl-PL" dirty="0"/>
              <a:t> </a:t>
            </a:r>
            <a:r>
              <a:rPr lang="pl-PL" dirty="0" err="1"/>
              <a:t>vero</a:t>
            </a:r>
            <a:r>
              <a:rPr lang="pl-PL" dirty="0"/>
              <a:t> eros et </a:t>
            </a:r>
            <a:r>
              <a:rPr lang="pl-PL" dirty="0" err="1"/>
              <a:t>accumsan</a:t>
            </a:r>
            <a:r>
              <a:rPr lang="pl-PL" dirty="0"/>
              <a:t> et </a:t>
            </a:r>
            <a:r>
              <a:rPr lang="pl-PL" dirty="0" err="1"/>
              <a:t>iusto</a:t>
            </a:r>
            <a:r>
              <a:rPr lang="pl-PL" dirty="0"/>
              <a:t> </a:t>
            </a:r>
            <a:r>
              <a:rPr lang="pl-PL" dirty="0" err="1"/>
              <a:t>odio</a:t>
            </a:r>
            <a:r>
              <a:rPr lang="pl-PL" dirty="0"/>
              <a:t> </a:t>
            </a:r>
            <a:r>
              <a:rPr lang="pl-PL" dirty="0" err="1"/>
              <a:t>Lorem</a:t>
            </a:r>
            <a:r>
              <a:rPr lang="pl-PL" dirty="0"/>
              <a:t> </a:t>
            </a:r>
            <a:r>
              <a:rPr lang="pl-PL" dirty="0" err="1"/>
              <a:t>ipsum</a:t>
            </a:r>
            <a:endParaRPr lang="pl-PL" dirty="0"/>
          </a:p>
        </p:txBody>
      </p:sp>
      <p:sp>
        <p:nvSpPr>
          <p:cNvPr id="9" name="Text Placeholder 10">
            <a:extLst>
              <a:ext uri="{FF2B5EF4-FFF2-40B4-BE49-F238E27FC236}">
                <a16:creationId xmlns:a16="http://schemas.microsoft.com/office/drawing/2014/main" id="{725AA2AD-57AA-4381-BE8F-65B3FDF1AFF3}"/>
              </a:ext>
            </a:extLst>
          </p:cNvPr>
          <p:cNvSpPr>
            <a:spLocks noGrp="1"/>
          </p:cNvSpPr>
          <p:nvPr>
            <p:ph type="body" sz="quarter" idx="15" hasCustomPrompt="1"/>
          </p:nvPr>
        </p:nvSpPr>
        <p:spPr>
          <a:xfrm>
            <a:off x="7396446" y="2191206"/>
            <a:ext cx="3418113" cy="4150327"/>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bg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laoreet</a:t>
            </a:r>
            <a:r>
              <a:rPr lang="pl-PL" dirty="0"/>
              <a:t> </a:t>
            </a:r>
            <a:r>
              <a:rPr lang="pl-PL" dirty="0" err="1"/>
              <a:t>dolore</a:t>
            </a:r>
            <a:r>
              <a:rPr lang="pl-PL" dirty="0"/>
              <a:t> </a:t>
            </a:r>
            <a:r>
              <a:rPr lang="pl-PL" dirty="0" err="1"/>
              <a:t>magna</a:t>
            </a:r>
            <a:r>
              <a:rPr lang="pl-PL" dirty="0"/>
              <a:t> </a:t>
            </a:r>
            <a:r>
              <a:rPr lang="pl-PL" dirty="0" err="1"/>
              <a:t>aliquam</a:t>
            </a:r>
            <a:r>
              <a:rPr lang="pl-PL" dirty="0"/>
              <a:t> </a:t>
            </a:r>
            <a:r>
              <a:rPr lang="pl-PL" dirty="0" err="1"/>
              <a:t>erat</a:t>
            </a:r>
            <a:r>
              <a:rPr lang="pl-PL" dirty="0"/>
              <a:t> </a:t>
            </a:r>
            <a:r>
              <a:rPr lang="pl-PL" dirty="0" err="1"/>
              <a:t>volutpat</a:t>
            </a:r>
            <a:r>
              <a:rPr lang="pl-PL" dirty="0"/>
              <a:t>. </a:t>
            </a:r>
            <a:r>
              <a:rPr lang="pl-PL" dirty="0" err="1"/>
              <a:t>Ut</a:t>
            </a:r>
            <a:r>
              <a:rPr lang="pl-PL" dirty="0"/>
              <a:t> wisi </a:t>
            </a:r>
            <a:r>
              <a:rPr lang="pl-PL" dirty="0" err="1"/>
              <a:t>enim</a:t>
            </a:r>
            <a:r>
              <a:rPr lang="pl-PL" dirty="0"/>
              <a:t> ad </a:t>
            </a:r>
            <a:r>
              <a:rPr lang="pl-PL" dirty="0" err="1"/>
              <a:t>minim</a:t>
            </a:r>
            <a:r>
              <a:rPr lang="pl-PL" dirty="0"/>
              <a:t> </a:t>
            </a:r>
            <a:r>
              <a:rPr lang="pl-PL" dirty="0" err="1"/>
              <a:t>veniam</a:t>
            </a:r>
            <a:r>
              <a:rPr lang="pl-PL" dirty="0"/>
              <a:t>, </a:t>
            </a:r>
            <a:r>
              <a:rPr lang="pl-PL" dirty="0" err="1"/>
              <a:t>quis</a:t>
            </a:r>
            <a:r>
              <a:rPr lang="pl-PL" dirty="0"/>
              <a:t> </a:t>
            </a:r>
            <a:r>
              <a:rPr lang="pl-PL" dirty="0" err="1"/>
              <a:t>nostrud</a:t>
            </a:r>
            <a:r>
              <a:rPr lang="pl-PL" dirty="0"/>
              <a:t> </a:t>
            </a:r>
            <a:r>
              <a:rPr lang="pl-PL" dirty="0" err="1"/>
              <a:t>exerci</a:t>
            </a:r>
            <a:r>
              <a:rPr lang="pl-PL" dirty="0"/>
              <a:t> </a:t>
            </a:r>
            <a:r>
              <a:rPr lang="pl-PL" dirty="0" err="1"/>
              <a:t>tation</a:t>
            </a:r>
            <a:r>
              <a:rPr lang="pl-PL" dirty="0"/>
              <a:t> </a:t>
            </a:r>
            <a:r>
              <a:rPr lang="pl-PL" dirty="0" err="1"/>
              <a:t>ullamcorper</a:t>
            </a:r>
            <a:r>
              <a:rPr lang="pl-PL" dirty="0"/>
              <a:t> </a:t>
            </a:r>
            <a:r>
              <a:rPr lang="pl-PL" dirty="0" err="1"/>
              <a:t>suscipit</a:t>
            </a:r>
            <a:r>
              <a:rPr lang="pl-PL" dirty="0"/>
              <a:t> </a:t>
            </a:r>
            <a:r>
              <a:rPr lang="pl-PL" dirty="0" err="1"/>
              <a:t>lobortis</a:t>
            </a:r>
            <a:r>
              <a:rPr lang="pl-PL" dirty="0"/>
              <a:t> </a:t>
            </a:r>
            <a:r>
              <a:rPr lang="pl-PL" dirty="0" err="1"/>
              <a:t>nisl</a:t>
            </a:r>
            <a:r>
              <a:rPr lang="pl-PL" dirty="0"/>
              <a:t> </a:t>
            </a:r>
            <a:r>
              <a:rPr lang="pl-PL" dirty="0" err="1"/>
              <a:t>ut</a:t>
            </a:r>
            <a:r>
              <a:rPr lang="pl-PL" dirty="0"/>
              <a:t> </a:t>
            </a:r>
            <a:r>
              <a:rPr lang="pl-PL" dirty="0" err="1"/>
              <a:t>aliquip</a:t>
            </a:r>
            <a:r>
              <a:rPr lang="pl-PL" dirty="0"/>
              <a:t> ex </a:t>
            </a:r>
            <a:r>
              <a:rPr lang="pl-PL" dirty="0" err="1"/>
              <a:t>ea</a:t>
            </a:r>
            <a:r>
              <a:rPr lang="pl-PL" dirty="0"/>
              <a:t> </a:t>
            </a:r>
            <a:r>
              <a:rPr lang="pl-PL" dirty="0" err="1"/>
              <a:t>commodo</a:t>
            </a:r>
            <a:r>
              <a:rPr lang="pl-PL" dirty="0"/>
              <a:t> </a:t>
            </a:r>
            <a:r>
              <a:rPr lang="pl-PL" dirty="0" err="1"/>
              <a:t>consequat</a:t>
            </a:r>
            <a:r>
              <a:rPr lang="pl-PL" dirty="0"/>
              <a:t>. </a:t>
            </a:r>
            <a:r>
              <a:rPr lang="pl-PL" dirty="0" err="1"/>
              <a:t>Duis</a:t>
            </a:r>
            <a:r>
              <a:rPr lang="pl-PL" dirty="0"/>
              <a:t> autem vel </a:t>
            </a:r>
            <a:r>
              <a:rPr lang="pl-PL" dirty="0" err="1"/>
              <a:t>eum</a:t>
            </a:r>
            <a:r>
              <a:rPr lang="pl-PL" dirty="0"/>
              <a:t> </a:t>
            </a:r>
            <a:r>
              <a:rPr lang="pl-PL" dirty="0" err="1"/>
              <a:t>iriure</a:t>
            </a:r>
            <a:r>
              <a:rPr lang="pl-PL" dirty="0"/>
              <a:t> </a:t>
            </a:r>
            <a:r>
              <a:rPr lang="pl-PL" dirty="0" err="1"/>
              <a:t>dolor</a:t>
            </a:r>
            <a:r>
              <a:rPr lang="pl-PL" dirty="0"/>
              <a:t> in </a:t>
            </a:r>
            <a:r>
              <a:rPr lang="pl-PL" dirty="0" err="1"/>
              <a:t>hendrerit</a:t>
            </a:r>
            <a:r>
              <a:rPr lang="pl-PL" dirty="0"/>
              <a:t> in </a:t>
            </a:r>
            <a:r>
              <a:rPr lang="pl-PL" dirty="0" err="1"/>
              <a:t>vulputate</a:t>
            </a:r>
            <a:r>
              <a:rPr lang="pl-PL" dirty="0"/>
              <a:t> </a:t>
            </a:r>
            <a:r>
              <a:rPr lang="pl-PL" dirty="0" err="1"/>
              <a:t>velit</a:t>
            </a:r>
            <a:r>
              <a:rPr lang="pl-PL" dirty="0"/>
              <a:t> </a:t>
            </a:r>
            <a:r>
              <a:rPr lang="pl-PL" dirty="0" err="1"/>
              <a:t>esse</a:t>
            </a:r>
            <a:r>
              <a:rPr lang="pl-PL" dirty="0"/>
              <a:t> </a:t>
            </a:r>
            <a:r>
              <a:rPr lang="pl-PL" dirty="0" err="1"/>
              <a:t>molestie</a:t>
            </a:r>
            <a:r>
              <a:rPr lang="pl-PL" dirty="0"/>
              <a:t> </a:t>
            </a:r>
            <a:r>
              <a:rPr lang="pl-PL" dirty="0" err="1"/>
              <a:t>consequat</a:t>
            </a:r>
            <a:r>
              <a:rPr lang="pl-PL" dirty="0"/>
              <a:t>, vel </a:t>
            </a:r>
            <a:r>
              <a:rPr lang="pl-PL" dirty="0" err="1"/>
              <a:t>illum</a:t>
            </a:r>
            <a:r>
              <a:rPr lang="pl-PL" dirty="0"/>
              <a:t> </a:t>
            </a:r>
            <a:r>
              <a:rPr lang="pl-PL" dirty="0" err="1"/>
              <a:t>dolore</a:t>
            </a:r>
            <a:r>
              <a:rPr lang="pl-PL" dirty="0"/>
              <a:t> </a:t>
            </a:r>
            <a:r>
              <a:rPr lang="pl-PL" dirty="0" err="1"/>
              <a:t>eu</a:t>
            </a:r>
            <a:r>
              <a:rPr lang="pl-PL" dirty="0"/>
              <a:t> </a:t>
            </a:r>
            <a:r>
              <a:rPr lang="pl-PL" dirty="0" err="1"/>
              <a:t>feugiat</a:t>
            </a:r>
            <a:r>
              <a:rPr lang="pl-PL" dirty="0"/>
              <a:t> </a:t>
            </a:r>
            <a:r>
              <a:rPr lang="pl-PL" dirty="0" err="1"/>
              <a:t>nulla</a:t>
            </a:r>
            <a:r>
              <a:rPr lang="pl-PL" dirty="0"/>
              <a:t> </a:t>
            </a:r>
            <a:r>
              <a:rPr lang="pl-PL" dirty="0" err="1"/>
              <a:t>facilisis</a:t>
            </a:r>
            <a:r>
              <a:rPr lang="pl-PL" dirty="0"/>
              <a:t> </a:t>
            </a:r>
            <a:r>
              <a:rPr lang="pl-PL" dirty="0" err="1"/>
              <a:t>at</a:t>
            </a:r>
            <a:r>
              <a:rPr lang="pl-PL" dirty="0"/>
              <a:t> </a:t>
            </a:r>
            <a:r>
              <a:rPr lang="pl-PL" dirty="0" err="1"/>
              <a:t>vero</a:t>
            </a:r>
            <a:r>
              <a:rPr lang="pl-PL" dirty="0"/>
              <a:t> eros et </a:t>
            </a:r>
            <a:r>
              <a:rPr lang="pl-PL" dirty="0" err="1"/>
              <a:t>accumsan</a:t>
            </a:r>
            <a:r>
              <a:rPr lang="pl-PL" dirty="0"/>
              <a:t> et </a:t>
            </a:r>
            <a:r>
              <a:rPr lang="pl-PL" dirty="0" err="1"/>
              <a:t>iusto</a:t>
            </a:r>
            <a:r>
              <a:rPr lang="pl-PL" dirty="0"/>
              <a:t> </a:t>
            </a:r>
            <a:r>
              <a:rPr lang="pl-PL" dirty="0" err="1"/>
              <a:t>odio</a:t>
            </a:r>
            <a:r>
              <a:rPr lang="pl-PL" dirty="0"/>
              <a:t> </a:t>
            </a:r>
            <a:r>
              <a:rPr lang="pl-PL" dirty="0" err="1"/>
              <a:t>Lorem</a:t>
            </a:r>
            <a:r>
              <a:rPr lang="pl-PL" dirty="0"/>
              <a:t> </a:t>
            </a:r>
            <a:r>
              <a:rPr lang="pl-PL" dirty="0" err="1"/>
              <a:t>ipsum</a:t>
            </a:r>
            <a:endParaRPr lang="pl-PL" dirty="0"/>
          </a:p>
        </p:txBody>
      </p:sp>
    </p:spTree>
    <p:extLst>
      <p:ext uri="{BB962C8B-B14F-4D97-AF65-F5344CB8AC3E}">
        <p14:creationId xmlns:p14="http://schemas.microsoft.com/office/powerpoint/2010/main" val="5892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kst - 3">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pl-PL" dirty="0"/>
              <a:t>Temat Rozdziału</a:t>
            </a:r>
            <a:endParaRPr lang="en-US" dirty="0"/>
          </a:p>
        </p:txBody>
      </p:sp>
      <p:sp>
        <p:nvSpPr>
          <p:cNvPr id="3" name="Footer Placeholder 2"/>
          <p:cNvSpPr>
            <a:spLocks noGrp="1"/>
          </p:cNvSpPr>
          <p:nvPr>
            <p:ph type="ftr" sz="quarter" idx="10"/>
          </p:nvPr>
        </p:nvSpPr>
        <p:spPr/>
        <p:txBody>
          <a:bodyPr/>
          <a:lstStyle/>
          <a:p>
            <a:r>
              <a:rPr lang="pl-PL"/>
              <a:t>Polsko-Japońska Akademia Technik Komputerowych</a:t>
            </a:r>
            <a:endParaRPr lang="en-US" dirty="0"/>
          </a:p>
        </p:txBody>
      </p:sp>
      <p:sp>
        <p:nvSpPr>
          <p:cNvPr id="4" name="Slide Number Placeholder 3"/>
          <p:cNvSpPr>
            <a:spLocks noGrp="1"/>
          </p:cNvSpPr>
          <p:nvPr>
            <p:ph type="sldNum" sz="quarter" idx="11"/>
          </p:nvPr>
        </p:nvSpPr>
        <p:spPr/>
        <p:txBody>
          <a:bodyPr/>
          <a:lstStyle/>
          <a:p>
            <a:fld id="{439CBD9F-C91E-49DF-B625-7C7E2E3EE5C8}" type="slidenum">
              <a:rPr lang="en-US" smtClean="0"/>
              <a:pPr/>
              <a:t>‹#›</a:t>
            </a:fld>
            <a:endParaRPr lang="en-US" dirty="0"/>
          </a:p>
        </p:txBody>
      </p:sp>
      <p:sp>
        <p:nvSpPr>
          <p:cNvPr id="7" name="Text Placeholder 10"/>
          <p:cNvSpPr>
            <a:spLocks noGrp="1"/>
          </p:cNvSpPr>
          <p:nvPr>
            <p:ph type="body" sz="quarter" idx="14" hasCustomPrompt="1"/>
          </p:nvPr>
        </p:nvSpPr>
        <p:spPr>
          <a:xfrm>
            <a:off x="3722915" y="2196269"/>
            <a:ext cx="6188527" cy="1622197"/>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laoreet</a:t>
            </a:r>
            <a:r>
              <a:rPr lang="pl-PL" dirty="0"/>
              <a:t> </a:t>
            </a:r>
            <a:r>
              <a:rPr lang="pl-PL" dirty="0" err="1"/>
              <a:t>dolore</a:t>
            </a:r>
            <a:r>
              <a:rPr lang="pl-PL" dirty="0"/>
              <a:t> </a:t>
            </a:r>
            <a:r>
              <a:rPr lang="pl-PL" dirty="0" err="1"/>
              <a:t>magna</a:t>
            </a:r>
            <a:r>
              <a:rPr lang="pl-PL" dirty="0"/>
              <a:t> </a:t>
            </a:r>
            <a:r>
              <a:rPr lang="pl-PL" dirty="0" err="1"/>
              <a:t>aliquam</a:t>
            </a:r>
            <a:r>
              <a:rPr lang="pl-PL" dirty="0"/>
              <a:t> </a:t>
            </a:r>
            <a:r>
              <a:rPr lang="pl-PL" dirty="0" err="1"/>
              <a:t>erat</a:t>
            </a:r>
            <a:r>
              <a:rPr lang="pl-PL" dirty="0"/>
              <a:t> </a:t>
            </a:r>
            <a:r>
              <a:rPr lang="pl-PL" dirty="0" err="1"/>
              <a:t>volutpat</a:t>
            </a:r>
            <a:r>
              <a:rPr lang="pl-PL" dirty="0"/>
              <a:t>. </a:t>
            </a:r>
            <a:r>
              <a:rPr lang="pl-PL" dirty="0" err="1"/>
              <a:t>Ut</a:t>
            </a:r>
            <a:r>
              <a:rPr lang="pl-PL" dirty="0"/>
              <a:t> wisi </a:t>
            </a:r>
            <a:r>
              <a:rPr lang="pl-PL" dirty="0" err="1"/>
              <a:t>enim</a:t>
            </a:r>
            <a:r>
              <a:rPr lang="pl-PL" dirty="0"/>
              <a:t> ad </a:t>
            </a:r>
            <a:r>
              <a:rPr lang="pl-PL" dirty="0" err="1"/>
              <a:t>minim</a:t>
            </a:r>
            <a:r>
              <a:rPr lang="pl-PL" dirty="0"/>
              <a:t> </a:t>
            </a:r>
            <a:r>
              <a:rPr lang="pl-PL" dirty="0" err="1"/>
              <a:t>veniam</a:t>
            </a:r>
            <a:r>
              <a:rPr lang="pl-PL" dirty="0"/>
              <a:t>, </a:t>
            </a:r>
            <a:r>
              <a:rPr lang="pl-PL" dirty="0" err="1"/>
              <a:t>quis</a:t>
            </a:r>
            <a:r>
              <a:rPr lang="pl-PL" dirty="0"/>
              <a:t> </a:t>
            </a:r>
            <a:r>
              <a:rPr lang="pl-PL" dirty="0" err="1"/>
              <a:t>nostrud</a:t>
            </a:r>
            <a:r>
              <a:rPr lang="pl-PL" dirty="0"/>
              <a:t> </a:t>
            </a:r>
            <a:r>
              <a:rPr lang="pl-PL" dirty="0" err="1"/>
              <a:t>exerci</a:t>
            </a:r>
            <a:r>
              <a:rPr lang="pl-PL" dirty="0"/>
              <a:t> </a:t>
            </a:r>
            <a:r>
              <a:rPr lang="pl-PL" dirty="0" err="1"/>
              <a:t>tation</a:t>
            </a:r>
            <a:r>
              <a:rPr lang="pl-PL" dirty="0"/>
              <a:t> </a:t>
            </a:r>
            <a:r>
              <a:rPr lang="pl-PL" dirty="0" err="1"/>
              <a:t>ullamcorper</a:t>
            </a:r>
            <a:r>
              <a:rPr lang="pl-PL" dirty="0"/>
              <a:t> </a:t>
            </a:r>
            <a:r>
              <a:rPr lang="pl-PL" dirty="0" err="1"/>
              <a:t>suscipit</a:t>
            </a:r>
            <a:r>
              <a:rPr lang="pl-PL" dirty="0"/>
              <a:t> </a:t>
            </a:r>
            <a:r>
              <a:rPr lang="pl-PL" dirty="0" err="1"/>
              <a:t>lobortis</a:t>
            </a:r>
            <a:r>
              <a:rPr lang="pl-PL" dirty="0"/>
              <a:t> </a:t>
            </a:r>
            <a:r>
              <a:rPr lang="pl-PL" dirty="0" err="1"/>
              <a:t>nisl</a:t>
            </a:r>
            <a:r>
              <a:rPr lang="pl-PL" dirty="0"/>
              <a:t> </a:t>
            </a:r>
            <a:r>
              <a:rPr lang="pl-PL" dirty="0" err="1"/>
              <a:t>ut</a:t>
            </a:r>
            <a:r>
              <a:rPr lang="pl-PL" dirty="0"/>
              <a:t> </a:t>
            </a:r>
            <a:r>
              <a:rPr lang="pl-PL" dirty="0" err="1"/>
              <a:t>aliquip</a:t>
            </a:r>
            <a:r>
              <a:rPr lang="pl-PL" dirty="0"/>
              <a:t> ex </a:t>
            </a:r>
            <a:r>
              <a:rPr lang="pl-PL" dirty="0" err="1"/>
              <a:t>ea</a:t>
            </a:r>
            <a:r>
              <a:rPr lang="pl-PL" dirty="0"/>
              <a:t> </a:t>
            </a:r>
            <a:r>
              <a:rPr lang="pl-PL" dirty="0" err="1"/>
              <a:t>commodo</a:t>
            </a:r>
            <a:r>
              <a:rPr lang="pl-PL" dirty="0"/>
              <a:t> </a:t>
            </a:r>
            <a:r>
              <a:rPr lang="pl-PL" dirty="0" err="1"/>
              <a:t>consequat</a:t>
            </a:r>
            <a:r>
              <a:rPr lang="pl-PL" dirty="0"/>
              <a:t>. </a:t>
            </a:r>
            <a:r>
              <a:rPr lang="pl-PL" dirty="0" err="1"/>
              <a:t>Duis</a:t>
            </a:r>
            <a:r>
              <a:rPr lang="pl-PL" dirty="0"/>
              <a:t> autem vel </a:t>
            </a:r>
            <a:r>
              <a:rPr lang="pl-PL" dirty="0" err="1"/>
              <a:t>eum</a:t>
            </a:r>
            <a:r>
              <a:rPr lang="pl-PL" dirty="0"/>
              <a:t> </a:t>
            </a:r>
            <a:r>
              <a:rPr lang="pl-PL" dirty="0" err="1"/>
              <a:t>iriure</a:t>
            </a:r>
            <a:r>
              <a:rPr lang="pl-PL" dirty="0"/>
              <a:t> </a:t>
            </a:r>
            <a:r>
              <a:rPr lang="pl-PL" dirty="0" err="1"/>
              <a:t>dolor</a:t>
            </a:r>
            <a:r>
              <a:rPr lang="pl-PL" dirty="0"/>
              <a:t> in </a:t>
            </a:r>
            <a:r>
              <a:rPr lang="pl-PL" dirty="0" err="1"/>
              <a:t>hendrerit</a:t>
            </a:r>
            <a:r>
              <a:rPr lang="pl-PL" dirty="0"/>
              <a:t> in </a:t>
            </a:r>
            <a:r>
              <a:rPr lang="pl-PL" dirty="0" err="1"/>
              <a:t>vulputate</a:t>
            </a:r>
            <a:r>
              <a:rPr lang="pl-PL" dirty="0"/>
              <a:t> </a:t>
            </a:r>
            <a:r>
              <a:rPr lang="pl-PL" dirty="0" err="1"/>
              <a:t>velit</a:t>
            </a:r>
            <a:r>
              <a:rPr lang="pl-PL" dirty="0"/>
              <a:t> </a:t>
            </a:r>
            <a:r>
              <a:rPr lang="pl-PL" dirty="0" err="1"/>
              <a:t>esse</a:t>
            </a:r>
            <a:r>
              <a:rPr lang="pl-PL" dirty="0"/>
              <a:t> </a:t>
            </a:r>
            <a:r>
              <a:rPr lang="pl-PL" dirty="0" err="1"/>
              <a:t>molestie</a:t>
            </a:r>
            <a:r>
              <a:rPr lang="pl-PL" dirty="0"/>
              <a:t> </a:t>
            </a:r>
            <a:r>
              <a:rPr lang="pl-PL" dirty="0" err="1"/>
              <a:t>consequat</a:t>
            </a:r>
            <a:r>
              <a:rPr lang="pl-PL" dirty="0"/>
              <a:t>, vel </a:t>
            </a:r>
            <a:r>
              <a:rPr lang="pl-PL" dirty="0" err="1"/>
              <a:t>illum</a:t>
            </a:r>
            <a:r>
              <a:rPr lang="pl-PL" dirty="0"/>
              <a:t> </a:t>
            </a:r>
            <a:r>
              <a:rPr lang="pl-PL" dirty="0" err="1"/>
              <a:t>dolore</a:t>
            </a:r>
            <a:r>
              <a:rPr lang="pl-PL" dirty="0"/>
              <a:t> </a:t>
            </a:r>
            <a:r>
              <a:rPr lang="pl-PL" dirty="0" err="1"/>
              <a:t>eu</a:t>
            </a:r>
            <a:r>
              <a:rPr lang="pl-PL" dirty="0"/>
              <a:t> </a:t>
            </a:r>
            <a:r>
              <a:rPr lang="pl-PL" dirty="0" err="1"/>
              <a:t>feugiat</a:t>
            </a:r>
            <a:r>
              <a:rPr lang="pl-PL" dirty="0"/>
              <a:t> </a:t>
            </a:r>
            <a:r>
              <a:rPr lang="pl-PL" dirty="0" err="1"/>
              <a:t>nulla</a:t>
            </a:r>
            <a:r>
              <a:rPr lang="pl-PL" dirty="0"/>
              <a:t> </a:t>
            </a:r>
            <a:r>
              <a:rPr lang="pl-PL" dirty="0" err="1"/>
              <a:t>facilisis</a:t>
            </a:r>
            <a:r>
              <a:rPr lang="pl-PL" dirty="0"/>
              <a:t> </a:t>
            </a:r>
            <a:r>
              <a:rPr lang="pl-PL" dirty="0" err="1"/>
              <a:t>at</a:t>
            </a:r>
            <a:r>
              <a:rPr lang="pl-PL" dirty="0"/>
              <a:t> </a:t>
            </a:r>
            <a:r>
              <a:rPr lang="pl-PL" dirty="0" err="1"/>
              <a:t>vero</a:t>
            </a:r>
            <a:r>
              <a:rPr lang="pl-PL" dirty="0"/>
              <a:t> eros et </a:t>
            </a:r>
            <a:r>
              <a:rPr lang="pl-PL" dirty="0" err="1"/>
              <a:t>accumsan</a:t>
            </a:r>
            <a:endParaRPr lang="pl-PL" dirty="0"/>
          </a:p>
        </p:txBody>
      </p:sp>
      <p:sp>
        <p:nvSpPr>
          <p:cNvPr id="8" name="Text Placeholder 10"/>
          <p:cNvSpPr>
            <a:spLocks noGrp="1"/>
          </p:cNvSpPr>
          <p:nvPr>
            <p:ph type="body" sz="quarter" idx="15" hasCustomPrompt="1"/>
          </p:nvPr>
        </p:nvSpPr>
        <p:spPr>
          <a:xfrm>
            <a:off x="3722915" y="3991202"/>
            <a:ext cx="6188527" cy="1622197"/>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laoreet</a:t>
            </a:r>
            <a:r>
              <a:rPr lang="pl-PL" dirty="0"/>
              <a:t> </a:t>
            </a:r>
            <a:r>
              <a:rPr lang="pl-PL" dirty="0" err="1"/>
              <a:t>dolore</a:t>
            </a:r>
            <a:r>
              <a:rPr lang="pl-PL" dirty="0"/>
              <a:t> </a:t>
            </a:r>
            <a:r>
              <a:rPr lang="pl-PL" dirty="0" err="1"/>
              <a:t>magna</a:t>
            </a:r>
            <a:r>
              <a:rPr lang="pl-PL" dirty="0"/>
              <a:t> </a:t>
            </a:r>
            <a:r>
              <a:rPr lang="pl-PL" dirty="0" err="1"/>
              <a:t>aliquam</a:t>
            </a:r>
            <a:r>
              <a:rPr lang="pl-PL" dirty="0"/>
              <a:t> </a:t>
            </a:r>
            <a:r>
              <a:rPr lang="pl-PL" dirty="0" err="1"/>
              <a:t>erat</a:t>
            </a:r>
            <a:r>
              <a:rPr lang="pl-PL" dirty="0"/>
              <a:t> </a:t>
            </a:r>
            <a:r>
              <a:rPr lang="pl-PL" dirty="0" err="1"/>
              <a:t>volutpat</a:t>
            </a:r>
            <a:r>
              <a:rPr lang="pl-PL" dirty="0"/>
              <a:t>. </a:t>
            </a:r>
            <a:r>
              <a:rPr lang="pl-PL" dirty="0" err="1"/>
              <a:t>Ut</a:t>
            </a:r>
            <a:r>
              <a:rPr lang="pl-PL" dirty="0"/>
              <a:t> wisi </a:t>
            </a:r>
            <a:r>
              <a:rPr lang="pl-PL" dirty="0" err="1"/>
              <a:t>enim</a:t>
            </a:r>
            <a:r>
              <a:rPr lang="pl-PL" dirty="0"/>
              <a:t> ad </a:t>
            </a:r>
            <a:r>
              <a:rPr lang="pl-PL" dirty="0" err="1"/>
              <a:t>minim</a:t>
            </a:r>
            <a:r>
              <a:rPr lang="pl-PL" dirty="0"/>
              <a:t> </a:t>
            </a:r>
            <a:r>
              <a:rPr lang="pl-PL" dirty="0" err="1"/>
              <a:t>veniam</a:t>
            </a:r>
            <a:r>
              <a:rPr lang="pl-PL" dirty="0"/>
              <a:t>, </a:t>
            </a:r>
            <a:r>
              <a:rPr lang="pl-PL" dirty="0" err="1"/>
              <a:t>quis</a:t>
            </a:r>
            <a:r>
              <a:rPr lang="pl-PL" dirty="0"/>
              <a:t> </a:t>
            </a:r>
            <a:r>
              <a:rPr lang="pl-PL" dirty="0" err="1"/>
              <a:t>nostrud</a:t>
            </a:r>
            <a:r>
              <a:rPr lang="pl-PL" dirty="0"/>
              <a:t> </a:t>
            </a:r>
            <a:r>
              <a:rPr lang="pl-PL" dirty="0" err="1"/>
              <a:t>exerci</a:t>
            </a:r>
            <a:r>
              <a:rPr lang="pl-PL" dirty="0"/>
              <a:t> </a:t>
            </a:r>
            <a:r>
              <a:rPr lang="pl-PL" dirty="0" err="1"/>
              <a:t>tation</a:t>
            </a:r>
            <a:r>
              <a:rPr lang="pl-PL" dirty="0"/>
              <a:t> </a:t>
            </a:r>
            <a:r>
              <a:rPr lang="pl-PL" dirty="0" err="1"/>
              <a:t>ullamcorper</a:t>
            </a:r>
            <a:r>
              <a:rPr lang="pl-PL" dirty="0"/>
              <a:t> </a:t>
            </a:r>
            <a:r>
              <a:rPr lang="pl-PL" dirty="0" err="1"/>
              <a:t>suscipit</a:t>
            </a:r>
            <a:r>
              <a:rPr lang="pl-PL" dirty="0"/>
              <a:t> </a:t>
            </a:r>
            <a:r>
              <a:rPr lang="pl-PL" dirty="0" err="1"/>
              <a:t>lobortis</a:t>
            </a:r>
            <a:r>
              <a:rPr lang="pl-PL" dirty="0"/>
              <a:t> </a:t>
            </a:r>
            <a:r>
              <a:rPr lang="pl-PL" dirty="0" err="1"/>
              <a:t>nisl</a:t>
            </a:r>
            <a:r>
              <a:rPr lang="pl-PL" dirty="0"/>
              <a:t> </a:t>
            </a:r>
            <a:r>
              <a:rPr lang="pl-PL" dirty="0" err="1"/>
              <a:t>ut</a:t>
            </a:r>
            <a:r>
              <a:rPr lang="pl-PL" dirty="0"/>
              <a:t> </a:t>
            </a:r>
            <a:r>
              <a:rPr lang="pl-PL" dirty="0" err="1"/>
              <a:t>aliquip</a:t>
            </a:r>
            <a:r>
              <a:rPr lang="pl-PL" dirty="0"/>
              <a:t> ex </a:t>
            </a:r>
            <a:r>
              <a:rPr lang="pl-PL" dirty="0" err="1"/>
              <a:t>ea</a:t>
            </a:r>
            <a:r>
              <a:rPr lang="pl-PL" dirty="0"/>
              <a:t> </a:t>
            </a:r>
            <a:r>
              <a:rPr lang="pl-PL" dirty="0" err="1"/>
              <a:t>commodo</a:t>
            </a:r>
            <a:r>
              <a:rPr lang="pl-PL" dirty="0"/>
              <a:t> </a:t>
            </a:r>
            <a:r>
              <a:rPr lang="pl-PL" dirty="0" err="1"/>
              <a:t>consequat</a:t>
            </a:r>
            <a:r>
              <a:rPr lang="pl-PL" dirty="0"/>
              <a:t>. </a:t>
            </a:r>
            <a:r>
              <a:rPr lang="pl-PL" dirty="0" err="1"/>
              <a:t>Duis</a:t>
            </a:r>
            <a:r>
              <a:rPr lang="pl-PL" dirty="0"/>
              <a:t> autem vel </a:t>
            </a:r>
            <a:r>
              <a:rPr lang="pl-PL" dirty="0" err="1"/>
              <a:t>eum</a:t>
            </a:r>
            <a:r>
              <a:rPr lang="pl-PL" dirty="0"/>
              <a:t> </a:t>
            </a:r>
            <a:r>
              <a:rPr lang="pl-PL" dirty="0" err="1"/>
              <a:t>iriure</a:t>
            </a:r>
            <a:r>
              <a:rPr lang="pl-PL" dirty="0"/>
              <a:t> </a:t>
            </a:r>
            <a:r>
              <a:rPr lang="pl-PL" dirty="0" err="1"/>
              <a:t>dolor</a:t>
            </a:r>
            <a:r>
              <a:rPr lang="pl-PL" dirty="0"/>
              <a:t> in </a:t>
            </a:r>
            <a:r>
              <a:rPr lang="pl-PL" dirty="0" err="1"/>
              <a:t>hendrerit</a:t>
            </a:r>
            <a:r>
              <a:rPr lang="pl-PL" dirty="0"/>
              <a:t> in </a:t>
            </a:r>
            <a:r>
              <a:rPr lang="pl-PL" dirty="0" err="1"/>
              <a:t>vulputate</a:t>
            </a:r>
            <a:r>
              <a:rPr lang="pl-PL" dirty="0"/>
              <a:t> </a:t>
            </a:r>
            <a:r>
              <a:rPr lang="pl-PL" dirty="0" err="1"/>
              <a:t>velit</a:t>
            </a:r>
            <a:r>
              <a:rPr lang="pl-PL" dirty="0"/>
              <a:t> </a:t>
            </a:r>
            <a:r>
              <a:rPr lang="pl-PL" dirty="0" err="1"/>
              <a:t>esse</a:t>
            </a:r>
            <a:r>
              <a:rPr lang="pl-PL" dirty="0"/>
              <a:t> </a:t>
            </a:r>
            <a:r>
              <a:rPr lang="pl-PL" dirty="0" err="1"/>
              <a:t>molestie</a:t>
            </a:r>
            <a:r>
              <a:rPr lang="pl-PL" dirty="0"/>
              <a:t> </a:t>
            </a:r>
            <a:r>
              <a:rPr lang="pl-PL" dirty="0" err="1"/>
              <a:t>consequat</a:t>
            </a:r>
            <a:r>
              <a:rPr lang="pl-PL" dirty="0"/>
              <a:t>, vel </a:t>
            </a:r>
            <a:r>
              <a:rPr lang="pl-PL" dirty="0" err="1"/>
              <a:t>illum</a:t>
            </a:r>
            <a:r>
              <a:rPr lang="pl-PL" dirty="0"/>
              <a:t> </a:t>
            </a:r>
            <a:r>
              <a:rPr lang="pl-PL" dirty="0" err="1"/>
              <a:t>dolore</a:t>
            </a:r>
            <a:r>
              <a:rPr lang="pl-PL" dirty="0"/>
              <a:t> </a:t>
            </a:r>
            <a:r>
              <a:rPr lang="pl-PL" dirty="0" err="1"/>
              <a:t>eu</a:t>
            </a:r>
            <a:r>
              <a:rPr lang="pl-PL" dirty="0"/>
              <a:t> </a:t>
            </a:r>
            <a:r>
              <a:rPr lang="pl-PL" dirty="0" err="1"/>
              <a:t>feugiat</a:t>
            </a:r>
            <a:r>
              <a:rPr lang="pl-PL" dirty="0"/>
              <a:t> </a:t>
            </a:r>
            <a:r>
              <a:rPr lang="pl-PL" dirty="0" err="1"/>
              <a:t>nulla</a:t>
            </a:r>
            <a:r>
              <a:rPr lang="pl-PL" dirty="0"/>
              <a:t> </a:t>
            </a:r>
            <a:r>
              <a:rPr lang="pl-PL" dirty="0" err="1"/>
              <a:t>facilisis</a:t>
            </a:r>
            <a:r>
              <a:rPr lang="pl-PL" dirty="0"/>
              <a:t> </a:t>
            </a:r>
            <a:r>
              <a:rPr lang="pl-PL" dirty="0" err="1"/>
              <a:t>at</a:t>
            </a:r>
            <a:r>
              <a:rPr lang="pl-PL" dirty="0"/>
              <a:t> </a:t>
            </a:r>
            <a:r>
              <a:rPr lang="pl-PL" dirty="0" err="1"/>
              <a:t>vero</a:t>
            </a:r>
            <a:r>
              <a:rPr lang="pl-PL" dirty="0"/>
              <a:t> eros et </a:t>
            </a:r>
            <a:r>
              <a:rPr lang="pl-PL" dirty="0" err="1"/>
              <a:t>accumsan</a:t>
            </a:r>
            <a:endParaRPr lang="pl-PL" dirty="0"/>
          </a:p>
        </p:txBody>
      </p:sp>
    </p:spTree>
    <p:extLst>
      <p:ext uri="{BB962C8B-B14F-4D97-AF65-F5344CB8AC3E}">
        <p14:creationId xmlns:p14="http://schemas.microsoft.com/office/powerpoint/2010/main" val="1076682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djęcie - 1">
    <p:spTree>
      <p:nvGrpSpPr>
        <p:cNvPr id="1" name=""/>
        <p:cNvGrpSpPr/>
        <p:nvPr/>
      </p:nvGrpSpPr>
      <p:grpSpPr>
        <a:xfrm>
          <a:off x="0" y="0"/>
          <a:ext cx="0" cy="0"/>
          <a:chOff x="0" y="0"/>
          <a:chExt cx="0" cy="0"/>
        </a:xfrm>
      </p:grpSpPr>
      <p:sp>
        <p:nvSpPr>
          <p:cNvPr id="10" name="Rectangle 9"/>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p:txBody>
          <a:bodyPr/>
          <a:lstStyle>
            <a:lvl1pPr>
              <a:defRPr baseline="0">
                <a:solidFill>
                  <a:schemeClr val="bg1"/>
                </a:solidFill>
              </a:defRPr>
            </a:lvl1pPr>
          </a:lstStyle>
          <a:p>
            <a:r>
              <a:rPr lang="pl-PL" dirty="0"/>
              <a:t>Temat </a:t>
            </a:r>
            <a:r>
              <a:rPr lang="pl-PL" dirty="0" err="1"/>
              <a:t>Rodziału</a:t>
            </a:r>
            <a:endParaRPr lang="en-US" dirty="0"/>
          </a:p>
        </p:txBody>
      </p:sp>
      <p:sp>
        <p:nvSpPr>
          <p:cNvPr id="3" name="Footer Placeholder 2"/>
          <p:cNvSpPr>
            <a:spLocks noGrp="1"/>
          </p:cNvSpPr>
          <p:nvPr>
            <p:ph type="ftr" sz="quarter" idx="10"/>
          </p:nvPr>
        </p:nvSpPr>
        <p:spPr/>
        <p:txBody>
          <a:bodyPr/>
          <a:lstStyle>
            <a:lvl1pPr>
              <a:defRPr>
                <a:solidFill>
                  <a:schemeClr val="bg1"/>
                </a:solidFill>
              </a:defRPr>
            </a:lvl1pPr>
          </a:lstStyle>
          <a:p>
            <a:r>
              <a:rPr lang="pl-PL" dirty="0"/>
              <a:t>Polsko-Japońska Akademia Technik Komputerowych</a:t>
            </a:r>
            <a:endParaRPr lang="en-US" dirty="0"/>
          </a:p>
        </p:txBody>
      </p:sp>
      <p:sp>
        <p:nvSpPr>
          <p:cNvPr id="4" name="Slide Number Placeholder 3"/>
          <p:cNvSpPr>
            <a:spLocks noGrp="1"/>
          </p:cNvSpPr>
          <p:nvPr>
            <p:ph type="sldNum" sz="quarter" idx="11"/>
          </p:nvPr>
        </p:nvSpPr>
        <p:spPr/>
        <p:txBody>
          <a:bodyPr/>
          <a:lstStyle>
            <a:lvl1pPr>
              <a:defRPr>
                <a:solidFill>
                  <a:schemeClr val="bg1"/>
                </a:solidFill>
              </a:defRPr>
            </a:lvl1pPr>
          </a:lstStyle>
          <a:p>
            <a:fld id="{439CBD9F-C91E-49DF-B625-7C7E2E3EE5C8}" type="slidenum">
              <a:rPr lang="en-US" smtClean="0"/>
              <a:pPr/>
              <a:t>‹#›</a:t>
            </a:fld>
            <a:endParaRPr lang="en-US" dirty="0"/>
          </a:p>
        </p:txBody>
      </p:sp>
      <p:sp>
        <p:nvSpPr>
          <p:cNvPr id="11" name="Text Placeholder 10"/>
          <p:cNvSpPr>
            <a:spLocks noGrp="1"/>
          </p:cNvSpPr>
          <p:nvPr>
            <p:ph type="body" sz="quarter" idx="14" hasCustomPrompt="1"/>
          </p:nvPr>
        </p:nvSpPr>
        <p:spPr>
          <a:xfrm>
            <a:off x="3722915" y="2144031"/>
            <a:ext cx="3287485" cy="590097"/>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bg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a:t>
            </a:r>
          </a:p>
        </p:txBody>
      </p:sp>
      <p:sp>
        <p:nvSpPr>
          <p:cNvPr id="12" name="Text Placeholder 10"/>
          <p:cNvSpPr>
            <a:spLocks noGrp="1"/>
          </p:cNvSpPr>
          <p:nvPr>
            <p:ph type="body" sz="quarter" idx="15" hasCustomPrompt="1"/>
          </p:nvPr>
        </p:nvSpPr>
        <p:spPr>
          <a:xfrm>
            <a:off x="7295908" y="2144030"/>
            <a:ext cx="3287485" cy="590097"/>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bg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a:t>
            </a:r>
          </a:p>
        </p:txBody>
      </p:sp>
      <p:sp>
        <p:nvSpPr>
          <p:cNvPr id="13" name="Picture Placeholder 40"/>
          <p:cNvSpPr>
            <a:spLocks noGrp="1"/>
          </p:cNvSpPr>
          <p:nvPr>
            <p:ph type="pic" sz="quarter" idx="12"/>
          </p:nvPr>
        </p:nvSpPr>
        <p:spPr>
          <a:xfrm>
            <a:off x="3722915" y="3124502"/>
            <a:ext cx="6875035" cy="2641298"/>
          </a:xfrm>
          <a:prstGeom prst="rect">
            <a:avLst/>
          </a:prstGeom>
        </p:spPr>
        <p:txBody>
          <a:bodyPr/>
          <a:lstStyle>
            <a:lvl1pPr marL="0" indent="0" algn="ctr">
              <a:buNone/>
              <a:defRPr>
                <a:solidFill>
                  <a:schemeClr val="bg1"/>
                </a:solidFill>
                <a:latin typeface="Mundial" pitchFamily="50" charset="-18"/>
              </a:defRPr>
            </a:lvl1pPr>
          </a:lstStyle>
          <a:p>
            <a:r>
              <a:rPr lang="pl-PL"/>
              <a:t>Kliknij ikonę, aby dodać obraz</a:t>
            </a:r>
            <a:endParaRPr lang="pl-PL" dirty="0"/>
          </a:p>
        </p:txBody>
      </p:sp>
    </p:spTree>
    <p:extLst>
      <p:ext uri="{BB962C8B-B14F-4D97-AF65-F5344CB8AC3E}">
        <p14:creationId xmlns:p14="http://schemas.microsoft.com/office/powerpoint/2010/main" val="1446071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djęcie -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9406" y="1421266"/>
            <a:ext cx="2136927" cy="629331"/>
          </a:xfrm>
        </p:spPr>
        <p:txBody>
          <a:bodyPr/>
          <a:lstStyle>
            <a:lvl1pPr>
              <a:defRPr baseline="0"/>
            </a:lvl1pPr>
          </a:lstStyle>
          <a:p>
            <a:r>
              <a:rPr lang="pl-PL" dirty="0"/>
              <a:t>Temat </a:t>
            </a:r>
            <a:r>
              <a:rPr lang="pl-PL" dirty="0" err="1"/>
              <a:t>Rozdiału</a:t>
            </a:r>
            <a:endParaRPr lang="en-US" dirty="0"/>
          </a:p>
        </p:txBody>
      </p:sp>
      <p:sp>
        <p:nvSpPr>
          <p:cNvPr id="3" name="Footer Placeholder 2"/>
          <p:cNvSpPr>
            <a:spLocks noGrp="1"/>
          </p:cNvSpPr>
          <p:nvPr>
            <p:ph type="ftr" sz="quarter" idx="10"/>
          </p:nvPr>
        </p:nvSpPr>
        <p:spPr/>
        <p:txBody>
          <a:bodyPr/>
          <a:lstStyle/>
          <a:p>
            <a:r>
              <a:rPr lang="pl-PL" dirty="0"/>
              <a:t>Polsko-Japońska Akademia Technik Komputerowych</a:t>
            </a:r>
            <a:endParaRPr lang="en-US" dirty="0"/>
          </a:p>
        </p:txBody>
      </p:sp>
      <p:sp>
        <p:nvSpPr>
          <p:cNvPr id="4" name="Slide Number Placeholder 3"/>
          <p:cNvSpPr>
            <a:spLocks noGrp="1"/>
          </p:cNvSpPr>
          <p:nvPr>
            <p:ph type="sldNum" sz="quarter" idx="11"/>
          </p:nvPr>
        </p:nvSpPr>
        <p:spPr/>
        <p:txBody>
          <a:bodyPr/>
          <a:lstStyle/>
          <a:p>
            <a:fld id="{439CBD9F-C91E-49DF-B625-7C7E2E3EE5C8}" type="slidenum">
              <a:rPr lang="en-US" smtClean="0"/>
              <a:pPr/>
              <a:t>‹#›</a:t>
            </a:fld>
            <a:endParaRPr lang="en-US" dirty="0"/>
          </a:p>
        </p:txBody>
      </p:sp>
      <p:sp>
        <p:nvSpPr>
          <p:cNvPr id="7" name="Picture Placeholder 40"/>
          <p:cNvSpPr>
            <a:spLocks noGrp="1"/>
          </p:cNvSpPr>
          <p:nvPr>
            <p:ph type="pic" sz="quarter" idx="12" hasCustomPrompt="1"/>
          </p:nvPr>
        </p:nvSpPr>
        <p:spPr>
          <a:xfrm>
            <a:off x="3940837" y="1811866"/>
            <a:ext cx="6714066" cy="3928534"/>
          </a:xfrm>
          <a:prstGeom prst="rect">
            <a:avLst/>
          </a:prstGeom>
        </p:spPr>
        <p:txBody>
          <a:bodyPr/>
          <a:lstStyle>
            <a:lvl1pPr marL="0" indent="0" algn="ctr">
              <a:buNone/>
              <a:defRPr>
                <a:latin typeface="Mundial" pitchFamily="50" charset="-18"/>
              </a:defRPr>
            </a:lvl1pPr>
          </a:lstStyle>
          <a:p>
            <a:br>
              <a:rPr lang="pl-PL" dirty="0"/>
            </a:br>
            <a:r>
              <a:rPr lang="pl-PL" dirty="0"/>
              <a:t>Tu rozmieść zdjęcie</a:t>
            </a:r>
            <a:br>
              <a:rPr lang="pl-PL" dirty="0"/>
            </a:br>
            <a:endParaRPr lang="pl-PL" dirty="0"/>
          </a:p>
        </p:txBody>
      </p:sp>
    </p:spTree>
    <p:extLst>
      <p:ext uri="{BB962C8B-B14F-4D97-AF65-F5344CB8AC3E}">
        <p14:creationId xmlns:p14="http://schemas.microsoft.com/office/powerpoint/2010/main" val="133040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djęcie - 3">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pl-PL" dirty="0"/>
              <a:t>Polsko-Japońska Akademia Technik Komputerowych</a:t>
            </a:r>
            <a:endParaRPr lang="en-US" dirty="0"/>
          </a:p>
        </p:txBody>
      </p:sp>
      <p:sp>
        <p:nvSpPr>
          <p:cNvPr id="4" name="Slide Number Placeholder 3"/>
          <p:cNvSpPr>
            <a:spLocks noGrp="1"/>
          </p:cNvSpPr>
          <p:nvPr>
            <p:ph type="sldNum" sz="quarter" idx="11"/>
          </p:nvPr>
        </p:nvSpPr>
        <p:spPr/>
        <p:txBody>
          <a:bodyPr/>
          <a:lstStyle/>
          <a:p>
            <a:fld id="{439CBD9F-C91E-49DF-B625-7C7E2E3EE5C8}" type="slidenum">
              <a:rPr lang="en-US" smtClean="0"/>
              <a:pPr/>
              <a:t>‹#›</a:t>
            </a:fld>
            <a:endParaRPr lang="en-US" dirty="0"/>
          </a:p>
        </p:txBody>
      </p:sp>
      <p:sp>
        <p:nvSpPr>
          <p:cNvPr id="41" name="Picture Placeholder 40"/>
          <p:cNvSpPr>
            <a:spLocks noGrp="1"/>
          </p:cNvSpPr>
          <p:nvPr>
            <p:ph type="pic" sz="quarter" idx="12" hasCustomPrompt="1"/>
          </p:nvPr>
        </p:nvSpPr>
        <p:spPr>
          <a:xfrm>
            <a:off x="0" y="1439863"/>
            <a:ext cx="3563938" cy="4986337"/>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latin typeface="Mundial" pitchFamily="50" charset="-18"/>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lang="pl-PL" dirty="0"/>
            </a:br>
            <a:r>
              <a:rPr lang="pl-PL" dirty="0"/>
              <a:t>Tu rozmieść zdjęcie</a:t>
            </a:r>
          </a:p>
          <a:p>
            <a:endParaRPr lang="en-US" dirty="0"/>
          </a:p>
          <a:p>
            <a:endParaRPr lang="en-US" dirty="0"/>
          </a:p>
        </p:txBody>
      </p:sp>
      <p:sp>
        <p:nvSpPr>
          <p:cNvPr id="44" name="Picture Placeholder 40"/>
          <p:cNvSpPr>
            <a:spLocks noGrp="1"/>
          </p:cNvSpPr>
          <p:nvPr>
            <p:ph type="pic" sz="quarter" idx="15" hasCustomPrompt="1"/>
          </p:nvPr>
        </p:nvSpPr>
        <p:spPr>
          <a:xfrm>
            <a:off x="4229667" y="1439862"/>
            <a:ext cx="3563938" cy="4986337"/>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latin typeface="Mundial" pitchFamily="50" charset="-18"/>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lang="pl-PL" dirty="0"/>
            </a:br>
            <a:r>
              <a:rPr lang="pl-PL" dirty="0"/>
              <a:t>Tu rozmieść zdjęcie</a:t>
            </a:r>
          </a:p>
          <a:p>
            <a:endParaRPr lang="en-US" dirty="0"/>
          </a:p>
          <a:p>
            <a:endParaRPr lang="en-US" dirty="0"/>
          </a:p>
        </p:txBody>
      </p:sp>
      <p:sp>
        <p:nvSpPr>
          <p:cNvPr id="45" name="Picture Placeholder 40"/>
          <p:cNvSpPr>
            <a:spLocks noGrp="1"/>
          </p:cNvSpPr>
          <p:nvPr>
            <p:ph type="pic" sz="quarter" idx="16" hasCustomPrompt="1"/>
          </p:nvPr>
        </p:nvSpPr>
        <p:spPr>
          <a:xfrm>
            <a:off x="8628062" y="1439862"/>
            <a:ext cx="3563938" cy="4986337"/>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latin typeface="Mundial" pitchFamily="50" charset="-18"/>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lang="pl-PL" dirty="0"/>
            </a:br>
            <a:r>
              <a:rPr lang="pl-PL" dirty="0"/>
              <a:t>Tu rozmieść zdjęcie</a:t>
            </a:r>
          </a:p>
          <a:p>
            <a:endParaRPr lang="en-US" dirty="0"/>
          </a:p>
          <a:p>
            <a:endParaRPr lang="en-US" dirty="0"/>
          </a:p>
        </p:txBody>
      </p:sp>
    </p:spTree>
    <p:extLst>
      <p:ext uri="{BB962C8B-B14F-4D97-AF65-F5344CB8AC3E}">
        <p14:creationId xmlns:p14="http://schemas.microsoft.com/office/powerpoint/2010/main" val="1108078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djęcie - 4 Full Screen">
    <p:spTree>
      <p:nvGrpSpPr>
        <p:cNvPr id="1" name=""/>
        <p:cNvGrpSpPr/>
        <p:nvPr/>
      </p:nvGrpSpPr>
      <p:grpSpPr>
        <a:xfrm>
          <a:off x="0" y="0"/>
          <a:ext cx="0" cy="0"/>
          <a:chOff x="0" y="0"/>
          <a:chExt cx="0" cy="0"/>
        </a:xfrm>
      </p:grpSpPr>
      <p:sp>
        <p:nvSpPr>
          <p:cNvPr id="6" name="Picture Placeholder 5"/>
          <p:cNvSpPr>
            <a:spLocks noGrp="1"/>
          </p:cNvSpPr>
          <p:nvPr>
            <p:ph type="pic" sz="quarter" idx="12" hasCustomPrompt="1"/>
          </p:nvPr>
        </p:nvSpPr>
        <p:spPr>
          <a:xfrm>
            <a:off x="0" y="0"/>
            <a:ext cx="12192000" cy="685800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undial" pitchFamily="50" charset="-18"/>
              </a:defRPr>
            </a:lvl1pPr>
          </a:lstStyle>
          <a:p>
            <a:br>
              <a:rPr lang="pl-PL" dirty="0"/>
            </a:br>
            <a:br>
              <a:rPr lang="pl-PL" dirty="0"/>
            </a:br>
            <a:br>
              <a:rPr lang="pl-PL" dirty="0"/>
            </a:br>
            <a:br>
              <a:rPr lang="pl-PL" dirty="0"/>
            </a:br>
            <a:br>
              <a:rPr lang="pl-PL" dirty="0"/>
            </a:br>
            <a:br>
              <a:rPr lang="pl-PL" dirty="0"/>
            </a:br>
            <a:r>
              <a:rPr lang="pl-PL" dirty="0"/>
              <a:t>Tu rozmieść zdjęcie – Full </a:t>
            </a:r>
            <a:r>
              <a:rPr lang="pl-PL" dirty="0" err="1"/>
              <a:t>Screen</a:t>
            </a:r>
            <a:endParaRPr lang="en-US" dirty="0"/>
          </a:p>
        </p:txBody>
      </p:sp>
      <p:sp>
        <p:nvSpPr>
          <p:cNvPr id="3" name="Footer Placeholder 2"/>
          <p:cNvSpPr>
            <a:spLocks noGrp="1"/>
          </p:cNvSpPr>
          <p:nvPr>
            <p:ph type="ftr" sz="quarter" idx="10"/>
          </p:nvPr>
        </p:nvSpPr>
        <p:spPr/>
        <p:txBody>
          <a:bodyPr/>
          <a:lstStyle>
            <a:lvl1pPr>
              <a:defRPr>
                <a:solidFill>
                  <a:schemeClr val="bg1">
                    <a:lumMod val="75000"/>
                  </a:schemeClr>
                </a:solidFill>
              </a:defRPr>
            </a:lvl1pPr>
          </a:lstStyle>
          <a:p>
            <a:r>
              <a:rPr lang="pl-PL" dirty="0"/>
              <a:t>Polsko-Japońska Akademia Technik Komputerowych</a:t>
            </a:r>
            <a:endParaRPr lang="en-US" dirty="0"/>
          </a:p>
        </p:txBody>
      </p:sp>
      <p:sp>
        <p:nvSpPr>
          <p:cNvPr id="4" name="Slide Number Placeholder 3"/>
          <p:cNvSpPr>
            <a:spLocks noGrp="1"/>
          </p:cNvSpPr>
          <p:nvPr>
            <p:ph type="sldNum" sz="quarter" idx="11"/>
          </p:nvPr>
        </p:nvSpPr>
        <p:spPr/>
        <p:txBody>
          <a:bodyPr/>
          <a:lstStyle>
            <a:lvl1pPr>
              <a:defRPr>
                <a:solidFill>
                  <a:schemeClr val="bg1">
                    <a:lumMod val="75000"/>
                  </a:schemeClr>
                </a:solidFill>
              </a:defRPr>
            </a:lvl1pPr>
          </a:lstStyle>
          <a:p>
            <a:fld id="{439CBD9F-C91E-49DF-B625-7C7E2E3EE5C8}" type="slidenum">
              <a:rPr lang="en-US" smtClean="0"/>
              <a:pPr/>
              <a:t>‹#›</a:t>
            </a:fld>
            <a:endParaRPr lang="en-US" dirty="0"/>
          </a:p>
        </p:txBody>
      </p:sp>
    </p:spTree>
    <p:extLst>
      <p:ext uri="{BB962C8B-B14F-4D97-AF65-F5344CB8AC3E}">
        <p14:creationId xmlns:p14="http://schemas.microsoft.com/office/powerpoint/2010/main" val="3744248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pl-PL" dirty="0"/>
              <a:t>Kontakty</a:t>
            </a:r>
            <a:endParaRPr lang="en-US" dirty="0"/>
          </a:p>
        </p:txBody>
      </p:sp>
      <p:sp>
        <p:nvSpPr>
          <p:cNvPr id="3" name="Footer Placeholder 2"/>
          <p:cNvSpPr>
            <a:spLocks noGrp="1"/>
          </p:cNvSpPr>
          <p:nvPr>
            <p:ph type="ftr" sz="quarter" idx="10"/>
          </p:nvPr>
        </p:nvSpPr>
        <p:spPr/>
        <p:txBody>
          <a:bodyPr/>
          <a:lstStyle/>
          <a:p>
            <a:r>
              <a:rPr lang="pl-PL" dirty="0"/>
              <a:t>Polsko-Japońska Akademia Technik Komputerowych</a:t>
            </a:r>
            <a:endParaRPr lang="en-US" dirty="0"/>
          </a:p>
        </p:txBody>
      </p:sp>
      <p:sp>
        <p:nvSpPr>
          <p:cNvPr id="4" name="Slide Number Placeholder 3"/>
          <p:cNvSpPr>
            <a:spLocks noGrp="1"/>
          </p:cNvSpPr>
          <p:nvPr>
            <p:ph type="sldNum" sz="quarter" idx="11"/>
          </p:nvPr>
        </p:nvSpPr>
        <p:spPr/>
        <p:txBody>
          <a:bodyPr/>
          <a:lstStyle/>
          <a:p>
            <a:fld id="{439CBD9F-C91E-49DF-B625-7C7E2E3EE5C8}" type="slidenum">
              <a:rPr lang="en-US" smtClean="0"/>
              <a:pPr/>
              <a:t>‹#›</a:t>
            </a:fld>
            <a:endParaRPr lang="en-US" dirty="0"/>
          </a:p>
        </p:txBody>
      </p:sp>
      <p:sp>
        <p:nvSpPr>
          <p:cNvPr id="16" name="Text Placeholder 10"/>
          <p:cNvSpPr>
            <a:spLocks noGrp="1"/>
          </p:cNvSpPr>
          <p:nvPr>
            <p:ph type="body" sz="quarter" idx="17" hasCustomPrompt="1"/>
          </p:nvPr>
        </p:nvSpPr>
        <p:spPr>
          <a:xfrm>
            <a:off x="3679825" y="2163460"/>
            <a:ext cx="2967038" cy="1070278"/>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a:t>
            </a:r>
            <a:r>
              <a:rPr lang="pl-PL" dirty="0"/>
              <a:t> </a:t>
            </a:r>
            <a:r>
              <a:rPr lang="pl-PL" dirty="0" err="1"/>
              <a:t>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endParaRPr lang="pl-PL" dirty="0"/>
          </a:p>
        </p:txBody>
      </p:sp>
      <p:sp>
        <p:nvSpPr>
          <p:cNvPr id="17" name="Text Placeholder 10"/>
          <p:cNvSpPr>
            <a:spLocks noGrp="1"/>
          </p:cNvSpPr>
          <p:nvPr>
            <p:ph type="body" sz="quarter" idx="22" hasCustomPrompt="1"/>
          </p:nvPr>
        </p:nvSpPr>
        <p:spPr>
          <a:xfrm>
            <a:off x="3671888" y="3867754"/>
            <a:ext cx="2967038" cy="1070278"/>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a:t>
            </a:r>
            <a:r>
              <a:rPr lang="pl-PL" dirty="0"/>
              <a:t> </a:t>
            </a:r>
            <a:r>
              <a:rPr lang="pl-PL" dirty="0" err="1"/>
              <a:t>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endParaRPr lang="pl-PL" dirty="0"/>
          </a:p>
        </p:txBody>
      </p:sp>
      <p:sp>
        <p:nvSpPr>
          <p:cNvPr id="18" name="Text Placeholder 10"/>
          <p:cNvSpPr>
            <a:spLocks noGrp="1"/>
          </p:cNvSpPr>
          <p:nvPr>
            <p:ph type="body" sz="quarter" idx="23" hasCustomPrompt="1"/>
          </p:nvPr>
        </p:nvSpPr>
        <p:spPr>
          <a:xfrm>
            <a:off x="7541380" y="2163460"/>
            <a:ext cx="2967038" cy="1070278"/>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a:t>
            </a:r>
            <a:r>
              <a:rPr lang="pl-PL" dirty="0"/>
              <a:t> </a:t>
            </a:r>
            <a:r>
              <a:rPr lang="pl-PL" dirty="0" err="1"/>
              <a:t>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endParaRPr lang="pl-PL" dirty="0"/>
          </a:p>
        </p:txBody>
      </p:sp>
      <p:sp>
        <p:nvSpPr>
          <p:cNvPr id="19" name="Text Placeholder 10"/>
          <p:cNvSpPr>
            <a:spLocks noGrp="1"/>
          </p:cNvSpPr>
          <p:nvPr>
            <p:ph type="body" sz="quarter" idx="24" hasCustomPrompt="1"/>
          </p:nvPr>
        </p:nvSpPr>
        <p:spPr>
          <a:xfrm>
            <a:off x="7541380" y="3867754"/>
            <a:ext cx="2967038" cy="1070278"/>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a:t>
            </a:r>
            <a:r>
              <a:rPr lang="pl-PL" dirty="0"/>
              <a:t> </a:t>
            </a:r>
            <a:r>
              <a:rPr lang="pl-PL" dirty="0" err="1"/>
              <a:t>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endParaRPr lang="pl-PL" dirty="0"/>
          </a:p>
        </p:txBody>
      </p:sp>
    </p:spTree>
    <p:extLst>
      <p:ext uri="{BB962C8B-B14F-4D97-AF65-F5344CB8AC3E}">
        <p14:creationId xmlns:p14="http://schemas.microsoft.com/office/powerpoint/2010/main" val="3308235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ytat - 1 ">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pl-PL" dirty="0"/>
              <a:t>Polsko-Japońska Akademia Technik Komputerowych</a:t>
            </a:r>
            <a:endParaRPr lang="en-US" dirty="0"/>
          </a:p>
        </p:txBody>
      </p:sp>
      <p:sp>
        <p:nvSpPr>
          <p:cNvPr id="4" name="Slide Number Placeholder 3"/>
          <p:cNvSpPr>
            <a:spLocks noGrp="1"/>
          </p:cNvSpPr>
          <p:nvPr>
            <p:ph type="sldNum" sz="quarter" idx="11"/>
          </p:nvPr>
        </p:nvSpPr>
        <p:spPr/>
        <p:txBody>
          <a:bodyPr/>
          <a:lstStyle/>
          <a:p>
            <a:fld id="{439CBD9F-C91E-49DF-B625-7C7E2E3EE5C8}" type="slidenum">
              <a:rPr lang="en-US" smtClean="0"/>
              <a:pPr/>
              <a:t>‹#›</a:t>
            </a:fld>
            <a:endParaRPr lang="en-US" dirty="0"/>
          </a:p>
        </p:txBody>
      </p:sp>
      <p:sp>
        <p:nvSpPr>
          <p:cNvPr id="6" name="Content Placeholder 2"/>
          <p:cNvSpPr>
            <a:spLocks noGrp="1"/>
          </p:cNvSpPr>
          <p:nvPr>
            <p:ph idx="1" hasCustomPrompt="1"/>
          </p:nvPr>
        </p:nvSpPr>
        <p:spPr>
          <a:xfrm>
            <a:off x="5754917" y="2151365"/>
            <a:ext cx="2579309" cy="853168"/>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kern="14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br>
              <a:rPr lang="pl-PL" dirty="0"/>
            </a:br>
            <a:endParaRPr lang="en-US" dirty="0"/>
          </a:p>
        </p:txBody>
      </p:sp>
      <p:sp>
        <p:nvSpPr>
          <p:cNvPr id="8" name="Content Placeholder 2"/>
          <p:cNvSpPr>
            <a:spLocks noGrp="1"/>
          </p:cNvSpPr>
          <p:nvPr>
            <p:ph idx="12" hasCustomPrompt="1"/>
          </p:nvPr>
        </p:nvSpPr>
        <p:spPr>
          <a:xfrm>
            <a:off x="8735183" y="2151365"/>
            <a:ext cx="2579309" cy="853168"/>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kern="14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br>
              <a:rPr lang="pl-PL" dirty="0"/>
            </a:br>
            <a:endParaRPr lang="en-US" dirty="0"/>
          </a:p>
        </p:txBody>
      </p:sp>
      <p:sp>
        <p:nvSpPr>
          <p:cNvPr id="7" name="Title 6"/>
          <p:cNvSpPr>
            <a:spLocks noGrp="1"/>
          </p:cNvSpPr>
          <p:nvPr>
            <p:ph type="title" hasCustomPrompt="1"/>
          </p:nvPr>
        </p:nvSpPr>
        <p:spPr/>
        <p:txBody>
          <a:bodyPr/>
          <a:lstStyle>
            <a:lvl1pPr>
              <a:defRPr/>
            </a:lvl1pPr>
          </a:lstStyle>
          <a:p>
            <a:r>
              <a:rPr lang="pl-PL" dirty="0"/>
              <a:t>Temat rozdziału</a:t>
            </a:r>
            <a:endParaRPr lang="en-US" dirty="0"/>
          </a:p>
        </p:txBody>
      </p:sp>
      <p:sp>
        <p:nvSpPr>
          <p:cNvPr id="13" name="Text Placeholder 12"/>
          <p:cNvSpPr>
            <a:spLocks noGrp="1"/>
          </p:cNvSpPr>
          <p:nvPr>
            <p:ph type="body" sz="quarter" idx="13" hasCustomPrompt="1"/>
          </p:nvPr>
        </p:nvSpPr>
        <p:spPr>
          <a:xfrm>
            <a:off x="699407" y="3591643"/>
            <a:ext cx="10615085" cy="2879725"/>
          </a:xfrm>
          <a:prstGeom prst="rect">
            <a:avLst/>
          </a:prstGeom>
        </p:spPr>
        <p:txBody>
          <a:bodyPr/>
          <a:lstStyle>
            <a:lvl1pPr marL="0" indent="0">
              <a:buNone/>
              <a:defRPr sz="9000" baseline="0">
                <a:latin typeface="Mundial" pitchFamily="50" charset="-18"/>
              </a:defRPr>
            </a:lvl1pPr>
          </a:lstStyle>
          <a:p>
            <a:pPr lvl="0"/>
            <a:r>
              <a:rPr lang="pl-PL" dirty="0" err="1"/>
              <a:t>Lorem</a:t>
            </a:r>
            <a:r>
              <a:rPr lang="pl-PL" dirty="0"/>
              <a:t> </a:t>
            </a:r>
            <a:br>
              <a:rPr lang="pl-PL" dirty="0"/>
            </a:br>
            <a:r>
              <a:rPr lang="pl-PL" dirty="0" err="1"/>
              <a:t>Ipsum</a:t>
            </a:r>
            <a:r>
              <a:rPr lang="pl-PL" dirty="0"/>
              <a:t> </a:t>
            </a:r>
            <a:r>
              <a:rPr lang="pl-PL" dirty="0" err="1"/>
              <a:t>dolor</a:t>
            </a:r>
            <a:endParaRPr lang="en-US" dirty="0"/>
          </a:p>
        </p:txBody>
      </p:sp>
    </p:spTree>
    <p:extLst>
      <p:ext uri="{BB962C8B-B14F-4D97-AF65-F5344CB8AC3E}">
        <p14:creationId xmlns:p14="http://schemas.microsoft.com/office/powerpoint/2010/main" val="40024728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ytat - 2">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p:txBody>
          <a:bodyPr/>
          <a:lstStyle>
            <a:lvl1pPr>
              <a:defRPr baseline="0">
                <a:solidFill>
                  <a:schemeClr val="bg1"/>
                </a:solidFill>
              </a:defRPr>
            </a:lvl1pPr>
          </a:lstStyle>
          <a:p>
            <a:r>
              <a:rPr lang="pl-PL" dirty="0"/>
              <a:t>Temat Rozdziału</a:t>
            </a:r>
            <a:endParaRPr lang="en-US" dirty="0"/>
          </a:p>
        </p:txBody>
      </p:sp>
      <p:sp>
        <p:nvSpPr>
          <p:cNvPr id="3" name="Footer Placeholder 2"/>
          <p:cNvSpPr>
            <a:spLocks noGrp="1"/>
          </p:cNvSpPr>
          <p:nvPr>
            <p:ph type="ftr" sz="quarter" idx="10"/>
          </p:nvPr>
        </p:nvSpPr>
        <p:spPr/>
        <p:txBody>
          <a:bodyPr/>
          <a:lstStyle>
            <a:lvl1pPr>
              <a:defRPr>
                <a:solidFill>
                  <a:schemeClr val="bg1"/>
                </a:solidFill>
              </a:defRPr>
            </a:lvl1pPr>
          </a:lstStyle>
          <a:p>
            <a:r>
              <a:rPr lang="pl-PL" dirty="0"/>
              <a:t>Polsko-Japońska Akademia Technik Komputerowych</a:t>
            </a:r>
            <a:endParaRPr lang="en-US" dirty="0"/>
          </a:p>
        </p:txBody>
      </p:sp>
      <p:sp>
        <p:nvSpPr>
          <p:cNvPr id="4" name="Slide Number Placeholder 3"/>
          <p:cNvSpPr>
            <a:spLocks noGrp="1"/>
          </p:cNvSpPr>
          <p:nvPr>
            <p:ph type="sldNum" sz="quarter" idx="11"/>
          </p:nvPr>
        </p:nvSpPr>
        <p:spPr/>
        <p:txBody>
          <a:bodyPr/>
          <a:lstStyle>
            <a:lvl1pPr>
              <a:defRPr>
                <a:solidFill>
                  <a:schemeClr val="bg1"/>
                </a:solidFill>
              </a:defRPr>
            </a:lvl1pPr>
          </a:lstStyle>
          <a:p>
            <a:fld id="{439CBD9F-C91E-49DF-B625-7C7E2E3EE5C8}" type="slidenum">
              <a:rPr lang="en-US" smtClean="0"/>
              <a:pPr/>
              <a:t>‹#›</a:t>
            </a:fld>
            <a:endParaRPr lang="en-US" dirty="0"/>
          </a:p>
        </p:txBody>
      </p:sp>
      <p:sp>
        <p:nvSpPr>
          <p:cNvPr id="8" name="Text Placeholder 12"/>
          <p:cNvSpPr>
            <a:spLocks noGrp="1"/>
          </p:cNvSpPr>
          <p:nvPr>
            <p:ph type="body" sz="quarter" idx="13" hasCustomPrompt="1"/>
          </p:nvPr>
        </p:nvSpPr>
        <p:spPr>
          <a:xfrm>
            <a:off x="5423806" y="2363258"/>
            <a:ext cx="6243260" cy="2268009"/>
          </a:xfrm>
          <a:prstGeom prst="rect">
            <a:avLst/>
          </a:prstGeom>
        </p:spPr>
        <p:txBody>
          <a:bodyPr/>
          <a:lstStyle>
            <a:lvl1pPr marL="0" indent="0">
              <a:buNone/>
              <a:defRPr sz="4800" baseline="0">
                <a:solidFill>
                  <a:schemeClr val="bg1"/>
                </a:solidFill>
                <a:latin typeface="Mundial Black" pitchFamily="50" charset="-18"/>
              </a:defRPr>
            </a:lvl1pPr>
          </a:lstStyle>
          <a:p>
            <a:pPr lvl="0"/>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Lorem</a:t>
            </a:r>
            <a:r>
              <a:rPr lang="pl-PL" dirty="0"/>
              <a:t> </a:t>
            </a:r>
            <a:r>
              <a:rPr lang="pl-PL" dirty="0" err="1"/>
              <a:t>ipsum</a:t>
            </a:r>
            <a:r>
              <a:rPr lang="pl-PL" dirty="0"/>
              <a:t> </a:t>
            </a:r>
            <a:r>
              <a:rPr lang="pl-PL" dirty="0" err="1"/>
              <a:t>dolor</a:t>
            </a:r>
            <a:r>
              <a:rPr lang="pl-PL" dirty="0"/>
              <a:t> </a:t>
            </a:r>
            <a:r>
              <a:rPr lang="pl-PL" dirty="0" err="1"/>
              <a:t>Lorem</a:t>
            </a:r>
            <a:r>
              <a:rPr lang="pl-PL" dirty="0"/>
              <a:t> </a:t>
            </a:r>
            <a:endParaRPr lang="en-US" dirty="0"/>
          </a:p>
        </p:txBody>
      </p:sp>
    </p:spTree>
    <p:extLst>
      <p:ext uri="{BB962C8B-B14F-4D97-AF65-F5344CB8AC3E}">
        <p14:creationId xmlns:p14="http://schemas.microsoft.com/office/powerpoint/2010/main" val="37741803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sta ">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33CD86-C9DF-44B1-B83F-B3130CA155E9}"/>
              </a:ext>
            </a:extLst>
          </p:cNvPr>
          <p:cNvSpPr/>
          <p:nvPr userDrawn="1"/>
        </p:nvSpPr>
        <p:spPr>
          <a:xfrm>
            <a:off x="0" y="0"/>
            <a:ext cx="12192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pl-PL"/>
          </a:p>
        </p:txBody>
      </p:sp>
      <p:sp>
        <p:nvSpPr>
          <p:cNvPr id="2" name="Title 1"/>
          <p:cNvSpPr>
            <a:spLocks noGrp="1"/>
          </p:cNvSpPr>
          <p:nvPr>
            <p:ph type="title" hasCustomPrompt="1"/>
          </p:nvPr>
        </p:nvSpPr>
        <p:spPr/>
        <p:txBody>
          <a:bodyPr/>
          <a:lstStyle>
            <a:lvl1pPr>
              <a:defRPr baseline="0">
                <a:solidFill>
                  <a:schemeClr val="bg1"/>
                </a:solidFill>
              </a:defRPr>
            </a:lvl1pPr>
          </a:lstStyle>
          <a:p>
            <a:r>
              <a:rPr lang="pl-PL" dirty="0"/>
              <a:t>Temat </a:t>
            </a:r>
            <a:r>
              <a:rPr lang="pl-PL" dirty="0" err="1"/>
              <a:t>Rodziału</a:t>
            </a:r>
            <a:endParaRPr lang="en-US" dirty="0"/>
          </a:p>
        </p:txBody>
      </p:sp>
      <p:sp>
        <p:nvSpPr>
          <p:cNvPr id="3" name="Footer Placeholder 2"/>
          <p:cNvSpPr>
            <a:spLocks noGrp="1"/>
          </p:cNvSpPr>
          <p:nvPr>
            <p:ph type="ftr" sz="quarter" idx="10"/>
          </p:nvPr>
        </p:nvSpPr>
        <p:spPr/>
        <p:txBody>
          <a:bodyPr/>
          <a:lstStyle>
            <a:lvl1pPr>
              <a:defRPr>
                <a:solidFill>
                  <a:schemeClr val="bg1"/>
                </a:solidFill>
              </a:defRPr>
            </a:lvl1pPr>
          </a:lstStyle>
          <a:p>
            <a:r>
              <a:rPr lang="pl-PL" dirty="0"/>
              <a:t>Polsko-Japońska Akademia Technik Komputerowych</a:t>
            </a:r>
            <a:endParaRPr lang="en-US" dirty="0"/>
          </a:p>
        </p:txBody>
      </p:sp>
      <p:sp>
        <p:nvSpPr>
          <p:cNvPr id="4" name="Slide Number Placeholder 3"/>
          <p:cNvSpPr>
            <a:spLocks noGrp="1"/>
          </p:cNvSpPr>
          <p:nvPr>
            <p:ph type="sldNum" sz="quarter" idx="11"/>
          </p:nvPr>
        </p:nvSpPr>
        <p:spPr/>
        <p:txBody>
          <a:bodyPr/>
          <a:lstStyle>
            <a:lvl1pPr>
              <a:defRPr>
                <a:solidFill>
                  <a:schemeClr val="bg1"/>
                </a:solidFill>
              </a:defRPr>
            </a:lvl1pPr>
          </a:lstStyle>
          <a:p>
            <a:fld id="{439CBD9F-C91E-49DF-B625-7C7E2E3EE5C8}" type="slidenum">
              <a:rPr lang="en-US" smtClean="0"/>
              <a:pPr/>
              <a:t>‹#›</a:t>
            </a:fld>
            <a:endParaRPr lang="en-US" dirty="0"/>
          </a:p>
        </p:txBody>
      </p:sp>
      <p:sp>
        <p:nvSpPr>
          <p:cNvPr id="6" name="Content Placeholder 2"/>
          <p:cNvSpPr>
            <a:spLocks noGrp="1"/>
          </p:cNvSpPr>
          <p:nvPr>
            <p:ph idx="1" hasCustomPrompt="1"/>
          </p:nvPr>
        </p:nvSpPr>
        <p:spPr>
          <a:xfrm>
            <a:off x="3722915" y="2323270"/>
            <a:ext cx="7080552" cy="3561063"/>
          </a:xfrm>
          <a:prstGeom prst="rect">
            <a:avLst/>
          </a:prstGeom>
        </p:spPr>
        <p:txBody>
          <a:bodyPr/>
          <a:lstStyle>
            <a:lvl1pPr marL="322263" marR="0" indent="-228600" algn="l" defTabSz="914400" rtl="0" eaLnBrk="1" fontAlgn="auto" latinLnBrk="0" hangingPunct="1">
              <a:lnSpc>
                <a:spcPct val="130000"/>
              </a:lnSpc>
              <a:spcBef>
                <a:spcPts val="1000"/>
              </a:spcBef>
              <a:spcAft>
                <a:spcPts val="0"/>
              </a:spcAft>
              <a:buClrTx/>
              <a:buSzTx/>
              <a:buFont typeface="+mj-lt"/>
              <a:buAutoNum type="arabicPeriod"/>
              <a:tabLst/>
              <a:defRPr sz="1800" kern="1400" baseline="0">
                <a:solidFill>
                  <a:schemeClr val="bg1"/>
                </a:solidFill>
                <a:latin typeface="Mundial Light" pitchFamily="50" charset="-18"/>
              </a:defRPr>
            </a:lvl1pPr>
          </a:lstStyle>
          <a:p>
            <a:pPr lvl="0"/>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a:t>
            </a:r>
            <a:r>
              <a:rPr lang="pl-PL" dirty="0" err="1"/>
              <a:t>demir</a:t>
            </a:r>
            <a:r>
              <a:rPr lang="pl-PL" dirty="0"/>
              <a:t> to</a:t>
            </a:r>
          </a:p>
          <a:p>
            <a:pPr marL="322263" marR="0" lvl="0" indent="-228600" algn="l" defTabSz="914400" rtl="0" eaLnBrk="1" fontAlgn="auto" latinLnBrk="0" hangingPunct="1">
              <a:lnSpc>
                <a:spcPct val="130000"/>
              </a:lnSpc>
              <a:spcBef>
                <a:spcPts val="1000"/>
              </a:spcBef>
              <a:spcAft>
                <a:spcPts val="0"/>
              </a:spcAft>
              <a:buClrTx/>
              <a:buSzTx/>
              <a:buFont typeface="+mj-lt"/>
              <a:buAutoNum type="arabicPeriod"/>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a:t>
            </a:r>
            <a:r>
              <a:rPr lang="pl-PL" dirty="0" err="1"/>
              <a:t>demir</a:t>
            </a:r>
            <a:r>
              <a:rPr lang="pl-PL" dirty="0"/>
              <a:t> to</a:t>
            </a:r>
          </a:p>
          <a:p>
            <a:pPr marL="322263" marR="0" lvl="0" indent="-228600" algn="l" defTabSz="914400" rtl="0" eaLnBrk="1" fontAlgn="auto" latinLnBrk="0" hangingPunct="1">
              <a:lnSpc>
                <a:spcPct val="130000"/>
              </a:lnSpc>
              <a:spcBef>
                <a:spcPts val="1000"/>
              </a:spcBef>
              <a:spcAft>
                <a:spcPts val="0"/>
              </a:spcAft>
              <a:buClrTx/>
              <a:buSzTx/>
              <a:buFont typeface="+mj-lt"/>
              <a:buAutoNum type="arabicPeriod"/>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a:t>
            </a:r>
            <a:r>
              <a:rPr lang="pl-PL" dirty="0" err="1"/>
              <a:t>demir</a:t>
            </a:r>
            <a:r>
              <a:rPr lang="pl-PL" dirty="0"/>
              <a:t> to</a:t>
            </a:r>
          </a:p>
          <a:p>
            <a:pPr marL="322263" marR="0" lvl="0" indent="-228600" algn="l" defTabSz="914400" rtl="0" eaLnBrk="1" fontAlgn="auto" latinLnBrk="0" hangingPunct="1">
              <a:lnSpc>
                <a:spcPct val="130000"/>
              </a:lnSpc>
              <a:spcBef>
                <a:spcPts val="1000"/>
              </a:spcBef>
              <a:spcAft>
                <a:spcPts val="0"/>
              </a:spcAft>
              <a:buClrTx/>
              <a:buSzTx/>
              <a:buFont typeface="+mj-lt"/>
              <a:buAutoNum type="arabicPeriod"/>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a:t>
            </a:r>
            <a:r>
              <a:rPr lang="pl-PL" dirty="0" err="1"/>
              <a:t>demir</a:t>
            </a:r>
            <a:r>
              <a:rPr lang="pl-PL" dirty="0"/>
              <a:t> to</a:t>
            </a:r>
          </a:p>
          <a:p>
            <a:pPr marL="322263" marR="0" lvl="0" indent="-228600" algn="l" defTabSz="914400" rtl="0" eaLnBrk="1" fontAlgn="auto" latinLnBrk="0" hangingPunct="1">
              <a:lnSpc>
                <a:spcPct val="130000"/>
              </a:lnSpc>
              <a:spcBef>
                <a:spcPts val="1000"/>
              </a:spcBef>
              <a:spcAft>
                <a:spcPts val="0"/>
              </a:spcAft>
              <a:buClrTx/>
              <a:buSzTx/>
              <a:buFont typeface="+mj-lt"/>
              <a:buAutoNum type="arabicPeriod"/>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a:t>
            </a:r>
            <a:r>
              <a:rPr lang="pl-PL" dirty="0" err="1"/>
              <a:t>demir</a:t>
            </a:r>
            <a:r>
              <a:rPr lang="pl-PL" dirty="0"/>
              <a:t> to</a:t>
            </a:r>
          </a:p>
          <a:p>
            <a:pPr marL="322263" marR="0" lvl="0" indent="-228600" algn="l" defTabSz="914400" rtl="0" eaLnBrk="1" fontAlgn="auto" latinLnBrk="0" hangingPunct="1">
              <a:lnSpc>
                <a:spcPct val="130000"/>
              </a:lnSpc>
              <a:spcBef>
                <a:spcPts val="1000"/>
              </a:spcBef>
              <a:spcAft>
                <a:spcPts val="0"/>
              </a:spcAft>
              <a:buClrTx/>
              <a:buSzTx/>
              <a:buFont typeface="+mj-lt"/>
              <a:buAutoNum type="arabicPeriod"/>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a:t>
            </a:r>
            <a:r>
              <a:rPr lang="pl-PL" dirty="0" err="1"/>
              <a:t>demir</a:t>
            </a:r>
            <a:r>
              <a:rPr lang="pl-PL" dirty="0"/>
              <a:t> to</a:t>
            </a:r>
          </a:p>
          <a:p>
            <a:pPr marL="322263" marR="0" lvl="0" indent="-228600" algn="l" defTabSz="914400" rtl="0" eaLnBrk="1" fontAlgn="auto" latinLnBrk="0" hangingPunct="1">
              <a:lnSpc>
                <a:spcPct val="130000"/>
              </a:lnSpc>
              <a:spcBef>
                <a:spcPts val="1000"/>
              </a:spcBef>
              <a:spcAft>
                <a:spcPts val="0"/>
              </a:spcAft>
              <a:buClrTx/>
              <a:buSzTx/>
              <a:buFont typeface="+mj-lt"/>
              <a:buAutoNum type="arabicPeriod"/>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a:t>
            </a:r>
            <a:r>
              <a:rPr lang="pl-PL" dirty="0" err="1"/>
              <a:t>demir</a:t>
            </a:r>
            <a:r>
              <a:rPr lang="pl-PL" dirty="0"/>
              <a:t> to</a:t>
            </a:r>
          </a:p>
          <a:p>
            <a:pPr lvl="0"/>
            <a:endParaRPr lang="pl-PL" dirty="0"/>
          </a:p>
          <a:p>
            <a:pPr lvl="0"/>
            <a:endParaRPr lang="en-US" dirty="0"/>
          </a:p>
        </p:txBody>
      </p:sp>
    </p:spTree>
    <p:extLst>
      <p:ext uri="{BB962C8B-B14F-4D97-AF65-F5344CB8AC3E}">
        <p14:creationId xmlns:p14="http://schemas.microsoft.com/office/powerpoint/2010/main" val="5965522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sta -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pl-PL" dirty="0"/>
              <a:t>Temat Rozdziału</a:t>
            </a:r>
            <a:endParaRPr lang="en-US" dirty="0"/>
          </a:p>
        </p:txBody>
      </p:sp>
      <p:sp>
        <p:nvSpPr>
          <p:cNvPr id="3" name="Footer Placeholder 2"/>
          <p:cNvSpPr>
            <a:spLocks noGrp="1"/>
          </p:cNvSpPr>
          <p:nvPr>
            <p:ph type="ftr" sz="quarter" idx="10"/>
          </p:nvPr>
        </p:nvSpPr>
        <p:spPr/>
        <p:txBody>
          <a:bodyPr/>
          <a:lstStyle/>
          <a:p>
            <a:r>
              <a:rPr lang="pl-PL"/>
              <a:t>Polsko-Japońska Akademia Technik Komputerowych</a:t>
            </a:r>
            <a:endParaRPr lang="en-US" dirty="0"/>
          </a:p>
        </p:txBody>
      </p:sp>
      <p:sp>
        <p:nvSpPr>
          <p:cNvPr id="4" name="Slide Number Placeholder 3"/>
          <p:cNvSpPr>
            <a:spLocks noGrp="1"/>
          </p:cNvSpPr>
          <p:nvPr>
            <p:ph type="sldNum" sz="quarter" idx="11"/>
          </p:nvPr>
        </p:nvSpPr>
        <p:spPr/>
        <p:txBody>
          <a:bodyPr/>
          <a:lstStyle/>
          <a:p>
            <a:fld id="{439CBD9F-C91E-49DF-B625-7C7E2E3EE5C8}" type="slidenum">
              <a:rPr lang="en-US" smtClean="0"/>
              <a:pPr/>
              <a:t>‹#›</a:t>
            </a:fld>
            <a:endParaRPr lang="en-US" dirty="0"/>
          </a:p>
        </p:txBody>
      </p:sp>
      <p:sp>
        <p:nvSpPr>
          <p:cNvPr id="6" name="Text Placeholder 5"/>
          <p:cNvSpPr>
            <a:spLocks noGrp="1"/>
          </p:cNvSpPr>
          <p:nvPr>
            <p:ph type="body" sz="quarter" idx="14" hasCustomPrompt="1"/>
          </p:nvPr>
        </p:nvSpPr>
        <p:spPr>
          <a:xfrm>
            <a:off x="1233716" y="2777286"/>
            <a:ext cx="1060751" cy="753840"/>
          </a:xfrm>
          <a:prstGeom prst="rect">
            <a:avLst/>
          </a:prstGeom>
        </p:spPr>
        <p:txBody>
          <a:bodyPr/>
          <a:lstStyle>
            <a:lvl1pPr marL="0" indent="0">
              <a:buNone/>
              <a:defRPr sz="6000">
                <a:latin typeface="Mundial" pitchFamily="50" charset="-18"/>
              </a:defRPr>
            </a:lvl1pPr>
          </a:lstStyle>
          <a:p>
            <a:pPr lvl="0"/>
            <a:r>
              <a:rPr lang="pl-PL" dirty="0"/>
              <a:t>1</a:t>
            </a:r>
            <a:endParaRPr lang="en-US" dirty="0"/>
          </a:p>
        </p:txBody>
      </p:sp>
      <p:sp>
        <p:nvSpPr>
          <p:cNvPr id="14" name="Text Placeholder 5"/>
          <p:cNvSpPr>
            <a:spLocks noGrp="1"/>
          </p:cNvSpPr>
          <p:nvPr>
            <p:ph type="body" sz="quarter" idx="15" hasCustomPrompt="1"/>
          </p:nvPr>
        </p:nvSpPr>
        <p:spPr>
          <a:xfrm>
            <a:off x="4832050" y="2777286"/>
            <a:ext cx="1060751" cy="753840"/>
          </a:xfrm>
          <a:prstGeom prst="rect">
            <a:avLst/>
          </a:prstGeom>
        </p:spPr>
        <p:txBody>
          <a:bodyPr/>
          <a:lstStyle>
            <a:lvl1pPr marL="0" indent="0">
              <a:buNone/>
              <a:defRPr sz="6000">
                <a:latin typeface="Mundial" pitchFamily="50" charset="-18"/>
              </a:defRPr>
            </a:lvl1pPr>
          </a:lstStyle>
          <a:p>
            <a:pPr lvl="0"/>
            <a:r>
              <a:rPr lang="pl-PL" dirty="0"/>
              <a:t>2</a:t>
            </a:r>
            <a:endParaRPr lang="en-US" dirty="0"/>
          </a:p>
        </p:txBody>
      </p:sp>
      <p:sp>
        <p:nvSpPr>
          <p:cNvPr id="15" name="Text Placeholder 5"/>
          <p:cNvSpPr>
            <a:spLocks noGrp="1"/>
          </p:cNvSpPr>
          <p:nvPr>
            <p:ph type="body" sz="quarter" idx="16" hasCustomPrompt="1"/>
          </p:nvPr>
        </p:nvSpPr>
        <p:spPr>
          <a:xfrm>
            <a:off x="8362649" y="2777286"/>
            <a:ext cx="1060751" cy="753840"/>
          </a:xfrm>
          <a:prstGeom prst="rect">
            <a:avLst/>
          </a:prstGeom>
        </p:spPr>
        <p:txBody>
          <a:bodyPr/>
          <a:lstStyle>
            <a:lvl1pPr marL="0" indent="0">
              <a:buNone/>
              <a:defRPr sz="6000">
                <a:latin typeface="Mundial" pitchFamily="50" charset="-18"/>
              </a:defRPr>
            </a:lvl1pPr>
          </a:lstStyle>
          <a:p>
            <a:pPr lvl="0"/>
            <a:r>
              <a:rPr lang="pl-PL" dirty="0"/>
              <a:t>3</a:t>
            </a:r>
            <a:endParaRPr lang="en-US" dirty="0"/>
          </a:p>
        </p:txBody>
      </p:sp>
      <p:sp>
        <p:nvSpPr>
          <p:cNvPr id="18" name="Text Placeholder 10"/>
          <p:cNvSpPr>
            <a:spLocks noGrp="1"/>
          </p:cNvSpPr>
          <p:nvPr>
            <p:ph type="body" sz="quarter" idx="17" hasCustomPrompt="1"/>
          </p:nvPr>
        </p:nvSpPr>
        <p:spPr>
          <a:xfrm>
            <a:off x="1239766" y="3709232"/>
            <a:ext cx="2881084" cy="1573968"/>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a:t>
            </a:r>
            <a:r>
              <a:rPr lang="pl-PL" dirty="0"/>
              <a:t> </a:t>
            </a:r>
            <a:r>
              <a:rPr lang="pl-PL" dirty="0" err="1"/>
              <a:t>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consect</a:t>
            </a:r>
            <a:r>
              <a:rPr lang="pl-PL" dirty="0"/>
              <a:t> </a:t>
            </a:r>
            <a:r>
              <a:rPr lang="pl-PL" dirty="0" err="1"/>
              <a:t>etuer</a:t>
            </a:r>
            <a:r>
              <a:rPr lang="pl-PL" dirty="0"/>
              <a:t> </a:t>
            </a:r>
            <a:r>
              <a:rPr lang="pl-PL" dirty="0" err="1"/>
              <a:t>adipiscing</a:t>
            </a:r>
            <a:r>
              <a:rPr lang="pl-PL" dirty="0"/>
              <a:t> </a:t>
            </a:r>
            <a:br>
              <a:rPr lang="pl-PL" dirty="0"/>
            </a:br>
            <a:endParaRPr lang="pl-PL" dirty="0"/>
          </a:p>
        </p:txBody>
      </p:sp>
      <p:sp>
        <p:nvSpPr>
          <p:cNvPr id="19" name="Text Placeholder 10"/>
          <p:cNvSpPr>
            <a:spLocks noGrp="1"/>
          </p:cNvSpPr>
          <p:nvPr>
            <p:ph type="body" sz="quarter" idx="18" hasCustomPrompt="1"/>
          </p:nvPr>
        </p:nvSpPr>
        <p:spPr>
          <a:xfrm>
            <a:off x="4832050" y="3709232"/>
            <a:ext cx="2881084" cy="1573968"/>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a:t>
            </a:r>
            <a:r>
              <a:rPr lang="pl-PL" dirty="0"/>
              <a:t> </a:t>
            </a:r>
            <a:r>
              <a:rPr lang="pl-PL" dirty="0" err="1"/>
              <a:t>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consect</a:t>
            </a:r>
            <a:r>
              <a:rPr lang="pl-PL" dirty="0"/>
              <a:t> </a:t>
            </a:r>
            <a:r>
              <a:rPr lang="pl-PL" dirty="0" err="1"/>
              <a:t>etuer</a:t>
            </a:r>
            <a:r>
              <a:rPr lang="pl-PL" dirty="0"/>
              <a:t> </a:t>
            </a:r>
            <a:r>
              <a:rPr lang="pl-PL" dirty="0" err="1"/>
              <a:t>adipiscing</a:t>
            </a:r>
            <a:r>
              <a:rPr lang="pl-PL" dirty="0"/>
              <a:t> </a:t>
            </a:r>
            <a:br>
              <a:rPr lang="pl-PL" dirty="0"/>
            </a:br>
            <a:endParaRPr lang="pl-PL" dirty="0"/>
          </a:p>
        </p:txBody>
      </p:sp>
      <p:sp>
        <p:nvSpPr>
          <p:cNvPr id="20" name="Text Placeholder 10"/>
          <p:cNvSpPr>
            <a:spLocks noGrp="1"/>
          </p:cNvSpPr>
          <p:nvPr>
            <p:ph type="body" sz="quarter" idx="19" hasCustomPrompt="1"/>
          </p:nvPr>
        </p:nvSpPr>
        <p:spPr>
          <a:xfrm>
            <a:off x="8362649" y="3709232"/>
            <a:ext cx="2881084" cy="1573968"/>
          </a:xfrm>
          <a:prstGeom prst="rect">
            <a:avLst/>
          </a:prstGeom>
        </p:spPr>
        <p:txBody>
          <a:bodyPr/>
          <a:lstStyle>
            <a:lvl1pPr marL="93663"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200" baseline="0">
                <a:solidFill>
                  <a:schemeClr val="tx1"/>
                </a:solidFill>
                <a:latin typeface="Mundial Light" pitchFamily="50" charset="-18"/>
              </a:defRPr>
            </a:lvl1pPr>
          </a:lstStyle>
          <a:p>
            <a:pPr marL="93663"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a:t>
            </a:r>
            <a:r>
              <a:rPr lang="pl-PL" dirty="0"/>
              <a:t> </a:t>
            </a:r>
            <a:r>
              <a:rPr lang="pl-PL" dirty="0" err="1"/>
              <a:t>ctetuer</a:t>
            </a:r>
            <a:r>
              <a:rPr lang="pl-PL" dirty="0"/>
              <a:t> </a:t>
            </a:r>
            <a:r>
              <a:rPr lang="pl-PL" dirty="0" err="1"/>
              <a:t>adipiscing</a:t>
            </a:r>
            <a:r>
              <a:rPr lang="pl-PL" dirty="0"/>
              <a:t> elit, </a:t>
            </a:r>
            <a:r>
              <a:rPr lang="pl-PL" dirty="0" err="1"/>
              <a:t>sed</a:t>
            </a:r>
            <a:r>
              <a:rPr lang="pl-PL" dirty="0"/>
              <a:t> </a:t>
            </a:r>
            <a:r>
              <a:rPr lang="pl-PL" dirty="0" err="1"/>
              <a:t>Lorem</a:t>
            </a:r>
            <a:r>
              <a:rPr lang="pl-PL" dirty="0"/>
              <a:t> </a:t>
            </a:r>
            <a:r>
              <a:rPr lang="pl-PL" dirty="0" err="1"/>
              <a:t>ipsum</a:t>
            </a:r>
            <a:r>
              <a:rPr lang="pl-PL" dirty="0"/>
              <a:t> </a:t>
            </a:r>
            <a:r>
              <a:rPr lang="pl-PL" dirty="0" err="1"/>
              <a:t>dolor</a:t>
            </a:r>
            <a:r>
              <a:rPr lang="pl-PL" dirty="0"/>
              <a:t> sit </a:t>
            </a:r>
            <a:r>
              <a:rPr lang="pl-PL" dirty="0" err="1"/>
              <a:t>amet</a:t>
            </a:r>
            <a:r>
              <a:rPr lang="pl-PL" dirty="0"/>
              <a:t>, </a:t>
            </a:r>
            <a:r>
              <a:rPr lang="pl-PL" dirty="0" err="1"/>
              <a:t>consectetuer</a:t>
            </a:r>
            <a:r>
              <a:rPr lang="pl-PL" dirty="0"/>
              <a:t> </a:t>
            </a:r>
            <a:r>
              <a:rPr lang="pl-PL" dirty="0" err="1"/>
              <a:t>adipiscing</a:t>
            </a:r>
            <a:r>
              <a:rPr lang="pl-PL" dirty="0"/>
              <a:t> elit, </a:t>
            </a:r>
            <a:r>
              <a:rPr lang="pl-PL" dirty="0" err="1"/>
              <a:t>sed</a:t>
            </a:r>
            <a:r>
              <a:rPr lang="pl-PL" dirty="0"/>
              <a:t> </a:t>
            </a:r>
            <a:r>
              <a:rPr lang="pl-PL" dirty="0" err="1"/>
              <a:t>diam</a:t>
            </a:r>
            <a:r>
              <a:rPr lang="pl-PL" dirty="0"/>
              <a:t> </a:t>
            </a:r>
            <a:r>
              <a:rPr lang="pl-PL" dirty="0" err="1"/>
              <a:t>nonummy</a:t>
            </a:r>
            <a:r>
              <a:rPr lang="pl-PL" dirty="0"/>
              <a:t> </a:t>
            </a:r>
            <a:r>
              <a:rPr lang="pl-PL" dirty="0" err="1"/>
              <a:t>nibh</a:t>
            </a:r>
            <a:r>
              <a:rPr lang="pl-PL" dirty="0"/>
              <a:t> </a:t>
            </a:r>
            <a:r>
              <a:rPr lang="pl-PL" dirty="0" err="1"/>
              <a:t>euismod</a:t>
            </a:r>
            <a:r>
              <a:rPr lang="pl-PL" dirty="0"/>
              <a:t> </a:t>
            </a:r>
            <a:r>
              <a:rPr lang="pl-PL" dirty="0" err="1"/>
              <a:t>tincidunt</a:t>
            </a:r>
            <a:r>
              <a:rPr lang="pl-PL" dirty="0"/>
              <a:t> </a:t>
            </a:r>
            <a:r>
              <a:rPr lang="pl-PL" dirty="0" err="1"/>
              <a:t>ut</a:t>
            </a:r>
            <a:r>
              <a:rPr lang="pl-PL" dirty="0"/>
              <a:t> </a:t>
            </a:r>
            <a:r>
              <a:rPr lang="pl-PL" dirty="0" err="1"/>
              <a:t>consect</a:t>
            </a:r>
            <a:r>
              <a:rPr lang="pl-PL" dirty="0"/>
              <a:t> </a:t>
            </a:r>
            <a:r>
              <a:rPr lang="pl-PL" dirty="0" err="1"/>
              <a:t>etuer</a:t>
            </a:r>
            <a:r>
              <a:rPr lang="pl-PL" dirty="0"/>
              <a:t> </a:t>
            </a:r>
            <a:r>
              <a:rPr lang="pl-PL" dirty="0" err="1"/>
              <a:t>adipiscing</a:t>
            </a:r>
            <a:r>
              <a:rPr lang="pl-PL" dirty="0"/>
              <a:t> </a:t>
            </a:r>
            <a:br>
              <a:rPr lang="pl-PL" dirty="0"/>
            </a:br>
            <a:endParaRPr lang="pl-PL" dirty="0"/>
          </a:p>
        </p:txBody>
      </p:sp>
    </p:spTree>
    <p:extLst>
      <p:ext uri="{BB962C8B-B14F-4D97-AF65-F5344CB8AC3E}">
        <p14:creationId xmlns:p14="http://schemas.microsoft.com/office/powerpoint/2010/main" val="573945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afik - 1">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pl-PL" dirty="0"/>
              <a:t>Temat </a:t>
            </a:r>
            <a:r>
              <a:rPr lang="pl-PL" dirty="0" err="1"/>
              <a:t>Rodziału</a:t>
            </a:r>
            <a:endParaRPr lang="en-US" dirty="0"/>
          </a:p>
        </p:txBody>
      </p:sp>
      <p:sp>
        <p:nvSpPr>
          <p:cNvPr id="3" name="Footer Placeholder 2"/>
          <p:cNvSpPr>
            <a:spLocks noGrp="1"/>
          </p:cNvSpPr>
          <p:nvPr>
            <p:ph type="ftr" sz="quarter" idx="10"/>
          </p:nvPr>
        </p:nvSpPr>
        <p:spPr/>
        <p:txBody>
          <a:bodyPr/>
          <a:lstStyle/>
          <a:p>
            <a:r>
              <a:rPr lang="pl-PL"/>
              <a:t>Polsko-Japońska Akademia Technik Komputerowych</a:t>
            </a:r>
            <a:endParaRPr lang="en-US" dirty="0"/>
          </a:p>
        </p:txBody>
      </p:sp>
      <p:sp>
        <p:nvSpPr>
          <p:cNvPr id="4" name="Slide Number Placeholder 3"/>
          <p:cNvSpPr>
            <a:spLocks noGrp="1"/>
          </p:cNvSpPr>
          <p:nvPr>
            <p:ph type="sldNum" sz="quarter" idx="11"/>
          </p:nvPr>
        </p:nvSpPr>
        <p:spPr/>
        <p:txBody>
          <a:bodyPr/>
          <a:lstStyle/>
          <a:p>
            <a:fld id="{439CBD9F-C91E-49DF-B625-7C7E2E3EE5C8}" type="slidenum">
              <a:rPr lang="en-US" smtClean="0"/>
              <a:pPr/>
              <a:t>‹#›</a:t>
            </a:fld>
            <a:endParaRPr lang="en-US" dirty="0"/>
          </a:p>
        </p:txBody>
      </p:sp>
      <p:sp>
        <p:nvSpPr>
          <p:cNvPr id="72" name="Chart Placeholder 71"/>
          <p:cNvSpPr>
            <a:spLocks noGrp="1"/>
          </p:cNvSpPr>
          <p:nvPr>
            <p:ph type="chart" sz="quarter" idx="12" hasCustomPrompt="1"/>
          </p:nvPr>
        </p:nvSpPr>
        <p:spPr>
          <a:xfrm>
            <a:off x="3722688" y="2151063"/>
            <a:ext cx="7334250" cy="4003675"/>
          </a:xfrm>
          <a:prstGeom prst="rect">
            <a:avLst/>
          </a:prstGeom>
        </p:spPr>
        <p:txBody>
          <a:bodyPr/>
          <a:lstStyle>
            <a:lvl1pPr marL="0" indent="0" algn="ctr">
              <a:buNone/>
              <a:defRPr baseline="0">
                <a:latin typeface="Mundial Light" pitchFamily="50" charset="-18"/>
              </a:defRPr>
            </a:lvl1pPr>
          </a:lstStyle>
          <a:p>
            <a:br>
              <a:rPr lang="pl-PL" dirty="0"/>
            </a:br>
            <a:r>
              <a:rPr lang="pl-PL" dirty="0"/>
              <a:t>Kliknij na grafikę w centrum ramki aby  dodać diagram</a:t>
            </a:r>
            <a:endParaRPr lang="en-US" dirty="0"/>
          </a:p>
        </p:txBody>
      </p:sp>
    </p:spTree>
    <p:extLst>
      <p:ext uri="{BB962C8B-B14F-4D97-AF65-F5344CB8AC3E}">
        <p14:creationId xmlns:p14="http://schemas.microsoft.com/office/powerpoint/2010/main" val="3681766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oln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pl-PL" dirty="0"/>
              <a:t>Temat </a:t>
            </a:r>
            <a:r>
              <a:rPr lang="pl-PL" dirty="0" err="1"/>
              <a:t>Rodziału</a:t>
            </a:r>
            <a:endParaRPr lang="en-US" dirty="0"/>
          </a:p>
        </p:txBody>
      </p:sp>
      <p:sp>
        <p:nvSpPr>
          <p:cNvPr id="3" name="Footer Placeholder 2"/>
          <p:cNvSpPr>
            <a:spLocks noGrp="1"/>
          </p:cNvSpPr>
          <p:nvPr>
            <p:ph type="ftr" sz="quarter" idx="10"/>
          </p:nvPr>
        </p:nvSpPr>
        <p:spPr/>
        <p:txBody>
          <a:bodyPr/>
          <a:lstStyle/>
          <a:p>
            <a:r>
              <a:rPr lang="pl-PL"/>
              <a:t>Polsko-Japońska Akademia Technik Komputerowych</a:t>
            </a:r>
            <a:endParaRPr lang="en-US" dirty="0"/>
          </a:p>
        </p:txBody>
      </p:sp>
      <p:sp>
        <p:nvSpPr>
          <p:cNvPr id="4" name="Slide Number Placeholder 3"/>
          <p:cNvSpPr>
            <a:spLocks noGrp="1"/>
          </p:cNvSpPr>
          <p:nvPr>
            <p:ph type="sldNum" sz="quarter" idx="11"/>
          </p:nvPr>
        </p:nvSpPr>
        <p:spPr/>
        <p:txBody>
          <a:bodyPr/>
          <a:lstStyle/>
          <a:p>
            <a:fld id="{439CBD9F-C91E-49DF-B625-7C7E2E3EE5C8}" type="slidenum">
              <a:rPr lang="en-US" smtClean="0"/>
              <a:pPr/>
              <a:t>‹#›</a:t>
            </a:fld>
            <a:endParaRPr lang="en-US" dirty="0"/>
          </a:p>
        </p:txBody>
      </p:sp>
      <p:sp>
        <p:nvSpPr>
          <p:cNvPr id="6" name="Content Placeholder 5"/>
          <p:cNvSpPr>
            <a:spLocks noGrp="1"/>
          </p:cNvSpPr>
          <p:nvPr>
            <p:ph sz="quarter" idx="12" hasCustomPrompt="1"/>
          </p:nvPr>
        </p:nvSpPr>
        <p:spPr>
          <a:xfrm>
            <a:off x="3722688" y="2155423"/>
            <a:ext cx="7377112" cy="4003675"/>
          </a:xfrm>
          <a:prstGeom prst="rect">
            <a:avLst/>
          </a:prstGeom>
        </p:spPr>
        <p:txBody>
          <a:bodyPr/>
          <a:lstStyle>
            <a:lvl1pPr marL="0" indent="0" algn="ctr">
              <a:buNone/>
              <a:defRPr baseline="0">
                <a:latin typeface="Mundial Light" pitchFamily="50" charset="-18"/>
              </a:defRPr>
            </a:lvl1pPr>
          </a:lstStyle>
          <a:p>
            <a:pPr lvl="0"/>
            <a:br>
              <a:rPr lang="pl-PL" dirty="0"/>
            </a:br>
            <a:r>
              <a:rPr lang="pl-PL" dirty="0"/>
              <a:t>Kliknij na grafikę w centrum ramki aby  dodać dowolny kontent</a:t>
            </a:r>
            <a:endParaRPr lang="en-US" dirty="0"/>
          </a:p>
        </p:txBody>
      </p:sp>
    </p:spTree>
    <p:extLst>
      <p:ext uri="{BB962C8B-B14F-4D97-AF65-F5344CB8AC3E}">
        <p14:creationId xmlns:p14="http://schemas.microsoft.com/office/powerpoint/2010/main" val="3127792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alpha val="91000"/>
          </a:schemeClr>
        </a:solidFill>
        <a:effectLst/>
      </p:bgPr>
    </p:bg>
    <p:spTree>
      <p:nvGrpSpPr>
        <p:cNvPr id="1" name=""/>
        <p:cNvGrpSpPr/>
        <p:nvPr/>
      </p:nvGrpSpPr>
      <p:grpSpPr>
        <a:xfrm>
          <a:off x="0" y="0"/>
          <a:ext cx="0" cy="0"/>
          <a:chOff x="0" y="0"/>
          <a:chExt cx="0" cy="0"/>
        </a:xfrm>
      </p:grpSpPr>
      <p:sp>
        <p:nvSpPr>
          <p:cNvPr id="8" name="Rectangle 7"/>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99407" y="1421266"/>
            <a:ext cx="2221594" cy="629331"/>
          </a:xfrm>
          <a:prstGeom prst="rect">
            <a:avLst/>
          </a:prstGeom>
        </p:spPr>
        <p:txBody>
          <a:bodyPr vert="horz" lIns="91440" tIns="45720" rIns="91440" bIns="45720" rtlCol="0" anchor="ctr">
            <a:normAutofit/>
          </a:bodyPr>
          <a:lstStyle/>
          <a:p>
            <a:r>
              <a:rPr lang="pl-PL" dirty="0"/>
              <a:t>Temat Rozdziału</a:t>
            </a:r>
            <a:endParaRPr lang="en-US" dirty="0"/>
          </a:p>
        </p:txBody>
      </p:sp>
      <p:sp>
        <p:nvSpPr>
          <p:cNvPr id="5" name="Footer Placeholder 4"/>
          <p:cNvSpPr>
            <a:spLocks noGrp="1"/>
          </p:cNvSpPr>
          <p:nvPr>
            <p:ph type="ftr" sz="quarter" idx="3"/>
          </p:nvPr>
        </p:nvSpPr>
        <p:spPr>
          <a:xfrm>
            <a:off x="3722915" y="365125"/>
            <a:ext cx="4577443" cy="365125"/>
          </a:xfrm>
          <a:prstGeom prst="rect">
            <a:avLst/>
          </a:prstGeom>
        </p:spPr>
        <p:txBody>
          <a:bodyPr vert="horz" lIns="91440" tIns="45720" rIns="91440" bIns="45720" rtlCol="0" anchor="ctr"/>
          <a:lstStyle>
            <a:lvl1pPr algn="ctr">
              <a:defRPr sz="1200">
                <a:solidFill>
                  <a:schemeClr val="tx1">
                    <a:tint val="75000"/>
                  </a:schemeClr>
                </a:solidFill>
                <a:latin typeface="OCRpolski" panose="02010509020102010303" pitchFamily="50" charset="2"/>
              </a:defRPr>
            </a:lvl1pPr>
          </a:lstStyle>
          <a:p>
            <a:r>
              <a:rPr lang="pl-PL" dirty="0"/>
              <a:t>Polsko-Japońska Akademia Technik Komputerowych</a:t>
            </a:r>
            <a:endParaRPr lang="en-US" dirty="0"/>
          </a:p>
        </p:txBody>
      </p:sp>
      <p:sp>
        <p:nvSpPr>
          <p:cNvPr id="6" name="Slide Number Placeholder 5"/>
          <p:cNvSpPr>
            <a:spLocks noGrp="1"/>
          </p:cNvSpPr>
          <p:nvPr>
            <p:ph type="sldNum" sz="quarter" idx="4"/>
          </p:nvPr>
        </p:nvSpPr>
        <p:spPr>
          <a:xfrm>
            <a:off x="11472333" y="365125"/>
            <a:ext cx="554169" cy="365125"/>
          </a:xfrm>
          <a:prstGeom prst="rect">
            <a:avLst/>
          </a:prstGeom>
        </p:spPr>
        <p:txBody>
          <a:bodyPr vert="horz" lIns="91440" tIns="45720" rIns="91440" bIns="45720" rtlCol="0" anchor="ctr"/>
          <a:lstStyle>
            <a:lvl1pPr algn="r">
              <a:defRPr sz="1200">
                <a:solidFill>
                  <a:schemeClr val="tx1">
                    <a:tint val="75000"/>
                  </a:schemeClr>
                </a:solidFill>
                <a:latin typeface="OCRpolski" panose="02010509020102010303" pitchFamily="50" charset="2"/>
              </a:defRPr>
            </a:lvl1pPr>
          </a:lstStyle>
          <a:p>
            <a:fld id="{439CBD9F-C91E-49DF-B625-7C7E2E3EE5C8}" type="slidenum">
              <a:rPr lang="en-US" smtClean="0"/>
              <a:pPr/>
              <a:t>‹#›</a:t>
            </a:fld>
            <a:endParaRPr lang="en-US" dirty="0"/>
          </a:p>
        </p:txBody>
      </p:sp>
    </p:spTree>
    <p:extLst>
      <p:ext uri="{BB962C8B-B14F-4D97-AF65-F5344CB8AC3E}">
        <p14:creationId xmlns:p14="http://schemas.microsoft.com/office/powerpoint/2010/main" val="966053648"/>
      </p:ext>
    </p:extLst>
  </p:cSld>
  <p:clrMap bg1="lt1" tx1="dk1" bg2="lt2" tx2="dk2" accent1="accent1" accent2="accent2" accent3="accent3" accent4="accent4" accent5="accent5" accent6="accent6" hlink="hlink" folHlink="folHlink"/>
  <p:sldLayoutIdLst>
    <p:sldLayoutId id="2147483673" r:id="rId1"/>
    <p:sldLayoutId id="2147483650" r:id="rId2"/>
    <p:sldLayoutId id="2147483649" r:id="rId3"/>
    <p:sldLayoutId id="2147483654" r:id="rId4"/>
    <p:sldLayoutId id="2147483674" r:id="rId5"/>
    <p:sldLayoutId id="2147483661" r:id="rId6"/>
    <p:sldLayoutId id="2147483662" r:id="rId7"/>
    <p:sldLayoutId id="2147483660" r:id="rId8"/>
    <p:sldLayoutId id="2147483671" r:id="rId9"/>
    <p:sldLayoutId id="2147483667" r:id="rId10"/>
    <p:sldLayoutId id="2147483663" r:id="rId11"/>
    <p:sldLayoutId id="2147483664" r:id="rId12"/>
    <p:sldLayoutId id="2147483665" r:id="rId13"/>
    <p:sldLayoutId id="2147483666" r:id="rId14"/>
    <p:sldLayoutId id="2147483668" r:id="rId15"/>
    <p:sldLayoutId id="2147483670" r:id="rId16"/>
    <p:sldLayoutId id="2147483672" r:id="rId17"/>
  </p:sldLayoutIdLst>
  <p:hf hdr="0" dt="0"/>
  <p:txStyles>
    <p:titleStyle>
      <a:lvl1pPr algn="l" defTabSz="914400" rtl="0" eaLnBrk="1" latinLnBrk="0" hangingPunct="1">
        <a:lnSpc>
          <a:spcPct val="90000"/>
        </a:lnSpc>
        <a:spcBef>
          <a:spcPct val="0"/>
        </a:spcBef>
        <a:buNone/>
        <a:defRPr sz="2000" kern="1200" baseline="0">
          <a:solidFill>
            <a:schemeClr val="tx1"/>
          </a:solidFill>
          <a:latin typeface="Mundial" pitchFamily="50" charset="-18"/>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4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pjatk.mentor.pl/"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6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6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png"/></Relationships>
</file>

<file path=ppt/slides/_rels/slide6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27.png"/></Relationships>
</file>

<file path=ppt/slides/_rels/slide7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7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7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7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7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8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2.jpeg"/><Relationship Id="rId7" Type="http://schemas.openxmlformats.org/officeDocument/2006/relationships/image" Target="../media/image42.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 Id="rId9" Type="http://schemas.openxmlformats.org/officeDocument/2006/relationships/image" Target="../media/image44.jpeg"/></Relationships>
</file>

<file path=ppt/slides/_rels/slide8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8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8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8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9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0.jpeg"/><Relationship Id="rId4" Type="http://schemas.openxmlformats.org/officeDocument/2006/relationships/image" Target="../media/image49.jpeg"/></Relationships>
</file>

<file path=ppt/slides/_rels/slide9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0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1.jpeg"/></Relationships>
</file>

<file path=ppt/slides/_rels/slide1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pl.wikipedia.org/wiki/Po%C5%BCar" TargetMode="Externa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0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10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0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0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10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8.jpeg"/><Relationship Id="rId4" Type="http://schemas.openxmlformats.org/officeDocument/2006/relationships/image" Target="../media/image57.jpeg"/></Relationships>
</file>

<file path=ppt/slides/_rels/slide10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1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1.jpeg"/><Relationship Id="rId4" Type="http://schemas.openxmlformats.org/officeDocument/2006/relationships/image" Target="../media/image60.jpeg"/></Relationships>
</file>

<file path=ppt/slides/_rels/slide1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1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1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385740" y="4638657"/>
            <a:ext cx="9624767" cy="438754"/>
          </a:xfrm>
        </p:spPr>
        <p:txBody>
          <a:bodyPr/>
          <a:lstStyle/>
          <a:p>
            <a:r>
              <a:rPr lang="pl-PL" dirty="0"/>
              <a:t>Obowiązuje Studentów pierwszego roku wszystkich trybów, poziomów  i form kształcenia</a:t>
            </a:r>
            <a:endParaRPr lang="en-US" dirty="0"/>
          </a:p>
        </p:txBody>
      </p:sp>
      <p:sp>
        <p:nvSpPr>
          <p:cNvPr id="5" name="Title 4"/>
          <p:cNvSpPr>
            <a:spLocks noGrp="1"/>
          </p:cNvSpPr>
          <p:nvPr>
            <p:ph type="ctrTitle"/>
          </p:nvPr>
        </p:nvSpPr>
        <p:spPr>
          <a:xfrm>
            <a:off x="1385741" y="914400"/>
            <a:ext cx="9558779" cy="3369403"/>
          </a:xfrm>
        </p:spPr>
        <p:txBody>
          <a:bodyPr>
            <a:normAutofit fontScale="90000"/>
          </a:bodyPr>
          <a:lstStyle/>
          <a:p>
            <a:r>
              <a:rPr lang="pl-PL" b="1" dirty="0">
                <a:solidFill>
                  <a:schemeClr val="tx1"/>
                </a:solidFill>
              </a:rPr>
              <a:t>Szkolenie wstępne z zakresu </a:t>
            </a:r>
            <a:r>
              <a:rPr lang="pl-PL" b="1" dirty="0"/>
              <a:t>bezpieczeństwa i higieny pracy</a:t>
            </a:r>
            <a:br>
              <a:rPr lang="pl-PL" b="1" dirty="0">
                <a:solidFill>
                  <a:schemeClr val="tx1"/>
                </a:solidFill>
              </a:rPr>
            </a:br>
            <a:r>
              <a:rPr lang="pl-PL" b="1" dirty="0">
                <a:solidFill>
                  <a:schemeClr val="tx1"/>
                </a:solidFill>
              </a:rPr>
              <a:t>dla Studentów rozpoczynających naukę w PJATK </a:t>
            </a:r>
            <a:endParaRPr lang="en-US" dirty="0">
              <a:solidFill>
                <a:schemeClr val="tx1"/>
              </a:solidFill>
            </a:endParaRPr>
          </a:p>
        </p:txBody>
      </p:sp>
    </p:spTree>
    <p:extLst>
      <p:ext uri="{BB962C8B-B14F-4D97-AF65-F5344CB8AC3E}">
        <p14:creationId xmlns:p14="http://schemas.microsoft.com/office/powerpoint/2010/main" val="3407403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2</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algn="ctr"/>
            <a:endParaRPr lang="pl-PL" sz="4000" b="1" i="0" u="none" strike="noStrike" baseline="0" dirty="0">
              <a:latin typeface="Mundial"/>
            </a:endParaRPr>
          </a:p>
          <a:p>
            <a:pPr algn="ctr"/>
            <a:r>
              <a:rPr lang="pl-PL" sz="4000" b="1" dirty="0"/>
              <a:t>Zagadnienia poruszane na szkoleniu wstępnym z zakresu BHP</a:t>
            </a:r>
            <a:endParaRPr lang="pl-PL" sz="2400" b="1" i="0" u="none" strike="noStrike" baseline="0" dirty="0">
              <a:solidFill>
                <a:schemeClr val="accent1">
                  <a:lumMod val="75000"/>
                </a:schemeClr>
              </a:solidFill>
              <a:latin typeface="Mundial"/>
            </a:endParaRP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510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7" y="1315758"/>
            <a:ext cx="1971440" cy="1663111"/>
          </a:xfrm>
        </p:spPr>
        <p:txBody>
          <a:bodyPr>
            <a:normAutofit/>
          </a:bodyPr>
          <a:lstStyle/>
          <a:p>
            <a:r>
              <a:rPr lang="pl-PL" b="1" dirty="0"/>
              <a:t>Zagadnienia poruszane na szkoleniu wstępnym z zakresu BHP</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3</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marL="550863" indent="-457200" algn="l">
              <a:buFont typeface="+mj-lt"/>
              <a:buAutoNum type="arabicPeriod"/>
            </a:pPr>
            <a:r>
              <a:rPr lang="pl-PL" sz="2400" b="1" i="0" u="none" strike="noStrike" baseline="0" dirty="0">
                <a:solidFill>
                  <a:schemeClr val="accent1">
                    <a:lumMod val="75000"/>
                  </a:schemeClr>
                </a:solidFill>
                <a:latin typeface="Mundial"/>
              </a:rPr>
              <a:t>Zasady zaliczenia obowiązkowego szkolenia wstępnego z zakresu BHP</a:t>
            </a:r>
          </a:p>
          <a:p>
            <a:pPr marL="550863" indent="-457200" algn="l">
              <a:buFont typeface="+mj-lt"/>
              <a:buAutoNum type="arabicPeriod"/>
            </a:pPr>
            <a:r>
              <a:rPr lang="pl-PL" sz="2400" b="1" i="0" u="none" strike="noStrike" baseline="0" dirty="0">
                <a:latin typeface="Mundial"/>
              </a:rPr>
              <a:t>Istota bezpieczeństwa i higieny </a:t>
            </a:r>
            <a:r>
              <a:rPr lang="pl-PL" sz="2400" b="1" dirty="0">
                <a:latin typeface="Mundial"/>
              </a:rPr>
              <a:t>w odniesieniu do procesu kształcenia na Uczelni</a:t>
            </a:r>
            <a:endParaRPr lang="pl-PL" sz="2400" b="1" i="0" u="none" strike="noStrike" baseline="0" dirty="0">
              <a:latin typeface="Mundial"/>
            </a:endParaRPr>
          </a:p>
          <a:p>
            <a:pPr marL="550863" indent="-457200" algn="l">
              <a:buFont typeface="+mj-lt"/>
              <a:buAutoNum type="arabicPeriod"/>
            </a:pPr>
            <a:r>
              <a:rPr lang="pl-PL" sz="2400" b="1" i="0" u="none" strike="noStrike" baseline="0" dirty="0">
                <a:solidFill>
                  <a:srgbClr val="C00000"/>
                </a:solidFill>
                <a:latin typeface="Mundial"/>
              </a:rPr>
              <a:t>Podstawowe obowiązki </a:t>
            </a:r>
            <a:r>
              <a:rPr lang="pl-PL" sz="2400" b="1" dirty="0">
                <a:solidFill>
                  <a:srgbClr val="C00000"/>
                </a:solidFill>
                <a:latin typeface="Mundial"/>
              </a:rPr>
              <a:t>władz Uczelni oraz Studentów</a:t>
            </a:r>
            <a:r>
              <a:rPr lang="pl-PL" sz="2400" b="1" i="0" u="none" strike="noStrike" baseline="0" dirty="0">
                <a:solidFill>
                  <a:srgbClr val="C00000"/>
                </a:solidFill>
                <a:latin typeface="Mundial"/>
              </a:rPr>
              <a:t> w zakresie BHP</a:t>
            </a:r>
          </a:p>
          <a:p>
            <a:pPr marL="550863" indent="-457200" algn="l">
              <a:buFont typeface="+mj-lt"/>
              <a:buAutoNum type="arabicPeriod"/>
            </a:pPr>
            <a:r>
              <a:rPr lang="pl-PL" sz="2400" b="1" i="0" u="none" strike="noStrike" baseline="0" dirty="0">
                <a:latin typeface="Mundial"/>
              </a:rPr>
              <a:t>Zasady poruszania się po terenie Campusu PJATK</a:t>
            </a: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475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7" y="1315758"/>
            <a:ext cx="1971440" cy="1663111"/>
          </a:xfrm>
        </p:spPr>
        <p:txBody>
          <a:bodyPr>
            <a:normAutofit/>
          </a:bodyPr>
          <a:lstStyle/>
          <a:p>
            <a:r>
              <a:rPr lang="pl-PL" b="1" dirty="0"/>
              <a:t>Zagadnienia poruszane na szkoleniu wstępnym z zakresu BHP</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4</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marL="550863" indent="-457200">
              <a:buFont typeface="+mj-lt"/>
              <a:buAutoNum type="arabicPeriod" startAt="5"/>
            </a:pPr>
            <a:r>
              <a:rPr lang="pl-PL" sz="2400" b="1" i="0" u="none" strike="noStrike" baseline="0" dirty="0">
                <a:solidFill>
                  <a:schemeClr val="accent1">
                    <a:lumMod val="75000"/>
                  </a:schemeClr>
                </a:solidFill>
                <a:latin typeface="Mundial"/>
              </a:rPr>
              <a:t>Zagrożenia dla zdrowia i wypadkowe występujące na terenie campusu PJATK </a:t>
            </a:r>
          </a:p>
          <a:p>
            <a:pPr marL="550863" indent="-457200" algn="l">
              <a:buFont typeface="+mj-lt"/>
              <a:buAutoNum type="arabicPeriod" startAt="5"/>
            </a:pPr>
            <a:r>
              <a:rPr lang="pl-PL" sz="2400" b="1" i="0" u="none" strike="noStrike" baseline="0" dirty="0">
                <a:latin typeface="Mundial"/>
              </a:rPr>
              <a:t>Ubezpieczenie NNW i OC</a:t>
            </a:r>
          </a:p>
          <a:p>
            <a:pPr marL="550863" indent="-457200" algn="l">
              <a:buFont typeface="+mj-lt"/>
              <a:buAutoNum type="arabicPeriod" startAt="5"/>
            </a:pPr>
            <a:r>
              <a:rPr lang="pl-PL" sz="2400" b="1" dirty="0">
                <a:solidFill>
                  <a:srgbClr val="C00000"/>
                </a:solidFill>
                <a:latin typeface="Mundial"/>
              </a:rPr>
              <a:t>Podstawowe zasady ergonomii podczas nauki</a:t>
            </a:r>
          </a:p>
          <a:p>
            <a:pPr marL="550863" indent="-457200">
              <a:buFont typeface="+mj-lt"/>
              <a:buAutoNum type="arabicPeriod" startAt="5"/>
            </a:pPr>
            <a:r>
              <a:rPr lang="pl-PL" sz="2400" b="1" dirty="0">
                <a:latin typeface="Mundial"/>
              </a:rPr>
              <a:t>Z</a:t>
            </a:r>
            <a:r>
              <a:rPr lang="pl-PL" sz="2400" b="1" i="0" u="none" strike="noStrike" baseline="0" dirty="0">
                <a:latin typeface="Mundial"/>
              </a:rPr>
              <a:t>asady udzielania pomocy przedlekarskiej w razie wypadku</a:t>
            </a:r>
          </a:p>
          <a:p>
            <a:pPr marL="550863" indent="-457200" algn="l">
              <a:buFont typeface="+mj-lt"/>
              <a:buAutoNum type="arabicPeriod" startAt="5"/>
            </a:pPr>
            <a:r>
              <a:rPr lang="pl-PL" sz="2400" b="1" i="0" u="none" strike="noStrike" baseline="0" dirty="0">
                <a:solidFill>
                  <a:srgbClr val="C00000"/>
                </a:solidFill>
                <a:latin typeface="Mundial"/>
              </a:rPr>
              <a:t>Podstawowe zasady ochrony przeciwpożarowej oraz postępowania w razie pożaru/stanu zagrożenia</a:t>
            </a: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9381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5</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algn="ctr"/>
            <a:endParaRPr lang="pl-PL" sz="4000" b="1" i="0" u="none" strike="noStrike" baseline="0" dirty="0">
              <a:latin typeface="Mundial"/>
            </a:endParaRPr>
          </a:p>
          <a:p>
            <a:pPr algn="ctr"/>
            <a:r>
              <a:rPr lang="pl-PL" sz="4000" b="1" i="0" u="none" strike="noStrike" baseline="0" dirty="0">
                <a:latin typeface="Mundial"/>
              </a:rPr>
              <a:t>Zasady zaliczenia obowiązkowego szkolenia wstępnego z zakresu BHP</a:t>
            </a: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3430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7" y="1315758"/>
            <a:ext cx="1971440" cy="1663111"/>
          </a:xfrm>
        </p:spPr>
        <p:txBody>
          <a:bodyPr>
            <a:normAutofit/>
          </a:bodyPr>
          <a:lstStyle/>
          <a:p>
            <a:r>
              <a:rPr lang="pl-PL" b="1" dirty="0"/>
              <a:t>Zasady zaliczenia szkolenia z zakresu BHP</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6</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888363"/>
            <a:ext cx="8959362" cy="5604511"/>
          </a:xfrm>
        </p:spPr>
        <p:txBody>
          <a:bodyPr/>
          <a:lstStyle/>
          <a:p>
            <a:pPr algn="ctr"/>
            <a:r>
              <a:rPr lang="pl-PL" sz="2200" b="1" i="0" u="none" strike="noStrike" baseline="0" dirty="0">
                <a:solidFill>
                  <a:schemeClr val="accent1">
                    <a:lumMod val="75000"/>
                  </a:schemeClr>
                </a:solidFill>
                <a:latin typeface="Mundial"/>
              </a:rPr>
              <a:t>Każdy nowy student podejmujący naukę na </a:t>
            </a:r>
            <a:r>
              <a:rPr lang="pl-PL" sz="2200" b="1" dirty="0">
                <a:solidFill>
                  <a:schemeClr val="accent1">
                    <a:lumMod val="75000"/>
                  </a:schemeClr>
                </a:solidFill>
                <a:latin typeface="Mundial"/>
              </a:rPr>
              <a:t>jakimkolwiek</a:t>
            </a:r>
            <a:r>
              <a:rPr lang="pl-PL" sz="2200" b="1" i="0" u="none" strike="noStrike" baseline="0" dirty="0">
                <a:solidFill>
                  <a:schemeClr val="accent1">
                    <a:lumMod val="75000"/>
                  </a:schemeClr>
                </a:solidFill>
                <a:latin typeface="Mundial"/>
              </a:rPr>
              <a:t> kierunku studiów oferowanym przez Polsko-Japońską Akademię Technik Komputerowych (bez względu na tryb i formę </a:t>
            </a:r>
            <a:r>
              <a:rPr lang="pl-PL" sz="2200" b="1" dirty="0">
                <a:solidFill>
                  <a:schemeClr val="accent1">
                    <a:lumMod val="75000"/>
                  </a:schemeClr>
                </a:solidFill>
                <a:latin typeface="Mundial"/>
              </a:rPr>
              <a:t>kształcenia</a:t>
            </a:r>
            <a:r>
              <a:rPr lang="pl-PL" sz="2200" b="1" i="0" u="none" strike="noStrike" baseline="0" dirty="0">
                <a:solidFill>
                  <a:schemeClr val="accent1">
                    <a:lumMod val="75000"/>
                  </a:schemeClr>
                </a:solidFill>
                <a:latin typeface="Mundial"/>
              </a:rPr>
              <a:t>) zobowiązany jest do ZALICZENIA obowiązkowego szkolenia z zakresu bezpieczeństwa i higieny pracy (dalej BHP) w terminie podanym przez Dziekanat.</a:t>
            </a:r>
          </a:p>
          <a:p>
            <a:pPr algn="ctr"/>
            <a:endParaRPr lang="pl-PL" sz="2200" b="1" dirty="0">
              <a:latin typeface="Mundial"/>
            </a:endParaRPr>
          </a:p>
          <a:p>
            <a:pPr algn="ctr"/>
            <a:r>
              <a:rPr lang="pl-PL" sz="2200" b="1" dirty="0">
                <a:latin typeface="Mundial"/>
              </a:rPr>
              <a:t>Prezentacja poprowadzi Studenta kolejno przez najważniejsze zagadnienia z dziedziny bezpieczeństwa i higieny pracy, pozwoli zaznajomić się z przepisami prawa, zasadami postępowania w sytuacjach awaryjnych i niebezpiecznych oraz przyswoić podstawową wiedzę z zakresu udzielania pierwszej przedmedycznej pomocy w razie wypadku.</a:t>
            </a: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5635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7" y="1315758"/>
            <a:ext cx="1971440" cy="1663111"/>
          </a:xfrm>
        </p:spPr>
        <p:txBody>
          <a:bodyPr>
            <a:normAutofit/>
          </a:bodyPr>
          <a:lstStyle/>
          <a:p>
            <a:r>
              <a:rPr lang="pl-PL" b="1" dirty="0"/>
              <a:t>Zasady zaliczenia szkolenia z zakresu BHP</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7</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888363"/>
            <a:ext cx="8959362" cy="5604511"/>
          </a:xfrm>
        </p:spPr>
        <p:txBody>
          <a:bodyPr/>
          <a:lstStyle/>
          <a:p>
            <a:pPr algn="ctr"/>
            <a:r>
              <a:rPr lang="pl-PL" sz="2400" b="1" dirty="0">
                <a:solidFill>
                  <a:schemeClr val="accent1">
                    <a:lumMod val="75000"/>
                  </a:schemeClr>
                </a:solidFill>
                <a:latin typeface="Mundial"/>
              </a:rPr>
              <a:t>Materiał został tak przygotowany, aby po zapoznaniu się z prezentacją Student otrzymał wystarczającą wiedzę, by przystąpić do egzaminu zaliczeniowego. </a:t>
            </a:r>
          </a:p>
          <a:p>
            <a:pPr algn="ctr"/>
            <a:endParaRPr lang="pl-PL" sz="1400" b="1" dirty="0">
              <a:latin typeface="Mundial"/>
            </a:endParaRPr>
          </a:p>
          <a:p>
            <a:pPr algn="ctr"/>
            <a:r>
              <a:rPr lang="pl-PL" sz="2400" b="1" dirty="0">
                <a:latin typeface="Mundial"/>
              </a:rPr>
              <a:t>Przyjęto, iż Student powinien poświęcić na szkolenie 3 godziny lekcyjne oraz dodatkowo 1 godzinę lekcyjną na rozwiązanie testu zaliczeniowego (zaliczenie testu jednokrotnego wyboru następuje po udzieleniu min. 50% poprawnych odpowiedzi).</a:t>
            </a:r>
          </a:p>
          <a:p>
            <a:pPr algn="ctr"/>
            <a:endParaRPr lang="pl-PL" sz="400" b="1" dirty="0">
              <a:latin typeface="Mundial"/>
            </a:endParaRPr>
          </a:p>
          <a:p>
            <a:pPr algn="ctr">
              <a:lnSpc>
                <a:spcPct val="100000"/>
              </a:lnSpc>
            </a:pPr>
            <a:r>
              <a:rPr lang="pl-PL" sz="3200" b="1" dirty="0">
                <a:latin typeface="Mundial"/>
              </a:rPr>
              <a:t>ZAPRASZAMY NA SZKOLENIE </a:t>
            </a:r>
          </a:p>
          <a:p>
            <a:pPr algn="ctr">
              <a:lnSpc>
                <a:spcPct val="100000"/>
              </a:lnSpc>
            </a:pPr>
            <a:r>
              <a:rPr lang="pl-PL" sz="3200" b="1" dirty="0">
                <a:latin typeface="Mundial"/>
              </a:rPr>
              <a:t>I ŻYCZYMY POWODZENIA NA TEŚCIE KOŃCOWYM!</a:t>
            </a:r>
          </a:p>
          <a:p>
            <a:pPr algn="l"/>
            <a:endParaRPr lang="pl-PL" sz="1700" b="1" dirty="0">
              <a:solidFill>
                <a:srgbClr val="C00000"/>
              </a:solidFill>
              <a:latin typeface="Mundial"/>
            </a:endParaRP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9216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8</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algn="ctr"/>
            <a:endParaRPr lang="pl-PL" sz="4000" b="1" i="0" u="none" strike="noStrike" baseline="0" dirty="0">
              <a:latin typeface="Mundial"/>
            </a:endParaRPr>
          </a:p>
          <a:p>
            <a:pPr algn="ctr"/>
            <a:r>
              <a:rPr lang="pl-PL" sz="4000" b="1" i="0" u="none" strike="noStrike" baseline="0" dirty="0">
                <a:latin typeface="Mundial"/>
              </a:rPr>
              <a:t>Istota bezpieczeństwa i higieny pracy </a:t>
            </a:r>
            <a:r>
              <a:rPr lang="pl-PL" sz="4000" b="1" dirty="0">
                <a:latin typeface="Mundial"/>
              </a:rPr>
              <a:t>w odniesieniu do procesu kształcenia w Uczelni</a:t>
            </a:r>
            <a:endParaRPr lang="pl-PL" sz="4000" b="1" i="0" u="none" strike="noStrike" baseline="0" dirty="0">
              <a:latin typeface="Mundial"/>
            </a:endParaRP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298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7" y="1315758"/>
            <a:ext cx="1999720" cy="2040184"/>
          </a:xfrm>
        </p:spPr>
        <p:txBody>
          <a:bodyPr>
            <a:normAutofit/>
          </a:bodyPr>
          <a:lstStyle/>
          <a:p>
            <a:pPr algn="l"/>
            <a:r>
              <a:rPr lang="pl-PL" sz="2000" b="1" i="0" u="none" strike="noStrike" baseline="0" dirty="0">
                <a:latin typeface="Mundial"/>
              </a:rPr>
              <a:t>Istota bezpieczeństwa i higieny </a:t>
            </a:r>
            <a:r>
              <a:rPr lang="pl-PL" sz="2000" b="1" dirty="0">
                <a:latin typeface="Mundial"/>
              </a:rPr>
              <a:t>w odniesieniu do procesu kształcenia </a:t>
            </a:r>
            <a:r>
              <a:rPr lang="pl-PL" b="1" dirty="0">
                <a:latin typeface="Mundial"/>
              </a:rPr>
              <a:t>w</a:t>
            </a:r>
            <a:r>
              <a:rPr lang="pl-PL" sz="2000" b="1" dirty="0">
                <a:latin typeface="Mundial"/>
              </a:rPr>
              <a:t> Uczelni</a:t>
            </a:r>
            <a:endParaRPr lang="pl-PL" sz="2000" b="1" i="0" u="none" strike="noStrike" baseline="0"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9</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888363"/>
            <a:ext cx="8959362" cy="5604511"/>
          </a:xfrm>
        </p:spPr>
        <p:txBody>
          <a:bodyPr/>
          <a:lstStyle/>
          <a:p>
            <a:pPr algn="ctr"/>
            <a:r>
              <a:rPr lang="pl-PL" sz="2400" b="1" dirty="0">
                <a:latin typeface="Mundial"/>
              </a:rPr>
              <a:t>Każdy Student ma prawo do odbywania kształcenia </a:t>
            </a:r>
          </a:p>
          <a:p>
            <a:pPr algn="ctr"/>
            <a:r>
              <a:rPr lang="pl-PL" sz="2400" b="1" dirty="0">
                <a:latin typeface="Mundial"/>
              </a:rPr>
              <a:t>w bezpiecznych i higienicznych warunkach</a:t>
            </a:r>
          </a:p>
          <a:p>
            <a:pPr algn="l"/>
            <a:endParaRPr lang="pl-PL" sz="1050" b="1" dirty="0">
              <a:solidFill>
                <a:schemeClr val="accent1">
                  <a:lumMod val="75000"/>
                </a:schemeClr>
              </a:solidFill>
              <a:latin typeface="Mundial"/>
            </a:endParaRPr>
          </a:p>
          <a:p>
            <a:pPr algn="l"/>
            <a:r>
              <a:rPr lang="pl-PL" sz="1600" b="1" dirty="0">
                <a:solidFill>
                  <a:schemeClr val="accent1">
                    <a:lumMod val="75000"/>
                  </a:schemeClr>
                </a:solidFill>
                <a:latin typeface="Mundial"/>
              </a:rPr>
              <a:t>BEZPIECZEŃSTWO I HIGIENA PRACY</a:t>
            </a:r>
          </a:p>
          <a:p>
            <a:pPr algn="l"/>
            <a:r>
              <a:rPr lang="pl-PL" sz="1600" dirty="0">
                <a:solidFill>
                  <a:srgbClr val="000000"/>
                </a:solidFill>
                <a:latin typeface="Mundial"/>
              </a:rPr>
              <a:t>to s</a:t>
            </a:r>
            <a:r>
              <a:rPr lang="pl-PL" sz="1600" b="0" i="0" u="none" strike="noStrike" baseline="0" dirty="0">
                <a:solidFill>
                  <a:srgbClr val="000000"/>
                </a:solidFill>
                <a:latin typeface="Mundial"/>
              </a:rPr>
              <a:t>tan warunków i organizacji pracy oraz </a:t>
            </a:r>
            <a:r>
              <a:rPr lang="pl-PL" sz="1600" b="0" i="0" u="none" strike="noStrike" baseline="0" dirty="0" err="1">
                <a:solidFill>
                  <a:srgbClr val="000000"/>
                </a:solidFill>
                <a:latin typeface="Mundial"/>
              </a:rPr>
              <a:t>zachowań</a:t>
            </a:r>
            <a:r>
              <a:rPr lang="pl-PL" sz="1600" b="0" i="0" u="none" strike="noStrike" baseline="0" dirty="0">
                <a:solidFill>
                  <a:srgbClr val="000000"/>
                </a:solidFill>
                <a:latin typeface="Mundial"/>
              </a:rPr>
              <a:t> pracowników (studentów) zapewniający wymagany poziom ochrony życia i zdrowia przed zagrożeniami występującymi w środowisku pracy (na uczelni)</a:t>
            </a:r>
            <a:endParaRPr lang="pl-PL" sz="1600" dirty="0">
              <a:solidFill>
                <a:srgbClr val="000000"/>
              </a:solidFill>
              <a:latin typeface="Mundial"/>
            </a:endParaRPr>
          </a:p>
          <a:p>
            <a:pPr algn="l"/>
            <a:r>
              <a:rPr lang="pl-PL" sz="1600" b="1" dirty="0">
                <a:solidFill>
                  <a:schemeClr val="accent1">
                    <a:lumMod val="75000"/>
                  </a:schemeClr>
                </a:solidFill>
                <a:latin typeface="Mundial"/>
              </a:rPr>
              <a:t>BEZPIECZEŃSTWO PRACY</a:t>
            </a:r>
          </a:p>
          <a:p>
            <a:pPr algn="l"/>
            <a:r>
              <a:rPr lang="pl-PL" sz="1600" b="0" i="0" u="none" strike="noStrike" baseline="0" dirty="0">
                <a:solidFill>
                  <a:srgbClr val="000000"/>
                </a:solidFill>
                <a:latin typeface="Mundial"/>
              </a:rPr>
              <a:t>to działania i angażowane w nie środki, służące </a:t>
            </a:r>
            <a:r>
              <a:rPr lang="pl-PL" sz="1600" b="1" i="0" u="none" strike="noStrike" baseline="0" dirty="0">
                <a:solidFill>
                  <a:srgbClr val="000000"/>
                </a:solidFill>
                <a:latin typeface="Mundial"/>
              </a:rPr>
              <a:t>ochronie życia i zdrowia tj. zapobieganiu urazom i wypadkom </a:t>
            </a:r>
            <a:r>
              <a:rPr lang="pl-PL" sz="1600" b="0" i="0" u="none" strike="noStrike" baseline="0" dirty="0">
                <a:solidFill>
                  <a:srgbClr val="000000"/>
                </a:solidFill>
                <a:latin typeface="Mundial"/>
              </a:rPr>
              <a:t>przy pracy (w trakcie procesu kształcenia)</a:t>
            </a:r>
            <a:endParaRPr lang="pl-PL" sz="1600" b="1" dirty="0">
              <a:solidFill>
                <a:srgbClr val="000000"/>
              </a:solidFill>
              <a:latin typeface="Mundial"/>
            </a:endParaRPr>
          </a:p>
          <a:p>
            <a:pPr algn="l"/>
            <a:r>
              <a:rPr lang="pl-PL" sz="1600" b="1" dirty="0">
                <a:solidFill>
                  <a:schemeClr val="accent1">
                    <a:lumMod val="75000"/>
                  </a:schemeClr>
                </a:solidFill>
                <a:latin typeface="Mundial"/>
              </a:rPr>
              <a:t>HIGIENA PRACY</a:t>
            </a:r>
          </a:p>
          <a:p>
            <a:pPr algn="l"/>
            <a:r>
              <a:rPr lang="pl-PL" sz="1600" b="0" i="0" u="none" strike="noStrike" baseline="0" dirty="0">
                <a:solidFill>
                  <a:srgbClr val="000000"/>
                </a:solidFill>
                <a:latin typeface="Mundial"/>
              </a:rPr>
              <a:t>to działania i angażowane w nie środki, zapobiegające </a:t>
            </a:r>
            <a:r>
              <a:rPr lang="pl-PL" sz="1600" b="1" i="0" u="none" strike="noStrike" baseline="0" dirty="0">
                <a:solidFill>
                  <a:srgbClr val="000000"/>
                </a:solidFill>
                <a:latin typeface="Mundial"/>
              </a:rPr>
              <a:t>chorobom zawodowym oraz poprawiające komfort pracy (kształcenia)</a:t>
            </a:r>
            <a:endParaRPr lang="pl-PL" sz="1600" b="1" dirty="0">
              <a:latin typeface="Mundial"/>
            </a:endParaRPr>
          </a:p>
          <a:p>
            <a:endParaRPr lang="pl-PL" sz="1700" b="1" i="0" u="none" strike="noStrike" baseline="0" dirty="0">
              <a:latin typeface="Mundial"/>
            </a:endParaRP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1084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p:txBody>
          <a:bodyPr>
            <a:normAutofit/>
          </a:bodyPr>
          <a:lstStyle/>
          <a:p>
            <a:r>
              <a:rPr lang="pl-PL" b="1" dirty="0"/>
              <a:t>Akty prawne</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10</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567354" y="888024"/>
            <a:ext cx="9107409" cy="5407268"/>
          </a:xfrm>
        </p:spPr>
        <p:txBody>
          <a:bodyPr/>
          <a:lstStyle/>
          <a:p>
            <a:pPr algn="ctr"/>
            <a:endParaRPr lang="pl-PL" sz="2000" b="1" dirty="0">
              <a:latin typeface="Mundial"/>
            </a:endParaRPr>
          </a:p>
          <a:p>
            <a:pPr algn="ctr"/>
            <a:r>
              <a:rPr lang="pl-PL" sz="2800" b="1" dirty="0">
                <a:latin typeface="Mundial"/>
              </a:rPr>
              <a:t>Rozporządzenie </a:t>
            </a:r>
          </a:p>
          <a:p>
            <a:pPr algn="ctr"/>
            <a:r>
              <a:rPr lang="pl-PL" sz="2800" b="1" dirty="0">
                <a:latin typeface="Mundial"/>
              </a:rPr>
              <a:t>Ministra Nauki i Szkolnictwa Wyższego </a:t>
            </a:r>
          </a:p>
          <a:p>
            <a:pPr algn="ctr"/>
            <a:r>
              <a:rPr lang="pl-PL" sz="2800" b="1" dirty="0">
                <a:latin typeface="Mundial"/>
              </a:rPr>
              <a:t>z dnia 30 października 2018 r. </a:t>
            </a:r>
          </a:p>
          <a:p>
            <a:pPr algn="ctr"/>
            <a:r>
              <a:rPr lang="pl-PL" sz="2800" b="1" dirty="0">
                <a:latin typeface="Mundial"/>
              </a:rPr>
              <a:t>w sprawie sposobu zapewnienia w uczelni bezpiecznych i higienicznych warunków pracy i kształcenia</a:t>
            </a:r>
          </a:p>
          <a:p>
            <a:pPr algn="ctr"/>
            <a:r>
              <a:rPr lang="pl-PL" sz="1600" b="1" i="0" dirty="0">
                <a:solidFill>
                  <a:srgbClr val="C00D35"/>
                </a:solidFill>
                <a:effectLst/>
                <a:latin typeface="Helvetica Neue"/>
              </a:rPr>
              <a:t>Dz.U. 2018 poz. 2090</a:t>
            </a:r>
          </a:p>
          <a:p>
            <a:pPr algn="ctr"/>
            <a:r>
              <a:rPr lang="pl-PL" sz="1600" b="1" dirty="0">
                <a:solidFill>
                  <a:srgbClr val="C00D35"/>
                </a:solidFill>
                <a:latin typeface="Helvetica Neue"/>
              </a:rPr>
              <a:t>akty wykonawczy do ustawy Prawo o szkolnictwie wyższym i nauce z dnia 20 lipca 2018 r. (Dz.U. 2018 poz. 1668 i 2024)</a:t>
            </a:r>
            <a:endParaRPr lang="pl-PL" sz="1600" b="1" i="0" dirty="0">
              <a:solidFill>
                <a:srgbClr val="C00D35"/>
              </a:solidFill>
              <a:effectLst/>
              <a:latin typeface="Helvetica Neue"/>
            </a:endParaRPr>
          </a:p>
          <a:p>
            <a:pPr algn="ctr"/>
            <a:endParaRPr lang="pl-PL" dirty="0">
              <a:latin typeface="Mundial"/>
            </a:endParaRPr>
          </a:p>
        </p:txBody>
      </p:sp>
      <p:pic>
        <p:nvPicPr>
          <p:cNvPr id="6" name="Picture 4">
            <a:extLst>
              <a:ext uri="{FF2B5EF4-FFF2-40B4-BE49-F238E27FC236}">
                <a16:creationId xmlns:a16="http://schemas.microsoft.com/office/drawing/2014/main" id="{33118BF9-D9F5-2A48-07DE-809FE899F8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312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11</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algn="ctr"/>
            <a:endParaRPr lang="pl-PL" sz="4000" b="1" i="0" u="none" strike="noStrike" baseline="0" dirty="0">
              <a:latin typeface="Mundial"/>
            </a:endParaRPr>
          </a:p>
          <a:p>
            <a:pPr algn="ctr"/>
            <a:r>
              <a:rPr lang="pl-PL" sz="4000" b="1" i="0" u="none" strike="noStrike" baseline="0" dirty="0">
                <a:latin typeface="Mundial"/>
              </a:rPr>
              <a:t>Podstawowe obowiązki </a:t>
            </a:r>
            <a:r>
              <a:rPr lang="pl-PL" sz="4000" b="1" dirty="0">
                <a:latin typeface="Mundial"/>
              </a:rPr>
              <a:t>władz Uczelni oraz Studentów</a:t>
            </a:r>
            <a:r>
              <a:rPr lang="pl-PL" sz="4000" b="1" i="0" u="none" strike="noStrike" baseline="0" dirty="0">
                <a:latin typeface="Mundial"/>
              </a:rPr>
              <a:t> w zakresie BHP</a:t>
            </a: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856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175768" cy="1501043"/>
          </a:xfrm>
        </p:spPr>
        <p:txBody>
          <a:bodyPr>
            <a:normAutofit/>
          </a:bodyPr>
          <a:lstStyle/>
          <a:p>
            <a:pPr algn="l"/>
            <a:r>
              <a:rPr lang="pl-PL" sz="2000" b="1" i="0" u="none" strike="noStrike" baseline="0" dirty="0">
                <a:latin typeface="Mundial"/>
              </a:rPr>
              <a:t>Podstawowe obowiązki </a:t>
            </a:r>
            <a:r>
              <a:rPr lang="pl-PL" sz="2000" b="1" dirty="0">
                <a:latin typeface="Mundial"/>
              </a:rPr>
              <a:t>władz Uczelni oraz Studentów</a:t>
            </a:r>
            <a:r>
              <a:rPr lang="pl-PL" sz="2000" b="1" i="0" u="none" strike="noStrike" baseline="0" dirty="0">
                <a:latin typeface="Mundial"/>
              </a:rPr>
              <a:t> w zakresie BHP</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12</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567354" y="888024"/>
            <a:ext cx="9107409" cy="5407268"/>
          </a:xfrm>
        </p:spPr>
        <p:txBody>
          <a:bodyPr/>
          <a:lstStyle/>
          <a:p>
            <a:pPr algn="ctr"/>
            <a:r>
              <a:rPr lang="pl-PL" sz="2000" b="1" dirty="0">
                <a:latin typeface="Mundial"/>
              </a:rPr>
              <a:t>PODSTAWOWE OBOWIAZKI WŁADZ UCZELNI W ZAKRESIE BHP</a:t>
            </a:r>
          </a:p>
          <a:p>
            <a:pPr algn="ctr"/>
            <a:endParaRPr lang="pl-PL" sz="2000" b="1" dirty="0">
              <a:solidFill>
                <a:srgbClr val="C00000"/>
              </a:solidFill>
              <a:latin typeface="Mundial"/>
            </a:endParaRPr>
          </a:p>
          <a:p>
            <a:pPr algn="ctr"/>
            <a:r>
              <a:rPr lang="pl-PL" sz="2400" b="1" dirty="0">
                <a:solidFill>
                  <a:srgbClr val="C00000"/>
                </a:solidFill>
                <a:latin typeface="Mundial"/>
              </a:rPr>
              <a:t>Rektor zapewnia w uczelni bezpieczne i higieniczne warunki pracy i kształcenia między innymi poprzez:</a:t>
            </a:r>
          </a:p>
          <a:p>
            <a:pPr algn="ctr"/>
            <a:endParaRPr lang="pl-PL" sz="1400" b="1" dirty="0">
              <a:solidFill>
                <a:srgbClr val="C00000"/>
              </a:solidFill>
              <a:latin typeface="Mundial"/>
            </a:endParaRPr>
          </a:p>
          <a:p>
            <a:pPr marL="379413" indent="-285750">
              <a:buFont typeface="Arial" panose="020B0604020202020204" pitchFamily="34" charset="0"/>
              <a:buChar char="•"/>
            </a:pPr>
            <a:r>
              <a:rPr lang="pl-PL" sz="2000" b="1" dirty="0">
                <a:latin typeface="Mundial"/>
              </a:rPr>
              <a:t>analizę i identyfikację zagrożenia dla zdrowia i życia studentów i pracowników,</a:t>
            </a:r>
          </a:p>
          <a:p>
            <a:pPr marL="379413" indent="-285750">
              <a:buFont typeface="Arial" panose="020B0604020202020204" pitchFamily="34" charset="0"/>
              <a:buChar char="•"/>
            </a:pPr>
            <a:r>
              <a:rPr lang="pl-PL" sz="2000" b="1" dirty="0">
                <a:solidFill>
                  <a:srgbClr val="C00000"/>
                </a:solidFill>
                <a:latin typeface="Mundial"/>
              </a:rPr>
              <a:t>współpracę z organizacjami właściwymi w sprawach bezpieczeństwa i higieny pracy,</a:t>
            </a:r>
          </a:p>
          <a:p>
            <a:pPr marL="379413" indent="-285750">
              <a:buFont typeface="Arial" panose="020B0604020202020204" pitchFamily="34" charset="0"/>
              <a:buChar char="•"/>
            </a:pPr>
            <a:r>
              <a:rPr lang="pl-PL" sz="2000" b="1" dirty="0">
                <a:latin typeface="Mundial"/>
              </a:rPr>
              <a:t>umieszczanie w widocznych </a:t>
            </a:r>
            <a:r>
              <a:rPr lang="pl-PL" sz="2000" b="1">
                <a:latin typeface="Mundial"/>
              </a:rPr>
              <a:t>miejscach informacji </a:t>
            </a:r>
            <a:r>
              <a:rPr lang="pl-PL" sz="2000" b="1" dirty="0">
                <a:latin typeface="Mundial"/>
              </a:rPr>
              <a:t>o sposobie bezpiecznego korzystania z pomieszczeń (np. laboratoriów),</a:t>
            </a:r>
          </a:p>
        </p:txBody>
      </p:sp>
      <p:pic>
        <p:nvPicPr>
          <p:cNvPr id="6" name="Picture 4">
            <a:extLst>
              <a:ext uri="{FF2B5EF4-FFF2-40B4-BE49-F238E27FC236}">
                <a16:creationId xmlns:a16="http://schemas.microsoft.com/office/drawing/2014/main" id="{33118BF9-D9F5-2A48-07DE-809FE899F8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870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175768" cy="1501043"/>
          </a:xfrm>
        </p:spPr>
        <p:txBody>
          <a:bodyPr>
            <a:normAutofit/>
          </a:bodyPr>
          <a:lstStyle/>
          <a:p>
            <a:pPr algn="l"/>
            <a:r>
              <a:rPr lang="pl-PL" sz="2000" b="1" i="0" u="none" strike="noStrike" baseline="0" dirty="0">
                <a:latin typeface="Mundial"/>
              </a:rPr>
              <a:t>Podstawowe obowiązki </a:t>
            </a:r>
            <a:r>
              <a:rPr lang="pl-PL" sz="2000" b="1" dirty="0">
                <a:latin typeface="Mundial"/>
              </a:rPr>
              <a:t>władz Uczelni oraz Studentów</a:t>
            </a:r>
            <a:r>
              <a:rPr lang="pl-PL" sz="2000" b="1" i="0" u="none" strike="noStrike" baseline="0" dirty="0">
                <a:latin typeface="Mundial"/>
              </a:rPr>
              <a:t> w zakresie BHP</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13</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567354" y="888024"/>
            <a:ext cx="9107409" cy="5407268"/>
          </a:xfrm>
        </p:spPr>
        <p:txBody>
          <a:bodyPr/>
          <a:lstStyle/>
          <a:p>
            <a:pPr algn="ctr"/>
            <a:r>
              <a:rPr lang="pl-PL" sz="2000" b="1" dirty="0">
                <a:latin typeface="Mundial"/>
              </a:rPr>
              <a:t>PODSTAWOWE OBOWIAZKI WŁADZ UCZELNI W ZAKRESIE BHP</a:t>
            </a:r>
          </a:p>
          <a:p>
            <a:pPr algn="ctr"/>
            <a:endParaRPr lang="pl-PL" sz="2000" b="1" dirty="0">
              <a:solidFill>
                <a:srgbClr val="C00000"/>
              </a:solidFill>
              <a:latin typeface="Mundial"/>
            </a:endParaRPr>
          </a:p>
          <a:p>
            <a:pPr algn="ctr"/>
            <a:r>
              <a:rPr lang="pl-PL" sz="2400" b="1" dirty="0">
                <a:solidFill>
                  <a:srgbClr val="C00000"/>
                </a:solidFill>
                <a:latin typeface="Mundial"/>
              </a:rPr>
              <a:t>Rektor zapewnia w uczelni bezpieczne i higieniczne warunki pracy i kształcenia między innymi poprzez:</a:t>
            </a:r>
          </a:p>
          <a:p>
            <a:pPr marL="379413" indent="-285750">
              <a:buFont typeface="Arial" panose="020B0604020202020204" pitchFamily="34" charset="0"/>
              <a:buChar char="•"/>
            </a:pPr>
            <a:r>
              <a:rPr lang="pl-PL" sz="2000" b="1" dirty="0">
                <a:latin typeface="Mundial"/>
              </a:rPr>
              <a:t>organizację obowiązkowych szkoleń dotyczących bezpiecznych i higienicznych warunków kształcenia w wymiarze nie mniejszym niż 4 godziny dla nowoprzyjętych studentów,</a:t>
            </a:r>
          </a:p>
          <a:p>
            <a:pPr marL="379413" indent="-285750">
              <a:buFont typeface="Arial" panose="020B0604020202020204" pitchFamily="34" charset="0"/>
              <a:buChar char="•"/>
            </a:pPr>
            <a:r>
              <a:rPr lang="pl-PL" sz="2000" b="1" dirty="0">
                <a:solidFill>
                  <a:srgbClr val="C00000"/>
                </a:solidFill>
                <a:latin typeface="Mundial"/>
              </a:rPr>
              <a:t>zapewnienie utrzymania pomieszczeń uczelni we właściwym stanie technicznym i sanitarnym,</a:t>
            </a:r>
          </a:p>
          <a:p>
            <a:pPr marL="379413" indent="-285750">
              <a:buFont typeface="Arial" panose="020B0604020202020204" pitchFamily="34" charset="0"/>
              <a:buChar char="•"/>
            </a:pPr>
            <a:r>
              <a:rPr lang="pl-PL" sz="2000" b="1" dirty="0">
                <a:latin typeface="Mundial"/>
              </a:rPr>
              <a:t>zapewnienie apteczek zaopatrzonych w środki niezbędne do udzielenia pierwszej pomocy wraz z instrukcją o zasadach udzielenia tej pomocy.</a:t>
            </a:r>
          </a:p>
          <a:p>
            <a:pPr algn="ctr"/>
            <a:endParaRPr lang="pl-PL" sz="2000" b="1" dirty="0">
              <a:latin typeface="Mundial"/>
            </a:endParaRPr>
          </a:p>
          <a:p>
            <a:pPr algn="ctr"/>
            <a:endParaRPr lang="pl-PL" dirty="0">
              <a:latin typeface="Mundial"/>
            </a:endParaRPr>
          </a:p>
        </p:txBody>
      </p:sp>
      <p:pic>
        <p:nvPicPr>
          <p:cNvPr id="6" name="Picture 4">
            <a:extLst>
              <a:ext uri="{FF2B5EF4-FFF2-40B4-BE49-F238E27FC236}">
                <a16:creationId xmlns:a16="http://schemas.microsoft.com/office/drawing/2014/main" id="{33118BF9-D9F5-2A48-07DE-809FE899F8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184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175768" cy="1501043"/>
          </a:xfrm>
        </p:spPr>
        <p:txBody>
          <a:bodyPr>
            <a:normAutofit/>
          </a:bodyPr>
          <a:lstStyle/>
          <a:p>
            <a:pPr algn="l"/>
            <a:r>
              <a:rPr lang="pl-PL" sz="2000" b="1" i="0" u="none" strike="noStrike" baseline="0" dirty="0">
                <a:latin typeface="Mundial"/>
              </a:rPr>
              <a:t>Podstawowe obowiązki </a:t>
            </a:r>
            <a:r>
              <a:rPr lang="pl-PL" sz="2000" b="1" dirty="0">
                <a:latin typeface="Mundial"/>
              </a:rPr>
              <a:t>władz Uczelni oraz Studentów</a:t>
            </a:r>
            <a:r>
              <a:rPr lang="pl-PL" sz="2000" b="1" i="0" u="none" strike="noStrike" baseline="0" dirty="0">
                <a:latin typeface="Mundial"/>
              </a:rPr>
              <a:t> w zakresie BHP</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14</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567354" y="888024"/>
            <a:ext cx="9107409" cy="5407268"/>
          </a:xfrm>
        </p:spPr>
        <p:txBody>
          <a:bodyPr/>
          <a:lstStyle/>
          <a:p>
            <a:pPr algn="ctr"/>
            <a:r>
              <a:rPr lang="pl-PL" sz="2000" b="1" dirty="0">
                <a:latin typeface="Mundial"/>
              </a:rPr>
              <a:t>PODSTAWOWE OBOWIAZKI WŁADZ UCZELNI W ZAKRESIE BHP</a:t>
            </a:r>
          </a:p>
          <a:p>
            <a:pPr algn="ctr"/>
            <a:endParaRPr lang="pl-PL" sz="2000" b="1" dirty="0">
              <a:solidFill>
                <a:srgbClr val="C00000"/>
              </a:solidFill>
              <a:latin typeface="Mundial"/>
            </a:endParaRPr>
          </a:p>
          <a:p>
            <a:pPr algn="ctr"/>
            <a:r>
              <a:rPr lang="pl-PL" sz="2400" b="1" dirty="0">
                <a:solidFill>
                  <a:srgbClr val="C00000"/>
                </a:solidFill>
                <a:latin typeface="Mundial"/>
              </a:rPr>
              <a:t>Rektor zobowiązany jest m.in. :</a:t>
            </a:r>
          </a:p>
          <a:p>
            <a:pPr marL="436563" indent="-342900">
              <a:buFont typeface="Arial" panose="020B0604020202020204" pitchFamily="34" charset="0"/>
              <a:buChar char="•"/>
            </a:pPr>
            <a:r>
              <a:rPr lang="pl-PL" sz="2000" b="1" dirty="0">
                <a:latin typeface="Mundial"/>
              </a:rPr>
              <a:t>prowadzić ewidencję wypadków studentów, którym ulegli podczas zajęć organizowanych przez Uczelnie,</a:t>
            </a:r>
          </a:p>
          <a:p>
            <a:pPr marL="436563" indent="-342900">
              <a:buFont typeface="Arial" panose="020B0604020202020204" pitchFamily="34" charset="0"/>
              <a:buChar char="•"/>
            </a:pPr>
            <a:r>
              <a:rPr lang="pl-PL" sz="2000" b="1" dirty="0">
                <a:solidFill>
                  <a:srgbClr val="C00000"/>
                </a:solidFill>
                <a:latin typeface="Mundial"/>
              </a:rPr>
              <a:t>zapewnić, aby pracownicy prowadzący zajęcia w pracowniach warsztatowych i specjalistycznych byli przeszkoleni z udzielania pierwszej pomocy,</a:t>
            </a:r>
          </a:p>
          <a:p>
            <a:pPr marL="436563" indent="-342900">
              <a:buFont typeface="Arial" panose="020B0604020202020204" pitchFamily="34" charset="0"/>
              <a:buChar char="•"/>
            </a:pPr>
            <a:r>
              <a:rPr lang="pl-PL" sz="2000" b="1" dirty="0">
                <a:latin typeface="Mundial"/>
              </a:rPr>
              <a:t>poprzez upoważnione i wyznaczone osoby udostępnić studentom korzystającym z laboratoriów specjalistycznych instrukcje bezpiecznego korzystania z materiałów niebezpiecznych lub szkodliwych dla zdrowia, instrukcje korzystania ze środków ochrony indywidualnej oraz postępowania w sytuacji awaryjnej zagrożenia życia lub zdrowia.</a:t>
            </a:r>
          </a:p>
          <a:p>
            <a:pPr algn="ctr"/>
            <a:endParaRPr lang="pl-PL" dirty="0">
              <a:latin typeface="Mundial"/>
            </a:endParaRPr>
          </a:p>
        </p:txBody>
      </p:sp>
      <p:pic>
        <p:nvPicPr>
          <p:cNvPr id="6" name="Picture 4">
            <a:extLst>
              <a:ext uri="{FF2B5EF4-FFF2-40B4-BE49-F238E27FC236}">
                <a16:creationId xmlns:a16="http://schemas.microsoft.com/office/drawing/2014/main" id="{33118BF9-D9F5-2A48-07DE-809FE899F8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4003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175768" cy="1501043"/>
          </a:xfrm>
        </p:spPr>
        <p:txBody>
          <a:bodyPr>
            <a:normAutofit/>
          </a:bodyPr>
          <a:lstStyle/>
          <a:p>
            <a:pPr algn="l"/>
            <a:r>
              <a:rPr lang="pl-PL" sz="2000" b="1" i="0" u="none" strike="noStrike" baseline="0" dirty="0">
                <a:latin typeface="Mundial"/>
              </a:rPr>
              <a:t>Podstawowe obowiązki </a:t>
            </a:r>
            <a:r>
              <a:rPr lang="pl-PL" sz="2000" b="1" dirty="0">
                <a:latin typeface="Mundial"/>
              </a:rPr>
              <a:t>władz Uczelni oraz Studentów</a:t>
            </a:r>
            <a:r>
              <a:rPr lang="pl-PL" sz="2000" b="1" i="0" u="none" strike="noStrike" baseline="0" dirty="0">
                <a:latin typeface="Mundial"/>
              </a:rPr>
              <a:t> w zakresie BHP</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15</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567354" y="888024"/>
            <a:ext cx="9107409" cy="5407268"/>
          </a:xfrm>
        </p:spPr>
        <p:txBody>
          <a:bodyPr/>
          <a:lstStyle/>
          <a:p>
            <a:pPr algn="ctr"/>
            <a:r>
              <a:rPr lang="pl-PL" sz="2000" b="1" dirty="0">
                <a:latin typeface="Mundial"/>
              </a:rPr>
              <a:t>PODSTAWOWE OBOWIAZKI STUDENTA W ZAKRESIE BHP</a:t>
            </a:r>
          </a:p>
          <a:p>
            <a:pPr algn="ctr"/>
            <a:endParaRPr lang="pl-PL" sz="2000" b="1" dirty="0">
              <a:latin typeface="Mundial"/>
            </a:endParaRPr>
          </a:p>
          <a:p>
            <a:pPr algn="ctr"/>
            <a:r>
              <a:rPr lang="pl-PL" sz="2400" b="1" dirty="0">
                <a:solidFill>
                  <a:srgbClr val="C00000"/>
                </a:solidFill>
                <a:latin typeface="Mundial"/>
              </a:rPr>
              <a:t>Każdy Student zobowiązany jest:</a:t>
            </a:r>
          </a:p>
          <a:p>
            <a:pPr marL="436563" indent="-342900">
              <a:buFont typeface="Arial" panose="020B0604020202020204" pitchFamily="34" charset="0"/>
              <a:buChar char="•"/>
            </a:pPr>
            <a:r>
              <a:rPr lang="pl-PL" sz="2000" b="1" dirty="0">
                <a:latin typeface="Mundial"/>
              </a:rPr>
              <a:t>znać przepisy i zasady BHP obowiązujące studentów PJATK podczas przebywania na terenie campusu PJATK,</a:t>
            </a:r>
          </a:p>
          <a:p>
            <a:pPr marL="436563" indent="-342900">
              <a:buFont typeface="Arial" panose="020B0604020202020204" pitchFamily="34" charset="0"/>
              <a:buChar char="•"/>
            </a:pPr>
            <a:r>
              <a:rPr lang="pl-PL" sz="2000" b="1" dirty="0">
                <a:solidFill>
                  <a:srgbClr val="C00000"/>
                </a:solidFill>
                <a:latin typeface="Mundial"/>
              </a:rPr>
              <a:t>brać udział w szkoleniach i instruktażach z zakresu bezpieczeństwa i higieny pracy (kształcenia) przeprowadzanych przez instruktorów i wykładowców podczas zajęć specjalistycznych,</a:t>
            </a:r>
          </a:p>
          <a:p>
            <a:pPr marL="436563" indent="-342900">
              <a:buFont typeface="Arial" panose="020B0604020202020204" pitchFamily="34" charset="0"/>
              <a:buChar char="•"/>
            </a:pPr>
            <a:r>
              <a:rPr lang="pl-PL" sz="2000" b="1" dirty="0">
                <a:latin typeface="Mundial"/>
              </a:rPr>
              <a:t>dbać o ład i porządek miejsc, w których odbywa się kształcenie jak również części wspólnych ogólnodostępnych wszystkim użytkownikom campusu PJATK,</a:t>
            </a:r>
          </a:p>
          <a:p>
            <a:pPr algn="ctr"/>
            <a:endParaRPr lang="pl-PL" sz="2000" b="1" dirty="0">
              <a:latin typeface="Mundial"/>
            </a:endParaRPr>
          </a:p>
          <a:p>
            <a:pPr algn="ctr"/>
            <a:endParaRPr lang="pl-PL" sz="2000" b="1" dirty="0">
              <a:latin typeface="Mundial"/>
            </a:endParaRPr>
          </a:p>
          <a:p>
            <a:pPr algn="ctr"/>
            <a:endParaRPr lang="pl-PL" dirty="0">
              <a:latin typeface="Mundial"/>
            </a:endParaRPr>
          </a:p>
        </p:txBody>
      </p:sp>
      <p:pic>
        <p:nvPicPr>
          <p:cNvPr id="6" name="Picture 4">
            <a:extLst>
              <a:ext uri="{FF2B5EF4-FFF2-40B4-BE49-F238E27FC236}">
                <a16:creationId xmlns:a16="http://schemas.microsoft.com/office/drawing/2014/main" id="{33118BF9-D9F5-2A48-07DE-809FE899F8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7627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175768" cy="1501043"/>
          </a:xfrm>
        </p:spPr>
        <p:txBody>
          <a:bodyPr>
            <a:normAutofit/>
          </a:bodyPr>
          <a:lstStyle/>
          <a:p>
            <a:pPr algn="l"/>
            <a:r>
              <a:rPr lang="pl-PL" sz="2000" b="1" i="0" u="none" strike="noStrike" baseline="0" dirty="0">
                <a:latin typeface="Mundial"/>
              </a:rPr>
              <a:t>Podstawowe obowiązki </a:t>
            </a:r>
            <a:r>
              <a:rPr lang="pl-PL" sz="2000" b="1" dirty="0">
                <a:latin typeface="Mundial"/>
              </a:rPr>
              <a:t>władz Uczelni oraz Studentów</a:t>
            </a:r>
            <a:r>
              <a:rPr lang="pl-PL" sz="2000" b="1" i="0" u="none" strike="noStrike" baseline="0" dirty="0">
                <a:latin typeface="Mundial"/>
              </a:rPr>
              <a:t> w zakresie BHP</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16</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567354" y="888024"/>
            <a:ext cx="9107409" cy="5407268"/>
          </a:xfrm>
        </p:spPr>
        <p:txBody>
          <a:bodyPr/>
          <a:lstStyle/>
          <a:p>
            <a:pPr algn="ctr"/>
            <a:r>
              <a:rPr lang="pl-PL" sz="2000" b="1" dirty="0">
                <a:latin typeface="Mundial"/>
              </a:rPr>
              <a:t>PODSTAWOWE OBOWIAZKI STUDENTA W ZAKRESIE BHP</a:t>
            </a:r>
          </a:p>
          <a:p>
            <a:pPr algn="ctr"/>
            <a:endParaRPr lang="pl-PL" sz="2000" b="1" dirty="0">
              <a:latin typeface="Mundial"/>
            </a:endParaRPr>
          </a:p>
          <a:p>
            <a:pPr algn="ctr"/>
            <a:r>
              <a:rPr lang="pl-PL" sz="2400" b="1" dirty="0">
                <a:solidFill>
                  <a:srgbClr val="C00000"/>
                </a:solidFill>
                <a:latin typeface="Mundial"/>
              </a:rPr>
              <a:t>Każdy Student zobowiązany jest:</a:t>
            </a:r>
          </a:p>
          <a:p>
            <a:pPr marL="436563" indent="-342900">
              <a:buFont typeface="Arial" panose="020B0604020202020204" pitchFamily="34" charset="0"/>
              <a:buChar char="•"/>
            </a:pPr>
            <a:r>
              <a:rPr lang="pl-PL" sz="2000" b="1" dirty="0">
                <a:latin typeface="Mundial"/>
              </a:rPr>
              <a:t>dbać o przydzielone środki ochrony indywidualnej (jeśli takie są zalecane) i używać ich zgodnie z przeznaczeniem,</a:t>
            </a:r>
          </a:p>
          <a:p>
            <a:pPr marL="436563" indent="-342900">
              <a:buFont typeface="Arial" panose="020B0604020202020204" pitchFamily="34" charset="0"/>
              <a:buChar char="•"/>
            </a:pPr>
            <a:r>
              <a:rPr lang="pl-PL" sz="2000" b="1" dirty="0">
                <a:latin typeface="Mundial"/>
              </a:rPr>
              <a:t>stosować się do przepisów ochrony przeciwpożarowej,</a:t>
            </a:r>
          </a:p>
          <a:p>
            <a:pPr marL="436563" indent="-342900">
              <a:buFont typeface="Arial" panose="020B0604020202020204" pitchFamily="34" charset="0"/>
              <a:buChar char="•"/>
            </a:pPr>
            <a:r>
              <a:rPr lang="pl-PL" sz="2400" b="1" dirty="0">
                <a:solidFill>
                  <a:srgbClr val="C00000"/>
                </a:solidFill>
                <a:latin typeface="Mundial"/>
              </a:rPr>
              <a:t>NIEZWŁOCZNIE powiadomić wykładowcę lub opiekuna zajęć o zauważonym wypadku podczas zajęć jak również ostrzec inne osoby przebywające w miejscu zagrożenia o zaistniałej sytuacji.</a:t>
            </a:r>
          </a:p>
          <a:p>
            <a:endParaRPr lang="pl-PL" sz="2000" b="1" dirty="0">
              <a:latin typeface="Mundial"/>
            </a:endParaRPr>
          </a:p>
          <a:p>
            <a:pPr algn="ctr"/>
            <a:endParaRPr lang="pl-PL" sz="2000" b="1" dirty="0">
              <a:latin typeface="Mundial"/>
            </a:endParaRPr>
          </a:p>
          <a:p>
            <a:pPr algn="ctr"/>
            <a:endParaRPr lang="pl-PL" sz="2000" b="1" dirty="0">
              <a:latin typeface="Mundial"/>
            </a:endParaRPr>
          </a:p>
          <a:p>
            <a:pPr algn="ctr"/>
            <a:endParaRPr lang="pl-PL" dirty="0">
              <a:latin typeface="Mundial"/>
            </a:endParaRPr>
          </a:p>
        </p:txBody>
      </p:sp>
      <p:pic>
        <p:nvPicPr>
          <p:cNvPr id="6" name="Picture 4">
            <a:extLst>
              <a:ext uri="{FF2B5EF4-FFF2-40B4-BE49-F238E27FC236}">
                <a16:creationId xmlns:a16="http://schemas.microsoft.com/office/drawing/2014/main" id="{33118BF9-D9F5-2A48-07DE-809FE899F8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997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17</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algn="ctr"/>
            <a:endParaRPr lang="pl-PL" sz="4000" b="1" i="0" u="none" strike="noStrike" baseline="0" dirty="0">
              <a:latin typeface="Mundial"/>
            </a:endParaRPr>
          </a:p>
          <a:p>
            <a:pPr algn="ctr"/>
            <a:r>
              <a:rPr lang="pl-PL" sz="4000" b="1" i="0" u="none" strike="noStrike" baseline="0" dirty="0">
                <a:latin typeface="Mundial"/>
              </a:rPr>
              <a:t>Zasady poruszania się po terenie Campusu PJATK</a:t>
            </a: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431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18</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689935" y="870439"/>
            <a:ext cx="9135720" cy="5622436"/>
          </a:xfrm>
        </p:spPr>
        <p:txBody>
          <a:bodyPr/>
          <a:lstStyle/>
          <a:p>
            <a:pPr algn="ctr"/>
            <a:r>
              <a:rPr lang="pl-PL" sz="2000" b="1" dirty="0">
                <a:latin typeface="Mundial"/>
              </a:rPr>
              <a:t>Główne budynki Polsko-Japońskiej Akademii Technik Komputerowych mieszczą się przy ul. Koszykowej 86 w Warszawie. Rektorat, Sekretariaty Dziekanów poszczególnych Wydziałów oraz Dziekanat i większość biur jednostek administracyjnych usytuowane są w budynkach A, B i C.</a:t>
            </a:r>
          </a:p>
          <a:p>
            <a:pPr algn="ctr"/>
            <a:endParaRPr lang="pl-PL" sz="2000" b="1" dirty="0">
              <a:latin typeface="Mundial"/>
            </a:endParaRPr>
          </a:p>
          <a:p>
            <a:pPr algn="ctr"/>
            <a:endParaRPr lang="pl-PL" sz="2000" b="1" dirty="0">
              <a:latin typeface="Mundial"/>
            </a:endParaRPr>
          </a:p>
          <a:p>
            <a:pPr algn="ctr"/>
            <a:endParaRPr lang="pl-PL" sz="2000" b="1" dirty="0">
              <a:latin typeface="Mundial"/>
            </a:endParaRPr>
          </a:p>
          <a:p>
            <a:pPr algn="ctr"/>
            <a:endParaRPr lang="pl-PL" sz="2000" b="1" dirty="0">
              <a:latin typeface="Mundial"/>
            </a:endParaRPr>
          </a:p>
          <a:p>
            <a:pPr algn="ctr"/>
            <a:endParaRPr lang="pl-PL" sz="2000" b="1" dirty="0">
              <a:latin typeface="Mundial"/>
            </a:endParaRPr>
          </a:p>
          <a:p>
            <a:pPr algn="ctr"/>
            <a:r>
              <a:rPr lang="pl-PL" sz="2000" b="1" dirty="0">
                <a:latin typeface="Mundial"/>
              </a:rPr>
              <a:t>Dodatkowo Uczelnia korzysta w przestrzeni zaadoptowanych na potrzeby zajęć w obiektach przy ul. Nowogrodzkiej 84/86 (budynek G) oraz ul. Nowogrodzkiej 68 (budynek H), a także przy ul. Siewierskiej 13. </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Może być zdjęciem przedstawiającym drapacz chmur">
            <a:extLst>
              <a:ext uri="{FF2B5EF4-FFF2-40B4-BE49-F238E27FC236}">
                <a16:creationId xmlns:a16="http://schemas.microsoft.com/office/drawing/2014/main" id="{F2A6F2CC-9EDA-412D-8373-1A758A0C2F8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85139" y="2729573"/>
            <a:ext cx="3745312" cy="2382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563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19</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689935" y="870439"/>
            <a:ext cx="9135720" cy="5622436"/>
          </a:xfrm>
        </p:spPr>
        <p:txBody>
          <a:bodyPr/>
          <a:lstStyle/>
          <a:p>
            <a:pPr algn="ctr"/>
            <a:r>
              <a:rPr lang="pl-PL" sz="2400" b="1" dirty="0">
                <a:solidFill>
                  <a:srgbClr val="C00000"/>
                </a:solidFill>
                <a:latin typeface="Mundial"/>
              </a:rPr>
              <a:t>Każdy nowoprzyjęty Student powinien zapoznać się ze schematem budynków na terenie Campusu. </a:t>
            </a:r>
          </a:p>
          <a:p>
            <a:pPr algn="ctr"/>
            <a:endParaRPr lang="pl-PL" sz="2000" b="1" dirty="0">
              <a:latin typeface="Mundial"/>
            </a:endParaRPr>
          </a:p>
          <a:p>
            <a:pPr algn="ctr"/>
            <a:r>
              <a:rPr lang="pl-PL" sz="2000" b="1" dirty="0">
                <a:latin typeface="Mundial"/>
              </a:rPr>
              <a:t>W tym celu można skorzystać z mapek poglądowych dostępnych na terenie Uczelni lub prezentacji multimedialnych wyświetlanych na ekranach monitorów rozmieszczonych w korytarzach na terenie całej Uczelni.</a:t>
            </a:r>
          </a:p>
          <a:p>
            <a:r>
              <a:rPr lang="pl-PL" sz="2000" b="1" dirty="0">
                <a:latin typeface="Mundial"/>
              </a:rPr>
              <a:t>Zwróć uwagę na:</a:t>
            </a:r>
          </a:p>
          <a:p>
            <a:pPr marL="436563" indent="-342900">
              <a:buFont typeface="Wingdings" panose="05000000000000000000" pitchFamily="2" charset="2"/>
              <a:buChar char="ü"/>
            </a:pPr>
            <a:r>
              <a:rPr lang="pl-PL" sz="2000" dirty="0">
                <a:latin typeface="Mundial"/>
              </a:rPr>
              <a:t>Wejścia i wyjścia do budynków,</a:t>
            </a:r>
          </a:p>
          <a:p>
            <a:pPr marL="436563" indent="-342900">
              <a:buFont typeface="Wingdings" panose="05000000000000000000" pitchFamily="2" charset="2"/>
              <a:buChar char="ü"/>
            </a:pPr>
            <a:r>
              <a:rPr lang="pl-PL" sz="2000" b="1" dirty="0">
                <a:solidFill>
                  <a:srgbClr val="C00000"/>
                </a:solidFill>
                <a:latin typeface="Mundial"/>
              </a:rPr>
              <a:t>Oznakowanie ewakuacyjne </a:t>
            </a:r>
            <a:r>
              <a:rPr lang="pl-PL" sz="2000" dirty="0">
                <a:latin typeface="Mundial"/>
              </a:rPr>
              <a:t>w ciągach komunikacyjnych,</a:t>
            </a:r>
          </a:p>
          <a:p>
            <a:pPr marL="436563" indent="-342900">
              <a:buFont typeface="Wingdings" panose="05000000000000000000" pitchFamily="2" charset="2"/>
              <a:buChar char="ü"/>
            </a:pPr>
            <a:r>
              <a:rPr lang="pl-PL" sz="2000" dirty="0">
                <a:latin typeface="Mundial"/>
              </a:rPr>
              <a:t>Węzły sanitarne,</a:t>
            </a:r>
          </a:p>
          <a:p>
            <a:pPr marL="436563" indent="-342900">
              <a:buFont typeface="Wingdings" panose="05000000000000000000" pitchFamily="2" charset="2"/>
              <a:buChar char="ü"/>
            </a:pPr>
            <a:r>
              <a:rPr lang="pl-PL" sz="2000" dirty="0">
                <a:latin typeface="Mundial"/>
              </a:rPr>
              <a:t>Windy i klatki schodowe.</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808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20</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DA459CCA-776D-1725-98CE-875D0AE4AC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12969" y="1130114"/>
            <a:ext cx="9112266" cy="5125649"/>
          </a:xfrm>
          <a:prstGeom prst="rect">
            <a:avLst/>
          </a:prstGeom>
        </p:spPr>
      </p:pic>
    </p:spTree>
    <p:extLst>
      <p:ext uri="{BB962C8B-B14F-4D97-AF65-F5344CB8AC3E}">
        <p14:creationId xmlns:p14="http://schemas.microsoft.com/office/powerpoint/2010/main" val="3205467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21</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15ABABC6-5766-6BD5-9D97-0157FC67FC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06325" y="966245"/>
            <a:ext cx="9690731" cy="5452140"/>
          </a:xfrm>
          <a:prstGeom prst="rect">
            <a:avLst/>
          </a:prstGeom>
        </p:spPr>
      </p:pic>
    </p:spTree>
    <p:extLst>
      <p:ext uri="{BB962C8B-B14F-4D97-AF65-F5344CB8AC3E}">
        <p14:creationId xmlns:p14="http://schemas.microsoft.com/office/powerpoint/2010/main" val="1448917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22</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6C5F8C80-8D98-EAF6-3925-276B39CB33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68642" y="949570"/>
            <a:ext cx="9657860" cy="5433646"/>
          </a:xfrm>
          <a:prstGeom prst="rect">
            <a:avLst/>
          </a:prstGeom>
        </p:spPr>
      </p:pic>
    </p:spTree>
    <p:extLst>
      <p:ext uri="{BB962C8B-B14F-4D97-AF65-F5344CB8AC3E}">
        <p14:creationId xmlns:p14="http://schemas.microsoft.com/office/powerpoint/2010/main" val="3005383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23</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E03755D6-0687-FF8B-FF14-F87F052262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69548" y="950632"/>
            <a:ext cx="9850880" cy="5542242"/>
          </a:xfrm>
          <a:prstGeom prst="rect">
            <a:avLst/>
          </a:prstGeom>
        </p:spPr>
      </p:pic>
    </p:spTree>
    <p:extLst>
      <p:ext uri="{BB962C8B-B14F-4D97-AF65-F5344CB8AC3E}">
        <p14:creationId xmlns:p14="http://schemas.microsoft.com/office/powerpoint/2010/main" val="1716204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24</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A35CE942-E1DA-C522-97B5-545B416B09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87235" y="1065633"/>
            <a:ext cx="9904765" cy="5572559"/>
          </a:xfrm>
          <a:prstGeom prst="rect">
            <a:avLst/>
          </a:prstGeom>
        </p:spPr>
      </p:pic>
    </p:spTree>
    <p:extLst>
      <p:ext uri="{BB962C8B-B14F-4D97-AF65-F5344CB8AC3E}">
        <p14:creationId xmlns:p14="http://schemas.microsoft.com/office/powerpoint/2010/main" val="1542997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25</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2994E9B4-B77B-8519-D645-AACCFC71A9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82715" y="1009547"/>
            <a:ext cx="9809284" cy="5516285"/>
          </a:xfrm>
          <a:prstGeom prst="rect">
            <a:avLst/>
          </a:prstGeom>
        </p:spPr>
      </p:pic>
    </p:spTree>
    <p:extLst>
      <p:ext uri="{BB962C8B-B14F-4D97-AF65-F5344CB8AC3E}">
        <p14:creationId xmlns:p14="http://schemas.microsoft.com/office/powerpoint/2010/main" val="1116833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26</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B63774F7-0711-E657-F592-61EC197046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43685" y="1011838"/>
            <a:ext cx="9848315" cy="5542242"/>
          </a:xfrm>
          <a:prstGeom prst="rect">
            <a:avLst/>
          </a:prstGeom>
        </p:spPr>
      </p:pic>
    </p:spTree>
    <p:extLst>
      <p:ext uri="{BB962C8B-B14F-4D97-AF65-F5344CB8AC3E}">
        <p14:creationId xmlns:p14="http://schemas.microsoft.com/office/powerpoint/2010/main" val="2170333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27</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8C2781F7-CE95-8063-2207-12C51D4FFA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95530" y="984738"/>
            <a:ext cx="9896470" cy="5569342"/>
          </a:xfrm>
          <a:prstGeom prst="rect">
            <a:avLst/>
          </a:prstGeom>
        </p:spPr>
      </p:pic>
    </p:spTree>
    <p:extLst>
      <p:ext uri="{BB962C8B-B14F-4D97-AF65-F5344CB8AC3E}">
        <p14:creationId xmlns:p14="http://schemas.microsoft.com/office/powerpoint/2010/main" val="2750536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28</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BDB95F87-9BA0-7569-AD11-104F8DEA79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33914" y="950065"/>
            <a:ext cx="9958085" cy="5604016"/>
          </a:xfrm>
          <a:prstGeom prst="rect">
            <a:avLst/>
          </a:prstGeom>
        </p:spPr>
      </p:pic>
    </p:spTree>
    <p:extLst>
      <p:ext uri="{BB962C8B-B14F-4D97-AF65-F5344CB8AC3E}">
        <p14:creationId xmlns:p14="http://schemas.microsoft.com/office/powerpoint/2010/main" val="3928870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29</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8DE31879-682B-8284-272E-25A2446F9E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24185" y="944588"/>
            <a:ext cx="9967815" cy="5609492"/>
          </a:xfrm>
          <a:prstGeom prst="rect">
            <a:avLst/>
          </a:prstGeom>
        </p:spPr>
      </p:pic>
    </p:spTree>
    <p:extLst>
      <p:ext uri="{BB962C8B-B14F-4D97-AF65-F5344CB8AC3E}">
        <p14:creationId xmlns:p14="http://schemas.microsoft.com/office/powerpoint/2010/main" val="3675374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30</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5CA8B4D2-C96B-EF89-1093-EF6AA5B1CED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43685" y="840974"/>
            <a:ext cx="9848315" cy="5542242"/>
          </a:xfrm>
          <a:prstGeom prst="rect">
            <a:avLst/>
          </a:prstGeom>
        </p:spPr>
      </p:pic>
    </p:spTree>
    <p:extLst>
      <p:ext uri="{BB962C8B-B14F-4D97-AF65-F5344CB8AC3E}">
        <p14:creationId xmlns:p14="http://schemas.microsoft.com/office/powerpoint/2010/main" val="226096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31</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DB880006-80F1-309A-42EC-DFD438FDD3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21603" y="940776"/>
            <a:ext cx="9870397" cy="5552098"/>
          </a:xfrm>
          <a:prstGeom prst="rect">
            <a:avLst/>
          </a:prstGeom>
        </p:spPr>
      </p:pic>
    </p:spTree>
    <p:extLst>
      <p:ext uri="{BB962C8B-B14F-4D97-AF65-F5344CB8AC3E}">
        <p14:creationId xmlns:p14="http://schemas.microsoft.com/office/powerpoint/2010/main" val="26843532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32</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57262F8E-CD0F-BF18-4599-4898F8CE40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94792" y="950631"/>
            <a:ext cx="9897208" cy="5568307"/>
          </a:xfrm>
          <a:prstGeom prst="rect">
            <a:avLst/>
          </a:prstGeom>
        </p:spPr>
      </p:pic>
    </p:spTree>
    <p:extLst>
      <p:ext uri="{BB962C8B-B14F-4D97-AF65-F5344CB8AC3E}">
        <p14:creationId xmlns:p14="http://schemas.microsoft.com/office/powerpoint/2010/main" val="37136275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33</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2F48F505-18D7-781A-0E3E-637CDC8309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41120" y="950632"/>
            <a:ext cx="9850880" cy="5542242"/>
          </a:xfrm>
          <a:prstGeom prst="rect">
            <a:avLst/>
          </a:prstGeom>
        </p:spPr>
      </p:pic>
    </p:spTree>
    <p:extLst>
      <p:ext uri="{BB962C8B-B14F-4D97-AF65-F5344CB8AC3E}">
        <p14:creationId xmlns:p14="http://schemas.microsoft.com/office/powerpoint/2010/main" val="2332488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34</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CFBFB4DB-77E5-5C6C-6EAD-1562F5FC06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70082" y="910665"/>
            <a:ext cx="9921918" cy="5582209"/>
          </a:xfrm>
          <a:prstGeom prst="rect">
            <a:avLst/>
          </a:prstGeom>
        </p:spPr>
      </p:pic>
    </p:spTree>
    <p:extLst>
      <p:ext uri="{BB962C8B-B14F-4D97-AF65-F5344CB8AC3E}">
        <p14:creationId xmlns:p14="http://schemas.microsoft.com/office/powerpoint/2010/main" val="27043504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35</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E83D1F52-B807-89B6-54D8-EFCC0F4785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41120" y="1011838"/>
            <a:ext cx="9850880" cy="5542242"/>
          </a:xfrm>
          <a:prstGeom prst="rect">
            <a:avLst/>
          </a:prstGeom>
        </p:spPr>
      </p:pic>
    </p:spTree>
    <p:extLst>
      <p:ext uri="{BB962C8B-B14F-4D97-AF65-F5344CB8AC3E}">
        <p14:creationId xmlns:p14="http://schemas.microsoft.com/office/powerpoint/2010/main" val="2091414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36</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4F52D803-DAD8-46F1-53A4-7EB48FCF9D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78340" y="805804"/>
            <a:ext cx="9850880" cy="5542242"/>
          </a:xfrm>
          <a:prstGeom prst="rect">
            <a:avLst/>
          </a:prstGeom>
        </p:spPr>
      </p:pic>
    </p:spTree>
    <p:extLst>
      <p:ext uri="{BB962C8B-B14F-4D97-AF65-F5344CB8AC3E}">
        <p14:creationId xmlns:p14="http://schemas.microsoft.com/office/powerpoint/2010/main" val="2423581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37</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680A922B-70A4-EBF0-611F-73A8808D76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60857" y="905475"/>
            <a:ext cx="9931143" cy="5587399"/>
          </a:xfrm>
          <a:prstGeom prst="rect">
            <a:avLst/>
          </a:prstGeom>
        </p:spPr>
      </p:pic>
    </p:spTree>
    <p:extLst>
      <p:ext uri="{BB962C8B-B14F-4D97-AF65-F5344CB8AC3E}">
        <p14:creationId xmlns:p14="http://schemas.microsoft.com/office/powerpoint/2010/main" val="12624165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38</a:t>
            </a:fld>
            <a:endParaRPr lang="en-US"/>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E3348C1-D362-E1FA-3BDF-0C694F31A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33CF1A30-8547-FA78-77D6-6E8E9669338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42038" y="993295"/>
            <a:ext cx="9888415" cy="5560785"/>
          </a:xfrm>
          <a:prstGeom prst="rect">
            <a:avLst/>
          </a:prstGeom>
        </p:spPr>
      </p:pic>
    </p:spTree>
    <p:extLst>
      <p:ext uri="{BB962C8B-B14F-4D97-AF65-F5344CB8AC3E}">
        <p14:creationId xmlns:p14="http://schemas.microsoft.com/office/powerpoint/2010/main" val="20575707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39</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150913" y="633037"/>
            <a:ext cx="7965831" cy="5472965"/>
          </a:xfrm>
        </p:spPr>
        <p:txBody>
          <a:bodyPr/>
          <a:lstStyle/>
          <a:p>
            <a:pPr algn="ctr"/>
            <a:r>
              <a:rPr lang="pl-PL" sz="3600" b="1" i="0" u="none" strike="noStrike" baseline="0" dirty="0">
                <a:latin typeface="Mundial"/>
              </a:rPr>
              <a:t> BUDYNKI CAMPUSU PJATK </a:t>
            </a:r>
          </a:p>
          <a:p>
            <a:pPr algn="l"/>
            <a:endParaRPr lang="pl-PL" sz="3600" dirty="0">
              <a:latin typeface="Mundial"/>
            </a:endParaRPr>
          </a:p>
          <a:p>
            <a:pPr algn="l"/>
            <a:endParaRPr lang="pl-PL" sz="3600" b="0" i="0" u="none" strike="noStrike" baseline="0" dirty="0">
              <a:latin typeface="Mundial"/>
            </a:endParaRPr>
          </a:p>
          <a:p>
            <a:pPr algn="l"/>
            <a:endParaRPr lang="pl-PL" sz="3600" dirty="0">
              <a:latin typeface="Mundial"/>
            </a:endParaRPr>
          </a:p>
          <a:p>
            <a:pPr algn="l"/>
            <a:endParaRPr lang="pl-PL" sz="3600" dirty="0">
              <a:latin typeface="Mundial"/>
            </a:endParaRPr>
          </a:p>
          <a:p>
            <a:pPr algn="ctr"/>
            <a:endParaRPr lang="pl-PL" sz="3600" b="1" dirty="0">
              <a:latin typeface="Mundial"/>
            </a:endParaRPr>
          </a:p>
          <a:p>
            <a:pPr algn="ctr"/>
            <a:r>
              <a:rPr lang="pl-PL" sz="3600" b="1" dirty="0">
                <a:latin typeface="Mundial"/>
              </a:rPr>
              <a:t>O</a:t>
            </a:r>
            <a:r>
              <a:rPr lang="pl-PL" sz="3600" b="1" i="0" u="none" strike="noStrike" baseline="0" dirty="0">
                <a:latin typeface="Mundial"/>
              </a:rPr>
              <a:t>BJĘTE SĄ MONITORINGIEM</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3F35EF95-5F29-7A3A-8676-C5FD7FEBA1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ctv Ikona Kamery Bezpieczeństwa Monitoring Wizyjny - Stockowe grafiki  wektorowe i więcej obrazów Kradzież - iStock">
            <a:extLst>
              <a:ext uri="{FF2B5EF4-FFF2-40B4-BE49-F238E27FC236}">
                <a16:creationId xmlns:a16="http://schemas.microsoft.com/office/drawing/2014/main" id="{F6F8A5EF-ED11-0BD8-3741-AA4C727DAB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0939" y="1579775"/>
            <a:ext cx="3962400" cy="3962400"/>
          </a:xfrm>
          <a:prstGeom prst="rect">
            <a:avLst/>
          </a:prstGeom>
          <a:noFill/>
          <a:extLst>
            <a:ext uri="{909E8E84-426E-40DD-AFC4-6F175D3DCCD1}">
              <a14:hiddenFill xmlns:a14="http://schemas.microsoft.com/office/drawing/2010/main">
                <a:solidFill>
                  <a:srgbClr val="FFFFFF"/>
                </a:solidFill>
              </a14:hiddenFill>
            </a:ext>
          </a:extLst>
        </p:spPr>
      </p:pic>
      <p:sp>
        <p:nvSpPr>
          <p:cNvPr id="12" name="Tytuł 1">
            <a:extLst>
              <a:ext uri="{FF2B5EF4-FFF2-40B4-BE49-F238E27FC236}">
                <a16:creationId xmlns:a16="http://schemas.microsoft.com/office/drawing/2014/main" id="{4E4F09C2-A515-45C4-8E34-DCC2090D6512}"/>
              </a:ext>
            </a:extLst>
          </p:cNvPr>
          <p:cNvSpPr txBox="1">
            <a:spLocks/>
          </p:cNvSpPr>
          <p:nvPr/>
        </p:nvSpPr>
        <p:spPr>
          <a:xfrm>
            <a:off x="517236" y="1315758"/>
            <a:ext cx="1995733" cy="12294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baseline="0">
                <a:solidFill>
                  <a:schemeClr val="tx1"/>
                </a:solidFill>
                <a:latin typeface="Mundial" pitchFamily="50" charset="-18"/>
                <a:ea typeface="+mj-ea"/>
                <a:cs typeface="+mj-cs"/>
              </a:defRPr>
            </a:lvl1pPr>
          </a:lstStyle>
          <a:p>
            <a:r>
              <a:rPr lang="pl-PL" b="1">
                <a:latin typeface="Mundial"/>
              </a:rPr>
              <a:t>Zasady poruszania się po terenie campusu PJATK</a:t>
            </a:r>
            <a:endParaRPr lang="pl-PL" b="1" dirty="0">
              <a:latin typeface="Mundial"/>
            </a:endParaRPr>
          </a:p>
        </p:txBody>
      </p:sp>
    </p:spTree>
    <p:extLst>
      <p:ext uri="{BB962C8B-B14F-4D97-AF65-F5344CB8AC3E}">
        <p14:creationId xmlns:p14="http://schemas.microsoft.com/office/powerpoint/2010/main" val="4638039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40</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182815" y="730250"/>
            <a:ext cx="7965831" cy="5472965"/>
          </a:xfrm>
        </p:spPr>
        <p:txBody>
          <a:bodyPr/>
          <a:lstStyle/>
          <a:p>
            <a:pPr algn="l"/>
            <a:endParaRPr lang="pl-PL" sz="1050" b="1" dirty="0">
              <a:solidFill>
                <a:srgbClr val="C00000"/>
              </a:solidFill>
              <a:latin typeface="Mundial"/>
            </a:endParaRPr>
          </a:p>
          <a:p>
            <a:pPr marL="379413" indent="-285750" algn="l">
              <a:buFont typeface="Wingdings" panose="05000000000000000000" pitchFamily="2" charset="2"/>
              <a:buChar char="ü"/>
            </a:pPr>
            <a:r>
              <a:rPr lang="pl-PL" sz="2400" b="1" dirty="0">
                <a:solidFill>
                  <a:srgbClr val="C00000"/>
                </a:solidFill>
                <a:latin typeface="Mundial"/>
              </a:rPr>
              <a:t>Na terenie obiektów Campusu PJATK mogą przebywać tylko osoby upoważnione</a:t>
            </a:r>
          </a:p>
          <a:p>
            <a:pPr marL="379413" indent="-285750" algn="l">
              <a:buFont typeface="Wingdings" panose="05000000000000000000" pitchFamily="2" charset="2"/>
              <a:buChar char="ü"/>
            </a:pPr>
            <a:r>
              <a:rPr lang="pl-PL" sz="2400" b="1" dirty="0">
                <a:latin typeface="Mundial"/>
              </a:rPr>
              <a:t>Do części pomieszczeń wstęp możliwy jest tylko z odpowiednim poziomem dostępu (np. dla pracowników dydaktycznych lub administracji)</a:t>
            </a:r>
          </a:p>
          <a:p>
            <a:pPr marL="379413" indent="-285750" algn="l">
              <a:buFont typeface="Wingdings" panose="05000000000000000000" pitchFamily="2" charset="2"/>
              <a:buChar char="ü"/>
            </a:pPr>
            <a:r>
              <a:rPr lang="pl-PL" sz="2400" b="1" i="0" u="none" strike="noStrike" baseline="0" dirty="0">
                <a:solidFill>
                  <a:srgbClr val="C00000"/>
                </a:solidFill>
                <a:latin typeface="Mundial"/>
              </a:rPr>
              <a:t>Należy korzystać tylko z wyznaczonych dróg, chodników i przejść</a:t>
            </a:r>
          </a:p>
          <a:p>
            <a:pPr marL="379413" indent="-285750" algn="l">
              <a:buFont typeface="Wingdings" panose="05000000000000000000" pitchFamily="2" charset="2"/>
              <a:buChar char="ü"/>
            </a:pPr>
            <a:r>
              <a:rPr lang="pl-PL" sz="2400" b="1" i="0" u="none" strike="noStrike" baseline="0" dirty="0">
                <a:latin typeface="Mundial"/>
              </a:rPr>
              <a:t>Wchodząc na drogę wewnętrzną, należy zachować szczególną ostrożność i upewnić się, czy po drodze nie poruszają się pojazdy mechaniczne, np. służb miejskich</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1AF4D7A7-B5C9-B71A-8E47-6CCC254AA5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
        <p:nvSpPr>
          <p:cNvPr id="16" name="Tytuł 1">
            <a:extLst>
              <a:ext uri="{FF2B5EF4-FFF2-40B4-BE49-F238E27FC236}">
                <a16:creationId xmlns:a16="http://schemas.microsoft.com/office/drawing/2014/main" id="{FCA7C889-7F27-487F-BF52-AE5C3927789B}"/>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Tree>
    <p:extLst>
      <p:ext uri="{BB962C8B-B14F-4D97-AF65-F5344CB8AC3E}">
        <p14:creationId xmlns:p14="http://schemas.microsoft.com/office/powerpoint/2010/main" val="2121412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41</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182815" y="730250"/>
            <a:ext cx="7965831" cy="5472965"/>
          </a:xfrm>
        </p:spPr>
        <p:txBody>
          <a:bodyPr/>
          <a:lstStyle/>
          <a:p>
            <a:pPr marL="379413" indent="-285750">
              <a:buFont typeface="Wingdings" panose="05000000000000000000" pitchFamily="2" charset="2"/>
              <a:buChar char="ü"/>
            </a:pPr>
            <a:endParaRPr lang="pl-PL" sz="2400" b="1" dirty="0">
              <a:solidFill>
                <a:srgbClr val="C00000"/>
              </a:solidFill>
              <a:latin typeface="Mundial"/>
            </a:endParaRPr>
          </a:p>
          <a:p>
            <a:pPr marL="379413" indent="-285750">
              <a:buFont typeface="Wingdings" panose="05000000000000000000" pitchFamily="2" charset="2"/>
              <a:buChar char="ü"/>
            </a:pPr>
            <a:r>
              <a:rPr lang="pl-PL" sz="2400" b="1" dirty="0">
                <a:solidFill>
                  <a:srgbClr val="C00000"/>
                </a:solidFill>
                <a:latin typeface="Mundial"/>
              </a:rPr>
              <a:t>Przemieszczając się między budynkami Campusu (np. z budynku A do budynku H), należy zachować szczególną ostrożność oraz stosować </a:t>
            </a:r>
            <a:r>
              <a:rPr lang="pl-PL" sz="2400" b="1" dirty="0" err="1">
                <a:solidFill>
                  <a:srgbClr val="C00000"/>
                </a:solidFill>
                <a:latin typeface="Mundial"/>
              </a:rPr>
              <a:t>ogólno</a:t>
            </a:r>
            <a:r>
              <a:rPr lang="pl-PL" sz="2400" b="1" dirty="0">
                <a:solidFill>
                  <a:srgbClr val="C00000"/>
                </a:solidFill>
                <a:latin typeface="Mundial"/>
              </a:rPr>
              <a:t> przyjęte zasady i przepisy  ruchu drogowego</a:t>
            </a:r>
          </a:p>
          <a:p>
            <a:pPr marL="379413" indent="-285750" algn="l">
              <a:buFont typeface="Wingdings" panose="05000000000000000000" pitchFamily="2" charset="2"/>
              <a:buChar char="ü"/>
            </a:pPr>
            <a:r>
              <a:rPr lang="pl-PL" sz="2400" b="1" i="0" u="none" strike="noStrike" baseline="0" dirty="0">
                <a:latin typeface="Mundial"/>
              </a:rPr>
              <a:t>Niosąc przedmioty</a:t>
            </a:r>
            <a:r>
              <a:rPr lang="pl-PL" sz="2400" b="1" dirty="0">
                <a:latin typeface="Mundial"/>
              </a:rPr>
              <a:t> </a:t>
            </a:r>
            <a:r>
              <a:rPr lang="pl-PL" sz="2400" b="1" i="0" u="none" strike="noStrike" baseline="0" dirty="0">
                <a:latin typeface="Mundial"/>
              </a:rPr>
              <a:t>lub narzędzia należy je zabezpieczyć, aby nie przeszkadzały innym użytkownikom drogi</a:t>
            </a:r>
          </a:p>
          <a:p>
            <a:pPr marL="379413" indent="-285750" algn="l">
              <a:buFont typeface="Wingdings" panose="05000000000000000000" pitchFamily="2" charset="2"/>
              <a:buChar char="ü"/>
            </a:pPr>
            <a:r>
              <a:rPr lang="pl-PL" sz="2400" b="1" i="0" u="none" strike="noStrike" baseline="0" dirty="0">
                <a:solidFill>
                  <a:srgbClr val="C00000"/>
                </a:solidFill>
                <a:latin typeface="Mundial"/>
              </a:rPr>
              <a:t>Nie wolno tarasować i zaśmiecać ciągów komunikacyjnych</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1AF4D7A7-B5C9-B71A-8E47-6CCC254AA5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
        <p:nvSpPr>
          <p:cNvPr id="10" name="Tytuł 1">
            <a:extLst>
              <a:ext uri="{FF2B5EF4-FFF2-40B4-BE49-F238E27FC236}">
                <a16:creationId xmlns:a16="http://schemas.microsoft.com/office/drawing/2014/main" id="{6CAF38E9-C8DC-4732-94A4-14DFBE9CFF95}"/>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Tree>
    <p:extLst>
      <p:ext uri="{BB962C8B-B14F-4D97-AF65-F5344CB8AC3E}">
        <p14:creationId xmlns:p14="http://schemas.microsoft.com/office/powerpoint/2010/main" val="1539124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42</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182815" y="730250"/>
            <a:ext cx="7965831" cy="5472965"/>
          </a:xfrm>
        </p:spPr>
        <p:txBody>
          <a:bodyPr/>
          <a:lstStyle/>
          <a:p>
            <a:pPr marL="379413" indent="-285750" algn="l">
              <a:buFont typeface="Wingdings" panose="05000000000000000000" pitchFamily="2" charset="2"/>
              <a:buChar char="ü"/>
            </a:pPr>
            <a:endParaRPr lang="pl-PL" sz="2400" b="1" i="0" u="none" strike="noStrike" baseline="0" dirty="0">
              <a:latin typeface="Mundial"/>
            </a:endParaRPr>
          </a:p>
          <a:p>
            <a:pPr marL="379413" indent="-285750" algn="l">
              <a:buFont typeface="Wingdings" panose="05000000000000000000" pitchFamily="2" charset="2"/>
              <a:buChar char="ü"/>
            </a:pPr>
            <a:r>
              <a:rPr lang="pl-PL" sz="2400" b="1" i="0" u="none" strike="noStrike" baseline="0" dirty="0">
                <a:latin typeface="Mundial"/>
              </a:rPr>
              <a:t>Nie wolno zasłaniać, przestawiać, zmieniać lub usuwać znaków i sygnałów oraz urządzeń ostrzegawczych i zabezpieczających</a:t>
            </a:r>
          </a:p>
          <a:p>
            <a:pPr marL="379413" indent="-285750" algn="l">
              <a:buFont typeface="Wingdings" panose="05000000000000000000" pitchFamily="2" charset="2"/>
              <a:buChar char="ü"/>
            </a:pPr>
            <a:r>
              <a:rPr lang="pl-PL" sz="2400" b="1" dirty="0">
                <a:solidFill>
                  <a:srgbClr val="C00000"/>
                </a:solidFill>
                <a:latin typeface="Mundial"/>
              </a:rPr>
              <a:t>Należy z</a:t>
            </a:r>
            <a:r>
              <a:rPr lang="pl-PL" sz="2400" b="1" i="0" u="none" strike="noStrike" baseline="0" dirty="0">
                <a:solidFill>
                  <a:srgbClr val="C00000"/>
                </a:solidFill>
                <a:latin typeface="Mundial"/>
              </a:rPr>
              <a:t>achować szczególną ostrożność przy chodzeniu po schodach</a:t>
            </a:r>
          </a:p>
          <a:p>
            <a:pPr marL="379413" indent="-285750" algn="l">
              <a:buFont typeface="Wingdings" panose="05000000000000000000" pitchFamily="2" charset="2"/>
              <a:buChar char="ü"/>
            </a:pPr>
            <a:r>
              <a:rPr lang="pl-PL" sz="2400" b="1" dirty="0">
                <a:latin typeface="Mundial"/>
              </a:rPr>
              <a:t>Należy zachować szczególną ostrożność przy korzystaniu z windy</a:t>
            </a:r>
          </a:p>
          <a:p>
            <a:pPr algn="ctr"/>
            <a:r>
              <a:rPr lang="pl-PL" sz="2800" b="1" u="sng" dirty="0">
                <a:solidFill>
                  <a:srgbClr val="C00000"/>
                </a:solidFill>
                <a:latin typeface="Mundial"/>
              </a:rPr>
              <a:t>Na terenie całego Campusu PJATK o</a:t>
            </a:r>
            <a:r>
              <a:rPr lang="pl-PL" sz="2800" b="1" i="0" u="sng" strike="noStrike" baseline="0" dirty="0">
                <a:solidFill>
                  <a:srgbClr val="C00000"/>
                </a:solidFill>
                <a:latin typeface="Mundial"/>
              </a:rPr>
              <a:t>bowiązuje ruch prawostronny</a:t>
            </a:r>
          </a:p>
          <a:p>
            <a:pPr marL="379413" indent="-285750" algn="l">
              <a:buFont typeface="Wingdings" panose="05000000000000000000" pitchFamily="2" charset="2"/>
              <a:buChar char="ü"/>
            </a:pPr>
            <a:endParaRPr lang="pl-PL" sz="2400" b="1" i="0" u="none" strike="noStrike" baseline="0" dirty="0">
              <a:solidFill>
                <a:srgbClr val="C00000"/>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1AF4D7A7-B5C9-B71A-8E47-6CCC254AA5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
        <p:nvSpPr>
          <p:cNvPr id="10" name="Tytuł 1">
            <a:extLst>
              <a:ext uri="{FF2B5EF4-FFF2-40B4-BE49-F238E27FC236}">
                <a16:creationId xmlns:a16="http://schemas.microsoft.com/office/drawing/2014/main" id="{86F67CA3-E6A4-4699-AA92-505EC244B635}"/>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Tree>
    <p:extLst>
      <p:ext uri="{BB962C8B-B14F-4D97-AF65-F5344CB8AC3E}">
        <p14:creationId xmlns:p14="http://schemas.microsoft.com/office/powerpoint/2010/main" val="2366422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43</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150913" y="633037"/>
            <a:ext cx="7965831" cy="5472965"/>
          </a:xfrm>
        </p:spPr>
        <p:txBody>
          <a:bodyPr/>
          <a:lstStyle/>
          <a:p>
            <a:pPr algn="ctr"/>
            <a:r>
              <a:rPr lang="pl-PL" sz="3600" b="1" i="0" u="none" strike="noStrike" baseline="0" dirty="0">
                <a:latin typeface="Mundial"/>
              </a:rPr>
              <a:t>Na terenie Campusu PJATK </a:t>
            </a:r>
          </a:p>
          <a:p>
            <a:pPr algn="l"/>
            <a:endParaRPr lang="pl-PL" sz="3600" dirty="0">
              <a:latin typeface="Mundial"/>
            </a:endParaRPr>
          </a:p>
          <a:p>
            <a:pPr algn="l"/>
            <a:endParaRPr lang="pl-PL" sz="3600" b="0" i="0" u="none" strike="noStrike" baseline="0" dirty="0">
              <a:latin typeface="Mundial"/>
            </a:endParaRPr>
          </a:p>
          <a:p>
            <a:pPr algn="l"/>
            <a:endParaRPr lang="pl-PL" sz="3600" dirty="0">
              <a:latin typeface="Mundial"/>
            </a:endParaRPr>
          </a:p>
          <a:p>
            <a:pPr algn="l"/>
            <a:endParaRPr lang="pl-PL" sz="3600" b="0" i="0" u="none" strike="noStrike" baseline="0" dirty="0">
              <a:latin typeface="Mundial"/>
            </a:endParaRPr>
          </a:p>
          <a:p>
            <a:pPr algn="l"/>
            <a:endParaRPr lang="pl-PL" sz="3600" dirty="0">
              <a:latin typeface="Mundial"/>
            </a:endParaRPr>
          </a:p>
          <a:p>
            <a:pPr algn="ctr"/>
            <a:r>
              <a:rPr lang="pl-PL" sz="3600" b="1" i="0" u="none" strike="noStrike" baseline="0" dirty="0">
                <a:latin typeface="Mundial"/>
              </a:rPr>
              <a:t>obowiązuje całkowit</a:t>
            </a:r>
            <a:r>
              <a:rPr lang="pl-PL" sz="3600" b="1" dirty="0">
                <a:latin typeface="Mundial"/>
              </a:rPr>
              <a:t>y zakaz palenia</a:t>
            </a:r>
            <a:endParaRPr lang="pl-PL" sz="3600" b="1" i="0" u="none" strike="noStrike" baseline="0" dirty="0">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E620FF08-8ACC-A266-BC11-C2BFDEE016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1789" y="1349189"/>
            <a:ext cx="4484077" cy="4484077"/>
          </a:xfrm>
          <a:prstGeom prst="rect">
            <a:avLst/>
          </a:prstGeom>
        </p:spPr>
      </p:pic>
      <p:pic>
        <p:nvPicPr>
          <p:cNvPr id="6" name="Picture 4">
            <a:extLst>
              <a:ext uri="{FF2B5EF4-FFF2-40B4-BE49-F238E27FC236}">
                <a16:creationId xmlns:a16="http://schemas.microsoft.com/office/drawing/2014/main" id="{3F35EF95-5F29-7A3A-8676-C5FD7FEBA12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
        <p:nvSpPr>
          <p:cNvPr id="11" name="Tytuł 1">
            <a:extLst>
              <a:ext uri="{FF2B5EF4-FFF2-40B4-BE49-F238E27FC236}">
                <a16:creationId xmlns:a16="http://schemas.microsoft.com/office/drawing/2014/main" id="{05ED6F28-EF4A-48DF-9346-5D4B303221BA}"/>
              </a:ext>
            </a:extLst>
          </p:cNvPr>
          <p:cNvSpPr>
            <a:spLocks noGrp="1"/>
          </p:cNvSpPr>
          <p:nvPr>
            <p:ph type="title"/>
          </p:nvPr>
        </p:nvSpPr>
        <p:spPr>
          <a:xfrm>
            <a:off x="517236" y="1315758"/>
            <a:ext cx="1995733" cy="1229479"/>
          </a:xfrm>
        </p:spPr>
        <p:txBody>
          <a:bodyPr>
            <a:normAutofit/>
          </a:bodyPr>
          <a:lstStyle/>
          <a:p>
            <a:pPr algn="l"/>
            <a:r>
              <a:rPr lang="pl-PL" sz="2000" b="1" i="0" u="none" strike="noStrike" baseline="0" dirty="0">
                <a:latin typeface="Mundial"/>
              </a:rPr>
              <a:t>Zasady poruszania się po terenie campusu PJATK</a:t>
            </a:r>
          </a:p>
        </p:txBody>
      </p:sp>
    </p:spTree>
    <p:extLst>
      <p:ext uri="{BB962C8B-B14F-4D97-AF65-F5344CB8AC3E}">
        <p14:creationId xmlns:p14="http://schemas.microsoft.com/office/powerpoint/2010/main" val="8388311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44</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algn="ctr"/>
            <a:endParaRPr lang="pl-PL" sz="4000" b="1" i="0" u="none" strike="noStrike" baseline="0" dirty="0">
              <a:latin typeface="Mundial"/>
            </a:endParaRPr>
          </a:p>
          <a:p>
            <a:pPr algn="ctr"/>
            <a:r>
              <a:rPr lang="pl-PL" sz="4000" b="1" i="0" u="none" strike="noStrike" baseline="0" dirty="0">
                <a:latin typeface="Mundial"/>
              </a:rPr>
              <a:t>Zagrożenia dla zdrowia i wypadkowe występujące w PJATK</a:t>
            </a: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596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Zagrożenia dla zdrowia i wypadkowe występujące w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45</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just">
              <a:lnSpc>
                <a:spcPct val="150000"/>
              </a:lnSpc>
              <a:spcAft>
                <a:spcPts val="800"/>
              </a:spcAft>
            </a:pPr>
            <a:r>
              <a:rPr lang="pl-PL" sz="2000" b="1" dirty="0">
                <a:solidFill>
                  <a:srgbClr val="C00000"/>
                </a:solidFill>
                <a:effectLst/>
                <a:latin typeface="Mundial "/>
                <a:ea typeface="Calibri" panose="020F0502020204030204" pitchFamily="34" charset="0"/>
                <a:cs typeface="Times New Roman" panose="02020603050405020304" pitchFamily="18" charset="0"/>
              </a:rPr>
              <a:t>Zagrożenie na stanowisku pracy</a:t>
            </a:r>
            <a:r>
              <a:rPr lang="pl-PL" sz="2000" b="1" dirty="0">
                <a:solidFill>
                  <a:srgbClr val="C00000"/>
                </a:solidFill>
                <a:latin typeface="Mundial "/>
                <a:ea typeface="Calibri" panose="020F0502020204030204" pitchFamily="34" charset="0"/>
                <a:cs typeface="Times New Roman" panose="02020603050405020304" pitchFamily="18" charset="0"/>
              </a:rPr>
              <a:t> (</a:t>
            </a:r>
            <a:r>
              <a:rPr lang="pl-PL" sz="2000" b="1" dirty="0">
                <a:solidFill>
                  <a:srgbClr val="C00000"/>
                </a:solidFill>
                <a:effectLst/>
                <a:latin typeface="Mundial "/>
                <a:ea typeface="Calibri" panose="020F0502020204030204" pitchFamily="34" charset="0"/>
                <a:cs typeface="Times New Roman" panose="02020603050405020304" pitchFamily="18" charset="0"/>
              </a:rPr>
              <a:t>nauki) </a:t>
            </a:r>
            <a:r>
              <a:rPr lang="pl-PL" sz="2000" dirty="0">
                <a:effectLst/>
                <a:latin typeface="Mundial "/>
                <a:ea typeface="Calibri" panose="020F0502020204030204" pitchFamily="34" charset="0"/>
                <a:cs typeface="Times New Roman" panose="02020603050405020304" pitchFamily="18" charset="0"/>
              </a:rPr>
              <a:t>- </a:t>
            </a:r>
            <a:r>
              <a:rPr lang="pl-PL" sz="2000" dirty="0">
                <a:latin typeface="Mundial "/>
                <a:ea typeface="Calibri" panose="020F0502020204030204" pitchFamily="34" charset="0"/>
                <a:cs typeface="Times New Roman" panose="02020603050405020304" pitchFamily="18" charset="0"/>
              </a:rPr>
              <a:t>możliwość</a:t>
            </a:r>
            <a:r>
              <a:rPr lang="pl-PL" sz="2000" dirty="0">
                <a:effectLst/>
                <a:latin typeface="Mundial "/>
                <a:ea typeface="Calibri" panose="020F0502020204030204" pitchFamily="34" charset="0"/>
                <a:cs typeface="Times New Roman" panose="02020603050405020304" pitchFamily="18" charset="0"/>
              </a:rPr>
              <a:t> wywołania jakiegokolwiek uszkodzenia zdrowia lub/i śmierci człowieka lub też straty materialnej (także środowiska naturalnego). Inna definicja mówi, że zagrożenie w środowisku pracy to </a:t>
            </a:r>
            <a:r>
              <a:rPr lang="pl-PL" sz="2000" b="1" dirty="0">
                <a:solidFill>
                  <a:srgbClr val="C00000"/>
                </a:solidFill>
                <a:effectLst/>
                <a:latin typeface="Mundial "/>
                <a:ea typeface="Calibri" panose="020F0502020204030204" pitchFamily="34" charset="0"/>
                <a:cs typeface="Times New Roman" panose="02020603050405020304" pitchFamily="18" charset="0"/>
              </a:rPr>
              <a:t>każdy czynnik i/lub sytuacja, który może spowodować wypadek i/lub chorobę. </a:t>
            </a:r>
          </a:p>
          <a:p>
            <a:pPr algn="just">
              <a:lnSpc>
                <a:spcPct val="150000"/>
              </a:lnSpc>
              <a:spcAft>
                <a:spcPts val="800"/>
              </a:spcAft>
            </a:pPr>
            <a:endParaRPr lang="pl-PL" sz="2000" dirty="0">
              <a:effectLst/>
              <a:latin typeface="Mundial "/>
              <a:ea typeface="Calibri" panose="020F0502020204030204" pitchFamily="34" charset="0"/>
              <a:cs typeface="Times New Roman" panose="02020603050405020304" pitchFamily="18" charset="0"/>
            </a:endParaRPr>
          </a:p>
          <a:p>
            <a:pPr algn="just">
              <a:lnSpc>
                <a:spcPct val="150000"/>
              </a:lnSpc>
              <a:spcAft>
                <a:spcPts val="800"/>
              </a:spcAft>
            </a:pPr>
            <a:r>
              <a:rPr lang="pl-PL" sz="2000" dirty="0">
                <a:effectLst/>
                <a:latin typeface="Mundial "/>
                <a:ea typeface="Calibri" panose="020F0502020204030204" pitchFamily="34" charset="0"/>
                <a:cs typeface="Times New Roman" panose="02020603050405020304" pitchFamily="18" charset="0"/>
              </a:rPr>
              <a:t>Zagrożenie </a:t>
            </a:r>
            <a:r>
              <a:rPr lang="pl-PL" sz="2000" b="1" dirty="0">
                <a:effectLst/>
                <a:latin typeface="Mundial "/>
                <a:ea typeface="Calibri" panose="020F0502020204030204" pitchFamily="34" charset="0"/>
                <a:cs typeface="Times New Roman" panose="02020603050405020304" pitchFamily="18" charset="0"/>
              </a:rPr>
              <a:t>może występować stale </a:t>
            </a:r>
            <a:r>
              <a:rPr lang="pl-PL" sz="2000" dirty="0">
                <a:effectLst/>
                <a:latin typeface="Mundial "/>
                <a:ea typeface="Calibri" panose="020F0502020204030204" pitchFamily="34" charset="0"/>
                <a:cs typeface="Times New Roman" panose="02020603050405020304" pitchFamily="18" charset="0"/>
              </a:rPr>
              <a:t>(np. stale korzysta się z komputera i monitora ekranowego) </a:t>
            </a:r>
            <a:r>
              <a:rPr lang="pl-PL" sz="2000" b="1" dirty="0">
                <a:effectLst/>
                <a:latin typeface="Mundial "/>
                <a:ea typeface="Calibri" panose="020F0502020204030204" pitchFamily="34" charset="0"/>
                <a:cs typeface="Times New Roman" panose="02020603050405020304" pitchFamily="18" charset="0"/>
              </a:rPr>
              <a:t>lub nadzwyczajnie </a:t>
            </a:r>
            <a:r>
              <a:rPr lang="pl-PL" sz="2000" dirty="0">
                <a:effectLst/>
                <a:latin typeface="Mundial "/>
                <a:ea typeface="Calibri" panose="020F0502020204030204" pitchFamily="34" charset="0"/>
                <a:cs typeface="Times New Roman" panose="02020603050405020304" pitchFamily="18" charset="0"/>
              </a:rPr>
              <a:t>w wyniku zdarzenia niezaplanowanego, przypadkowego (np. uszkodzenia instalacji w budynku uczelni).</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BFC81F56-BC3D-18D1-5B74-77099E7DE0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1462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Zagrożenia dla zdrowia i wypadkowe występujące w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46</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ctr">
              <a:lnSpc>
                <a:spcPct val="150000"/>
              </a:lnSpc>
              <a:spcAft>
                <a:spcPts val="800"/>
              </a:spcAft>
            </a:pPr>
            <a:r>
              <a:rPr lang="pl-PL" sz="2600" b="1" dirty="0">
                <a:solidFill>
                  <a:srgbClr val="C00000"/>
                </a:solidFill>
                <a:effectLst/>
                <a:latin typeface="Mundial "/>
                <a:ea typeface="Calibri" panose="020F0502020204030204" pitchFamily="34" charset="0"/>
                <a:cs typeface="Times New Roman" panose="02020603050405020304" pitchFamily="18" charset="0"/>
              </a:rPr>
              <a:t>IDENTYFIKACJA NAJCZĘŚCIEJ WYSTĘPUJĄCYCH ZAGROŻEŃ WYPADKOWYCH </a:t>
            </a:r>
            <a:r>
              <a:rPr lang="pl-PL" sz="2600" b="1" dirty="0">
                <a:solidFill>
                  <a:srgbClr val="C00000"/>
                </a:solidFill>
                <a:latin typeface="Mundial "/>
                <a:ea typeface="Calibri" panose="020F0502020204030204" pitchFamily="34" charset="0"/>
                <a:cs typeface="Times New Roman" panose="02020603050405020304" pitchFamily="18" charset="0"/>
              </a:rPr>
              <a:t>W</a:t>
            </a:r>
            <a:r>
              <a:rPr lang="pl-PL" sz="2600" b="1" dirty="0">
                <a:solidFill>
                  <a:srgbClr val="C00000"/>
                </a:solidFill>
                <a:effectLst/>
                <a:latin typeface="Mundial "/>
                <a:ea typeface="Calibri" panose="020F0502020204030204" pitchFamily="34" charset="0"/>
                <a:cs typeface="Times New Roman" panose="02020603050405020304" pitchFamily="18" charset="0"/>
              </a:rPr>
              <a:t> UCZELNI</a:t>
            </a:r>
            <a:endParaRPr lang="pl-PL" sz="800" b="1" dirty="0">
              <a:solidFill>
                <a:srgbClr val="C00000"/>
              </a:solidFill>
              <a:effectLst/>
              <a:latin typeface="Mundial "/>
              <a:ea typeface="Calibri" panose="020F0502020204030204" pitchFamily="34" charset="0"/>
              <a:cs typeface="Times New Roman" panose="02020603050405020304" pitchFamily="18" charset="0"/>
            </a:endParaRPr>
          </a:p>
          <a:p>
            <a:pPr marL="436563" indent="-342900" algn="just">
              <a:lnSpc>
                <a:spcPct val="150000"/>
              </a:lnSpc>
              <a:spcBef>
                <a:spcPts val="0"/>
              </a:spcBef>
              <a:buFont typeface="Wingdings" panose="05000000000000000000" pitchFamily="2" charset="2"/>
              <a:buChar char="ü"/>
            </a:pPr>
            <a:r>
              <a:rPr lang="pl-PL" sz="2800" b="1" dirty="0">
                <a:latin typeface="Mundial "/>
                <a:ea typeface="Calibri" panose="020F0502020204030204" pitchFamily="34" charset="0"/>
                <a:cs typeface="Times New Roman" panose="02020603050405020304" pitchFamily="18" charset="0"/>
              </a:rPr>
              <a:t>Upadek lub poślizgnięcie na powierzchni płaskiej lub schodach</a:t>
            </a:r>
          </a:p>
          <a:p>
            <a:pPr marL="436563" indent="-342900" algn="just">
              <a:lnSpc>
                <a:spcPct val="150000"/>
              </a:lnSpc>
              <a:spcBef>
                <a:spcPts val="0"/>
              </a:spcBef>
              <a:buFont typeface="Wingdings" panose="05000000000000000000" pitchFamily="2" charset="2"/>
              <a:buChar char="ü"/>
            </a:pPr>
            <a:r>
              <a:rPr lang="pl-PL" sz="2800" b="1" dirty="0">
                <a:solidFill>
                  <a:srgbClr val="C00000"/>
                </a:solidFill>
                <a:latin typeface="Mundial "/>
                <a:ea typeface="Calibri" panose="020F0502020204030204" pitchFamily="34" charset="0"/>
                <a:cs typeface="Times New Roman" panose="02020603050405020304" pitchFamily="18" charset="0"/>
              </a:rPr>
              <a:t>Przemieszczanie się ludzi na terenie uczelni</a:t>
            </a:r>
          </a:p>
          <a:p>
            <a:pPr marL="436563" indent="-342900" algn="just">
              <a:lnSpc>
                <a:spcPct val="150000"/>
              </a:lnSpc>
              <a:spcBef>
                <a:spcPts val="0"/>
              </a:spcBef>
              <a:buFont typeface="Wingdings" panose="05000000000000000000" pitchFamily="2" charset="2"/>
              <a:buChar char="ü"/>
            </a:pPr>
            <a:r>
              <a:rPr lang="pl-PL" sz="2800" b="1" dirty="0">
                <a:latin typeface="Mundial "/>
                <a:ea typeface="Calibri" panose="020F0502020204030204" pitchFamily="34" charset="0"/>
                <a:cs typeface="Times New Roman" panose="02020603050405020304" pitchFamily="18" charset="0"/>
              </a:rPr>
              <a:t>Elementy luźne i ruchome, ostre i wystające</a:t>
            </a:r>
          </a:p>
          <a:p>
            <a:pPr marL="436563" indent="-342900" algn="just">
              <a:lnSpc>
                <a:spcPct val="150000"/>
              </a:lnSpc>
              <a:spcBef>
                <a:spcPts val="0"/>
              </a:spcBef>
              <a:buFont typeface="Wingdings" panose="05000000000000000000" pitchFamily="2" charset="2"/>
              <a:buChar char="ü"/>
            </a:pPr>
            <a:r>
              <a:rPr lang="pl-PL" sz="2800" b="1" dirty="0">
                <a:solidFill>
                  <a:srgbClr val="C00000"/>
                </a:solidFill>
                <a:latin typeface="Mundial "/>
                <a:ea typeface="Calibri" panose="020F0502020204030204" pitchFamily="34" charset="0"/>
                <a:cs typeface="Times New Roman" panose="02020603050405020304" pitchFamily="18" charset="0"/>
              </a:rPr>
              <a:t>Porażenie prądem elektrycznym</a:t>
            </a:r>
          </a:p>
          <a:p>
            <a:pPr marL="436563" indent="-342900" algn="just">
              <a:lnSpc>
                <a:spcPct val="150000"/>
              </a:lnSpc>
              <a:spcBef>
                <a:spcPts val="0"/>
              </a:spcBef>
              <a:buFont typeface="Wingdings" panose="05000000000000000000" pitchFamily="2" charset="2"/>
              <a:buChar char="ü"/>
            </a:pPr>
            <a:r>
              <a:rPr lang="pl-PL" sz="2800" b="1" dirty="0">
                <a:latin typeface="Mundial "/>
                <a:ea typeface="Calibri" panose="020F0502020204030204" pitchFamily="34" charset="0"/>
                <a:cs typeface="Times New Roman" panose="02020603050405020304" pitchFamily="18" charset="0"/>
              </a:rPr>
              <a:t>Poparzenie</a:t>
            </a:r>
          </a:p>
          <a:p>
            <a:pPr marL="436563" indent="-342900" algn="just">
              <a:lnSpc>
                <a:spcPct val="150000"/>
              </a:lnSpc>
              <a:spcBef>
                <a:spcPts val="0"/>
              </a:spcBef>
              <a:buFont typeface="Wingdings" panose="05000000000000000000" pitchFamily="2" charset="2"/>
              <a:buChar char="ü"/>
            </a:pPr>
            <a:r>
              <a:rPr lang="pl-PL" sz="2800" b="1" dirty="0">
                <a:solidFill>
                  <a:srgbClr val="C00000"/>
                </a:solidFill>
                <a:latin typeface="Mundial "/>
                <a:ea typeface="Calibri" panose="020F0502020204030204" pitchFamily="34" charset="0"/>
                <a:cs typeface="Times New Roman" panose="02020603050405020304" pitchFamily="18" charset="0"/>
              </a:rPr>
              <a:t>Pożar i/lub wybuch</a:t>
            </a:r>
          </a:p>
          <a:p>
            <a:pPr algn="just">
              <a:lnSpc>
                <a:spcPct val="150000"/>
              </a:lnSpc>
              <a:spcBef>
                <a:spcPts val="0"/>
              </a:spcBef>
            </a:pPr>
            <a:endParaRPr lang="pl-PL" sz="2000" dirty="0">
              <a:latin typeface="Mundial "/>
              <a:ea typeface="Calibri" panose="020F0502020204030204" pitchFamily="34" charset="0"/>
              <a:cs typeface="Times New Roman" panose="02020603050405020304" pitchFamily="18" charset="0"/>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BFC81F56-BC3D-18D1-5B74-77099E7DE0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46450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Identyfikacja zagrożeń wypadkowych na campusie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47</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ctr">
              <a:lnSpc>
                <a:spcPct val="150000"/>
              </a:lnSpc>
              <a:spcBef>
                <a:spcPts val="0"/>
              </a:spcBef>
            </a:pPr>
            <a:r>
              <a:rPr lang="pl-PL" sz="2400" b="1" dirty="0">
                <a:solidFill>
                  <a:srgbClr val="C00000"/>
                </a:solidFill>
                <a:latin typeface="Mundial "/>
                <a:ea typeface="Calibri" panose="020F0502020204030204" pitchFamily="34" charset="0"/>
                <a:cs typeface="Times New Roman" panose="02020603050405020304" pitchFamily="18" charset="0"/>
              </a:rPr>
              <a:t>UPADEK LUB POŚLIZGNIĘCIE NA POWIERZCHNI PŁASKIEJ LUB SCHODACH</a:t>
            </a:r>
          </a:p>
          <a:p>
            <a:pPr algn="just">
              <a:lnSpc>
                <a:spcPct val="150000"/>
              </a:lnSpc>
              <a:spcBef>
                <a:spcPts val="0"/>
              </a:spcBef>
            </a:pPr>
            <a:r>
              <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rPr>
              <a:t> </a:t>
            </a:r>
            <a:r>
              <a:rPr lang="pl-PL" sz="1800" b="1" u="sng" dirty="0">
                <a:latin typeface="Mundial "/>
                <a:ea typeface="Calibri" panose="020F0502020204030204" pitchFamily="34" charset="0"/>
                <a:cs typeface="Times New Roman" panose="02020603050405020304" pitchFamily="18" charset="0"/>
              </a:rPr>
              <a:t>Kiedy może dojść do zdarzenia?</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rPr>
              <a:t>Przemieszczenie się Studentów pomiędzy różnymi pomieszczeniami na ternie campusu - sale wykładowe w nowej i starszej części, korzystanie ze schodów, korzystanie z węzłów sanitarnych, z bufetu. </a:t>
            </a:r>
          </a:p>
          <a:p>
            <a:pPr algn="just">
              <a:lnSpc>
                <a:spcPct val="150000"/>
              </a:lnSpc>
              <a:spcBef>
                <a:spcPts val="0"/>
              </a:spcBef>
            </a:pPr>
            <a:r>
              <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rPr>
              <a:t> </a:t>
            </a:r>
            <a:r>
              <a:rPr lang="pl-PL" sz="1800" b="1" u="sng" dirty="0">
                <a:latin typeface="Mundial "/>
                <a:ea typeface="Calibri" panose="020F0502020204030204" pitchFamily="34" charset="0"/>
                <a:cs typeface="Times New Roman" panose="02020603050405020304" pitchFamily="18" charset="0"/>
              </a:rPr>
              <a:t>Jaka może być przyczyna?</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rPr>
              <a:t>Nierówne powierzchnie wykonane z różnych materiałów (parkiet, linoleum, lastriko, kafelki, </a:t>
            </a:r>
            <a:r>
              <a:rPr lang="pl-PL" sz="1800" dirty="0" err="1">
                <a:latin typeface="Mundial "/>
                <a:ea typeface="Calibri" panose="020F0502020204030204" pitchFamily="34" charset="0"/>
                <a:cs typeface="Times New Roman" panose="02020603050405020304" pitchFamily="18" charset="0"/>
              </a:rPr>
              <a:t>itd</a:t>
            </a:r>
            <a:r>
              <a:rPr lang="pl-PL" sz="1800" dirty="0">
                <a:latin typeface="Mundial "/>
                <a:ea typeface="Calibri" panose="020F0502020204030204" pitchFamily="34" charset="0"/>
                <a:cs typeface="Times New Roman" panose="02020603050405020304" pitchFamily="18" charset="0"/>
              </a:rPr>
              <a:t>…). Zahaczenie o kable, wystające elementy. Mokra podłoga. Zbyt śliskie obuwie. Pośpiech. Brak ostrożności. </a:t>
            </a:r>
          </a:p>
          <a:p>
            <a:pPr algn="just">
              <a:lnSpc>
                <a:spcPct val="150000"/>
              </a:lnSpc>
              <a:spcBef>
                <a:spcPts val="0"/>
              </a:spcBef>
            </a:pPr>
            <a:r>
              <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rPr>
              <a:t> Jak zapobiegać?</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rPr>
              <a:t>Zwracać uwagę na listwy progowe i łączące. Zachować szczególną ostrożność przy śliskich i mokrych podłogach. Ograniczyć pośpiech.</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BFC81F56-BC3D-18D1-5B74-77099E7DE0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47482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Identyfikacja zagrożeń wypadkowych na campusie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48</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6541477" cy="5583115"/>
          </a:xfrm>
        </p:spPr>
        <p:txBody>
          <a:bodyPr/>
          <a:lstStyle/>
          <a:p>
            <a:pPr algn="ctr">
              <a:lnSpc>
                <a:spcPct val="150000"/>
              </a:lnSpc>
              <a:spcBef>
                <a:spcPts val="0"/>
              </a:spcBef>
            </a:pPr>
            <a:r>
              <a:rPr lang="pl-PL" sz="2400" b="1" dirty="0">
                <a:solidFill>
                  <a:srgbClr val="C00000"/>
                </a:solidFill>
                <a:latin typeface="Mundial "/>
                <a:ea typeface="Calibri" panose="020F0502020204030204" pitchFamily="34" charset="0"/>
                <a:cs typeface="Times New Roman" panose="02020603050405020304" pitchFamily="18" charset="0"/>
              </a:rPr>
              <a:t>UPADEK LUB POŚLIZGNIĘCIE NA POWIERZCHNI PŁASKIEJ LUB SCHODACH</a:t>
            </a:r>
          </a:p>
          <a:p>
            <a:pPr algn="ctr">
              <a:lnSpc>
                <a:spcPct val="150000"/>
              </a:lnSpc>
              <a:spcBef>
                <a:spcPts val="0"/>
              </a:spcBef>
            </a:pPr>
            <a:endParaRPr lang="pl-PL" sz="2400" b="1" dirty="0">
              <a:latin typeface="Mundial "/>
              <a:ea typeface="Calibri" panose="020F0502020204030204" pitchFamily="34" charset="0"/>
              <a:cs typeface="Times New Roman" panose="02020603050405020304" pitchFamily="18" charset="0"/>
            </a:endParaRPr>
          </a:p>
          <a:p>
            <a:pPr algn="ctr">
              <a:lnSpc>
                <a:spcPct val="150000"/>
              </a:lnSpc>
              <a:spcBef>
                <a:spcPts val="0"/>
              </a:spcBef>
            </a:pPr>
            <a:r>
              <a:rPr lang="pl-PL" sz="2400" b="1" dirty="0">
                <a:latin typeface="Mundial "/>
                <a:ea typeface="Calibri" panose="020F0502020204030204" pitchFamily="34" charset="0"/>
                <a:cs typeface="Times New Roman" panose="02020603050405020304" pitchFamily="18" charset="0"/>
              </a:rPr>
              <a:t>Należy zachować szczególną ostrożność w trakcie </a:t>
            </a:r>
          </a:p>
          <a:p>
            <a:pPr algn="ctr">
              <a:lnSpc>
                <a:spcPct val="150000"/>
              </a:lnSpc>
              <a:spcBef>
                <a:spcPts val="0"/>
              </a:spcBef>
            </a:pPr>
            <a:r>
              <a:rPr lang="pl-PL" sz="2400" b="1" u="sng">
                <a:latin typeface="Mundial "/>
                <a:ea typeface="Calibri" panose="020F0502020204030204" pitchFamily="34" charset="0"/>
                <a:cs typeface="Times New Roman" panose="02020603050405020304" pitchFamily="18" charset="0"/>
              </a:rPr>
              <a:t>korzystania </a:t>
            </a:r>
            <a:r>
              <a:rPr lang="pl-PL" sz="2400" b="1" u="sng" dirty="0">
                <a:latin typeface="Mundial "/>
                <a:ea typeface="Calibri" panose="020F0502020204030204" pitchFamily="34" charset="0"/>
                <a:cs typeface="Times New Roman" panose="02020603050405020304" pitchFamily="18" charset="0"/>
              </a:rPr>
              <a:t>z telefonu </a:t>
            </a:r>
          </a:p>
          <a:p>
            <a:pPr algn="ctr">
              <a:lnSpc>
                <a:spcPct val="150000"/>
              </a:lnSpc>
              <a:spcBef>
                <a:spcPts val="0"/>
              </a:spcBef>
            </a:pPr>
            <a:r>
              <a:rPr lang="pl-PL" sz="2400" b="1" dirty="0">
                <a:latin typeface="Mundial "/>
                <a:ea typeface="Calibri" panose="020F0502020204030204" pitchFamily="34" charset="0"/>
                <a:cs typeface="Times New Roman" panose="02020603050405020304" pitchFamily="18" charset="0"/>
              </a:rPr>
              <a:t>podczas przemieszczania się </a:t>
            </a:r>
          </a:p>
          <a:p>
            <a:pPr algn="ctr">
              <a:lnSpc>
                <a:spcPct val="150000"/>
              </a:lnSpc>
              <a:spcBef>
                <a:spcPts val="0"/>
              </a:spcBef>
            </a:pPr>
            <a:r>
              <a:rPr lang="pl-PL" sz="2400" b="1" dirty="0">
                <a:latin typeface="Mundial "/>
                <a:ea typeface="Calibri" panose="020F0502020204030204" pitchFamily="34" charset="0"/>
                <a:cs typeface="Times New Roman" panose="02020603050405020304" pitchFamily="18" charset="0"/>
              </a:rPr>
              <a:t>korytarzami i klatami schodowymi, </a:t>
            </a:r>
          </a:p>
          <a:p>
            <a:pPr algn="ctr">
              <a:lnSpc>
                <a:spcPct val="150000"/>
              </a:lnSpc>
              <a:spcBef>
                <a:spcPts val="0"/>
              </a:spcBef>
            </a:pPr>
            <a:r>
              <a:rPr lang="pl-PL" sz="2400" b="1" dirty="0">
                <a:latin typeface="Mundial "/>
                <a:ea typeface="Calibri" panose="020F0502020204030204" pitchFamily="34" charset="0"/>
                <a:cs typeface="Times New Roman" panose="02020603050405020304" pitchFamily="18" charset="0"/>
              </a:rPr>
              <a:t>zwracając uwagę na inne osoby</a:t>
            </a:r>
          </a:p>
          <a:p>
            <a:pPr algn="ctr">
              <a:lnSpc>
                <a:spcPct val="150000"/>
              </a:lnSpc>
              <a:spcBef>
                <a:spcPts val="0"/>
              </a:spcBef>
            </a:pPr>
            <a:endParaRPr lang="pl-PL" sz="2400" b="1" dirty="0">
              <a:solidFill>
                <a:srgbClr val="C00000"/>
              </a:solidFill>
              <a:latin typeface="Mundial "/>
              <a:ea typeface="Calibri" panose="020F0502020204030204" pitchFamily="34" charset="0"/>
              <a:cs typeface="Times New Roman" panose="02020603050405020304" pitchFamily="18" charset="0"/>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BFC81F56-BC3D-18D1-5B74-77099E7DE0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e point sur la loi interdisant le téléphone portable dans les écoles – la  synthèse du Dr Faitg | Association Santé Environnement France">
            <a:extLst>
              <a:ext uri="{FF2B5EF4-FFF2-40B4-BE49-F238E27FC236}">
                <a16:creationId xmlns:a16="http://schemas.microsoft.com/office/drawing/2014/main" id="{DC7D9919-C3B4-7A42-6B27-31FAD25F092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75781" y="3112477"/>
            <a:ext cx="2273636" cy="3297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4446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Identyfikacja zagrożeń wypadkowych na campusie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49</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just">
              <a:lnSpc>
                <a:spcPct val="150000"/>
              </a:lnSpc>
              <a:spcBef>
                <a:spcPts val="0"/>
              </a:spcBef>
            </a:pPr>
            <a:r>
              <a:rPr lang="pl-PL" sz="2400" b="1" dirty="0">
                <a:solidFill>
                  <a:srgbClr val="C00000"/>
                </a:solidFill>
                <a:latin typeface="Mundial "/>
                <a:ea typeface="Calibri" panose="020F0502020204030204" pitchFamily="34" charset="0"/>
                <a:cs typeface="Times New Roman" panose="02020603050405020304" pitchFamily="18" charset="0"/>
              </a:rPr>
              <a:t>PRZEMIESZCZANIE SIĘ LUDZI NA TERENIE UCZELNI</a:t>
            </a:r>
          </a:p>
          <a:p>
            <a:pPr algn="just">
              <a:lnSpc>
                <a:spcPct val="150000"/>
              </a:lnSpc>
              <a:spcBef>
                <a:spcPts val="0"/>
              </a:spcBef>
            </a:pPr>
            <a:r>
              <a:rPr lang="pl-PL" sz="1700" b="1" u="sng" dirty="0">
                <a:latin typeface="Mundial "/>
                <a:ea typeface="Calibri" panose="020F0502020204030204" pitchFamily="34" charset="0"/>
                <a:cs typeface="Times New Roman" panose="02020603050405020304" pitchFamily="18" charset="0"/>
                <a:sym typeface="Wingdings" panose="05000000000000000000" pitchFamily="2" charset="2"/>
              </a:rPr>
              <a:t> </a:t>
            </a:r>
            <a:r>
              <a:rPr lang="pl-PL" sz="1700" b="1" u="sng" dirty="0">
                <a:latin typeface="Mundial "/>
                <a:ea typeface="Calibri" panose="020F0502020204030204" pitchFamily="34" charset="0"/>
                <a:cs typeface="Times New Roman" panose="02020603050405020304" pitchFamily="18" charset="0"/>
              </a:rPr>
              <a:t>Kiedy może dojść do zdarzenia?</a:t>
            </a:r>
          </a:p>
          <a:p>
            <a:pPr algn="just">
              <a:lnSpc>
                <a:spcPct val="150000"/>
              </a:lnSpc>
              <a:spcBef>
                <a:spcPts val="0"/>
              </a:spcBef>
            </a:pPr>
            <a:r>
              <a:rPr lang="pl-PL" sz="1700" dirty="0">
                <a:latin typeface="Mundial "/>
                <a:ea typeface="Calibri" panose="020F0502020204030204" pitchFamily="34" charset="0"/>
                <a:cs typeface="Times New Roman" panose="02020603050405020304" pitchFamily="18" charset="0"/>
              </a:rPr>
              <a:t>Przemieszczanie się Studentów pomiędzy różnymi pomieszczeniami na terenie campusu - sale wykładowe w nowej i starszej części, korzystanie ze schodów, korzystanie z węzłów sanitarnych, z bufetu. Impreza o charakterze masowym. Wypadek, zdarzenie zbiorowe.</a:t>
            </a:r>
          </a:p>
          <a:p>
            <a:pPr algn="just">
              <a:lnSpc>
                <a:spcPct val="150000"/>
              </a:lnSpc>
              <a:spcBef>
                <a:spcPts val="0"/>
              </a:spcBef>
            </a:pPr>
            <a:r>
              <a:rPr lang="pl-PL" sz="1700" b="1" u="sng" dirty="0">
                <a:latin typeface="Mundial "/>
                <a:ea typeface="Calibri" panose="020F0502020204030204" pitchFamily="34" charset="0"/>
                <a:cs typeface="Times New Roman" panose="02020603050405020304" pitchFamily="18" charset="0"/>
                <a:sym typeface="Wingdings" panose="05000000000000000000" pitchFamily="2" charset="2"/>
              </a:rPr>
              <a:t> </a:t>
            </a:r>
            <a:r>
              <a:rPr lang="pl-PL" sz="1700" b="1" u="sng" dirty="0">
                <a:latin typeface="Mundial "/>
                <a:ea typeface="Calibri" panose="020F0502020204030204" pitchFamily="34" charset="0"/>
                <a:cs typeface="Times New Roman" panose="02020603050405020304" pitchFamily="18" charset="0"/>
              </a:rPr>
              <a:t>Jaka może być przyczyna?</a:t>
            </a:r>
          </a:p>
          <a:p>
            <a:pPr algn="just">
              <a:lnSpc>
                <a:spcPct val="150000"/>
              </a:lnSpc>
              <a:spcBef>
                <a:spcPts val="0"/>
              </a:spcBef>
            </a:pPr>
            <a:r>
              <a:rPr lang="pl-PL" sz="1700" dirty="0">
                <a:latin typeface="Mundial "/>
                <a:ea typeface="Calibri" panose="020F0502020204030204" pitchFamily="34" charset="0"/>
                <a:cs typeface="Times New Roman" panose="02020603050405020304" pitchFamily="18" charset="0"/>
              </a:rPr>
              <a:t>Duża liczba Studentów i/lub innych użytkowników campusu PJATK przebywająca w tym samym czasie w tym samym miejscu (np. przerwa między zajęciami, gromadzenie się dużej grupy czekającej na wykład przed aulą; wydarzenie o charakterze masowym, event, targi uczelnianie, </a:t>
            </a:r>
            <a:r>
              <a:rPr lang="pl-PL" sz="1700" dirty="0" err="1">
                <a:latin typeface="Mundial "/>
                <a:ea typeface="Calibri" panose="020F0502020204030204" pitchFamily="34" charset="0"/>
                <a:cs typeface="Times New Roman" panose="02020603050405020304" pitchFamily="18" charset="0"/>
              </a:rPr>
              <a:t>itd</a:t>
            </a:r>
            <a:r>
              <a:rPr lang="pl-PL" sz="1700" dirty="0">
                <a:latin typeface="Mundial "/>
                <a:ea typeface="Calibri" panose="020F0502020204030204" pitchFamily="34" charset="0"/>
                <a:cs typeface="Times New Roman" panose="02020603050405020304" pitchFamily="18" charset="0"/>
              </a:rPr>
              <a:t>…). Zbyt wąskie korytarze (przejścia). Pośpiech. Brak ostrożności.</a:t>
            </a:r>
          </a:p>
          <a:p>
            <a:pPr algn="just">
              <a:lnSpc>
                <a:spcPct val="150000"/>
              </a:lnSpc>
              <a:spcBef>
                <a:spcPts val="0"/>
              </a:spcBef>
            </a:pPr>
            <a:r>
              <a:rPr lang="pl-PL" sz="1700" b="1" u="sng" dirty="0">
                <a:latin typeface="Mundial "/>
                <a:ea typeface="Calibri" panose="020F0502020204030204" pitchFamily="34" charset="0"/>
                <a:cs typeface="Times New Roman" panose="02020603050405020304" pitchFamily="18" charset="0"/>
                <a:sym typeface="Wingdings" panose="05000000000000000000" pitchFamily="2" charset="2"/>
              </a:rPr>
              <a:t> Jak zapobiegać?</a:t>
            </a:r>
          </a:p>
          <a:p>
            <a:pPr algn="just">
              <a:lnSpc>
                <a:spcPct val="150000"/>
              </a:lnSpc>
              <a:spcBef>
                <a:spcPts val="0"/>
              </a:spcBef>
            </a:pPr>
            <a:r>
              <a:rPr lang="pl-PL" sz="1700" dirty="0">
                <a:latin typeface="Mundial "/>
                <a:ea typeface="Calibri" panose="020F0502020204030204" pitchFamily="34" charset="0"/>
                <a:cs typeface="Times New Roman" panose="02020603050405020304" pitchFamily="18" charset="0"/>
              </a:rPr>
              <a:t>Stosować zasadę ruchu prawostronnego. Zachować szczególną ostrożność przy przemieszczaniu się z plecakami i teczkami malarskimi. Ograniczyć pośpiech. Zwracać uwagę na koleżanki i kolegów. Nie gromadzić się i nie tamować ruchu w okolicach łącznika między budynkami A i B.</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BFC81F56-BC3D-18D1-5B74-77099E7DE0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70058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Identyfikacja zagrożeń wypadkowych na campusie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50</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just">
              <a:lnSpc>
                <a:spcPct val="150000"/>
              </a:lnSpc>
              <a:spcBef>
                <a:spcPts val="0"/>
              </a:spcBef>
            </a:pPr>
            <a:r>
              <a:rPr lang="pl-PL" sz="2400" b="1" dirty="0">
                <a:solidFill>
                  <a:srgbClr val="C00000"/>
                </a:solidFill>
                <a:latin typeface="Mundial "/>
                <a:ea typeface="Calibri" panose="020F0502020204030204" pitchFamily="34" charset="0"/>
                <a:cs typeface="Times New Roman" panose="02020603050405020304" pitchFamily="18" charset="0"/>
              </a:rPr>
              <a:t>ELEMENTY LUŹNE I RUCHOME, OSTRE I WYSTAJĄCE</a:t>
            </a:r>
          </a:p>
          <a:p>
            <a:pPr algn="just">
              <a:lnSpc>
                <a:spcPct val="150000"/>
              </a:lnSpc>
              <a:spcBef>
                <a:spcPts val="0"/>
              </a:spcBef>
            </a:pPr>
            <a:r>
              <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rPr>
              <a:t> </a:t>
            </a:r>
            <a:r>
              <a:rPr lang="pl-PL" sz="1800" b="1" u="sng" dirty="0">
                <a:latin typeface="Mundial "/>
                <a:ea typeface="Calibri" panose="020F0502020204030204" pitchFamily="34" charset="0"/>
                <a:cs typeface="Times New Roman" panose="02020603050405020304" pitchFamily="18" charset="0"/>
              </a:rPr>
              <a:t>Kiedy może dojść do zdarzenia?</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rPr>
              <a:t>Podczas zajęć specjalistycznych, podczas korzystania ze sprzętu (np. pracownia robotyki, pracownia grafiki warsztatowej (noże, dłuta, </a:t>
            </a:r>
            <a:r>
              <a:rPr lang="pl-PL" sz="1800" dirty="0" err="1">
                <a:latin typeface="Mundial "/>
                <a:ea typeface="Calibri" panose="020F0502020204030204" pitchFamily="34" charset="0"/>
                <a:cs typeface="Times New Roman" panose="02020603050405020304" pitchFamily="18" charset="0"/>
              </a:rPr>
              <a:t>przycinaki</a:t>
            </a:r>
            <a:r>
              <a:rPr lang="pl-PL" sz="1800" dirty="0">
                <a:latin typeface="Mundial "/>
                <a:ea typeface="Calibri" panose="020F0502020204030204" pitchFamily="34" charset="0"/>
                <a:cs typeface="Times New Roman" panose="02020603050405020304" pitchFamily="18" charset="0"/>
              </a:rPr>
              <a:t>, lutownice…)); podczas prac remontowych na terenie uczelni.</a:t>
            </a:r>
          </a:p>
          <a:p>
            <a:pPr algn="just">
              <a:lnSpc>
                <a:spcPct val="150000"/>
              </a:lnSpc>
              <a:spcBef>
                <a:spcPts val="0"/>
              </a:spcBef>
            </a:pPr>
            <a:r>
              <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rPr>
              <a:t> </a:t>
            </a:r>
            <a:r>
              <a:rPr lang="pl-PL" sz="1800" b="1" u="sng" dirty="0">
                <a:latin typeface="Mundial "/>
                <a:ea typeface="Calibri" panose="020F0502020204030204" pitchFamily="34" charset="0"/>
                <a:cs typeface="Times New Roman" panose="02020603050405020304" pitchFamily="18" charset="0"/>
              </a:rPr>
              <a:t>Jaka może być przyczyna?</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rPr>
              <a:t>Niekontrolowane oderwanie się luźnej części (np. element obrotowy) lub odprysk w czasie pracy (np. w trakcie rzeźbienia, wypalanie elementów). Zahaczenie o wystający element, przecięcie np. naskórka.</a:t>
            </a:r>
          </a:p>
          <a:p>
            <a:pPr algn="just">
              <a:lnSpc>
                <a:spcPct val="150000"/>
              </a:lnSpc>
              <a:spcBef>
                <a:spcPts val="0"/>
              </a:spcBef>
            </a:pPr>
            <a:r>
              <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rPr>
              <a:t> Jak zapobiegać?</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rPr>
              <a:t>Nie korzystać z pracowni specjalistycznych bez zgody i nadzoru opiekuna; o ile to zalecone przez prowadzącego, stosować środki ochrony indywidualnej; zachować szczególną ostrożność; wykonywać czynności w skupieniu; omijać strefy oznaczone jako remontowe.</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BFC81F56-BC3D-18D1-5B74-77099E7DE0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88089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Identyfikacja zagrożeń wypadkowych na campusie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51</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just">
              <a:lnSpc>
                <a:spcPct val="150000"/>
              </a:lnSpc>
              <a:spcBef>
                <a:spcPts val="0"/>
              </a:spcBef>
            </a:pPr>
            <a:r>
              <a:rPr lang="pl-PL" sz="2400" b="1" dirty="0">
                <a:solidFill>
                  <a:srgbClr val="C00000"/>
                </a:solidFill>
                <a:latin typeface="Mundial "/>
                <a:ea typeface="Calibri" panose="020F0502020204030204" pitchFamily="34" charset="0"/>
                <a:cs typeface="Times New Roman" panose="02020603050405020304" pitchFamily="18" charset="0"/>
              </a:rPr>
              <a:t>PORAŻENIE PRĄDEM ELEKTRYCZNYM</a:t>
            </a:r>
          </a:p>
          <a:p>
            <a:pPr algn="just">
              <a:lnSpc>
                <a:spcPct val="150000"/>
              </a:lnSpc>
              <a:spcBef>
                <a:spcPts val="0"/>
              </a:spcBef>
            </a:pPr>
            <a:r>
              <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rPr>
              <a:t> </a:t>
            </a:r>
            <a:r>
              <a:rPr lang="pl-PL" sz="1800" b="1" u="sng" dirty="0">
                <a:latin typeface="Mundial "/>
                <a:ea typeface="Calibri" panose="020F0502020204030204" pitchFamily="34" charset="0"/>
                <a:cs typeface="Times New Roman" panose="02020603050405020304" pitchFamily="18" charset="0"/>
              </a:rPr>
              <a:t>Kiedy może dojść do zdarzenia?</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rPr>
              <a:t>Podczas korzystania z wszelkich urządzeń zasilanych prądem elektrycznym (komputery, rzutniki, monitory, lodówki, urządzenia z gorącymi napojami, </a:t>
            </a:r>
            <a:r>
              <a:rPr lang="pl-PL" sz="1800" dirty="0" err="1">
                <a:latin typeface="Mundial "/>
                <a:ea typeface="Calibri" panose="020F0502020204030204" pitchFamily="34" charset="0"/>
                <a:cs typeface="Times New Roman" panose="02020603050405020304" pitchFamily="18" charset="0"/>
              </a:rPr>
              <a:t>itd</a:t>
            </a:r>
            <a:r>
              <a:rPr lang="pl-PL" sz="1800" dirty="0">
                <a:latin typeface="Mundial "/>
                <a:ea typeface="Calibri" panose="020F0502020204030204" pitchFamily="34" charset="0"/>
                <a:cs typeface="Times New Roman" panose="02020603050405020304" pitchFamily="18" charset="0"/>
              </a:rPr>
              <a:t>…)</a:t>
            </a:r>
          </a:p>
          <a:p>
            <a:pPr algn="just">
              <a:lnSpc>
                <a:spcPct val="150000"/>
              </a:lnSpc>
              <a:spcBef>
                <a:spcPts val="0"/>
              </a:spcBef>
            </a:pPr>
            <a:r>
              <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rPr>
              <a:t> </a:t>
            </a:r>
            <a:r>
              <a:rPr lang="pl-PL" sz="1800" b="1" u="sng" dirty="0">
                <a:latin typeface="Mundial "/>
                <a:ea typeface="Calibri" panose="020F0502020204030204" pitchFamily="34" charset="0"/>
                <a:cs typeface="Times New Roman" panose="02020603050405020304" pitchFamily="18" charset="0"/>
              </a:rPr>
              <a:t>Jaka może być przyczyna?</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rPr>
              <a:t>Uszkodzenie instalacji, uszkodzona izolacja kabli, przepięcia, użytkowanie sprzętu niezgodnie z jego przeznaczeniem, dokonywanie napraw przez osoby nieprzeszkolone i nieupoważnione</a:t>
            </a:r>
          </a:p>
          <a:p>
            <a:pPr marL="436563" indent="-342900" algn="just">
              <a:lnSpc>
                <a:spcPct val="150000"/>
              </a:lnSpc>
              <a:spcBef>
                <a:spcPts val="0"/>
              </a:spcBef>
              <a:buFont typeface="Wingdings" panose="05000000000000000000" pitchFamily="2" charset="2"/>
              <a:buChar char="à"/>
            </a:pPr>
            <a:r>
              <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rPr>
              <a:t>Jak zapobiegać?</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sym typeface="Wingdings" panose="05000000000000000000" pitchFamily="2" charset="2"/>
              </a:rPr>
              <a:t>Regularna konserwacja instalacji i urządzeń elektrycznych; realizacja wymaganych przeglądów okresowych i wymaganych pomiarów; korzystanie z powierzonego sprzętu zgodnie z jego przeznaczeniem; zgłaszanie wszelkich usterek i nieprawidłowości prowadzącemu zajęcia lub pracownikom Działu Technicznego</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BFC81F56-BC3D-18D1-5B74-77099E7DE0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8086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Identyfikacja zagrożeń wypadkowych na campusie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52</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just">
              <a:lnSpc>
                <a:spcPct val="150000"/>
              </a:lnSpc>
              <a:spcBef>
                <a:spcPts val="0"/>
              </a:spcBef>
            </a:pPr>
            <a:r>
              <a:rPr lang="pl-PL" sz="2400" b="1" dirty="0">
                <a:solidFill>
                  <a:srgbClr val="C00000"/>
                </a:solidFill>
                <a:latin typeface="Mundial "/>
                <a:ea typeface="Calibri" panose="020F0502020204030204" pitchFamily="34" charset="0"/>
                <a:cs typeface="Times New Roman" panose="02020603050405020304" pitchFamily="18" charset="0"/>
              </a:rPr>
              <a:t>POPARZENIE</a:t>
            </a:r>
          </a:p>
          <a:p>
            <a:pPr algn="just">
              <a:lnSpc>
                <a:spcPct val="150000"/>
              </a:lnSpc>
              <a:spcBef>
                <a:spcPts val="0"/>
              </a:spcBef>
            </a:pPr>
            <a:r>
              <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rPr>
              <a:t> </a:t>
            </a:r>
            <a:r>
              <a:rPr lang="pl-PL" sz="1800" b="1" u="sng" dirty="0">
                <a:latin typeface="Mundial "/>
                <a:ea typeface="Calibri" panose="020F0502020204030204" pitchFamily="34" charset="0"/>
                <a:cs typeface="Times New Roman" panose="02020603050405020304" pitchFamily="18" charset="0"/>
              </a:rPr>
              <a:t>Kiedy może dojść do zdarzenia?</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rPr>
              <a:t>Podczas korzystania z wszelkich urządzeń zasilanych prądem elektrycznym (patrz poprzedni slajd); podczas pożaru; podczas spożywania posiłków lub gorących napojów (np. kawa z automatu)</a:t>
            </a:r>
          </a:p>
          <a:p>
            <a:pPr marL="379413" indent="-285750" algn="just">
              <a:lnSpc>
                <a:spcPct val="150000"/>
              </a:lnSpc>
              <a:spcBef>
                <a:spcPts val="0"/>
              </a:spcBef>
              <a:buFont typeface="Wingdings" panose="05000000000000000000" pitchFamily="2" charset="2"/>
              <a:buChar char="à"/>
            </a:pPr>
            <a:r>
              <a:rPr lang="pl-PL" sz="1800" b="1" u="sng" dirty="0">
                <a:latin typeface="Mundial "/>
                <a:ea typeface="Calibri" panose="020F0502020204030204" pitchFamily="34" charset="0"/>
                <a:cs typeface="Times New Roman" panose="02020603050405020304" pitchFamily="18" charset="0"/>
              </a:rPr>
              <a:t>Jaka może być przyczyna?</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rPr>
              <a:t>Pośpiech podczas spożywania gorących posiłków i napojów; spożywanie gorących napojów w miejscach do tego nieprzeznaczonych</a:t>
            </a:r>
          </a:p>
          <a:p>
            <a:pPr marL="436563" indent="-342900" algn="just">
              <a:lnSpc>
                <a:spcPct val="150000"/>
              </a:lnSpc>
              <a:spcBef>
                <a:spcPts val="0"/>
              </a:spcBef>
              <a:buFont typeface="Wingdings" panose="05000000000000000000" pitchFamily="2" charset="2"/>
              <a:buChar char="à"/>
            </a:pPr>
            <a:r>
              <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rPr>
              <a:t>Jak zapobiegać?</a:t>
            </a:r>
          </a:p>
          <a:p>
            <a:pPr algn="just">
              <a:lnSpc>
                <a:spcPct val="150000"/>
              </a:lnSpc>
              <a:spcBef>
                <a:spcPts val="0"/>
              </a:spcBef>
            </a:pPr>
            <a:r>
              <a:rPr lang="pl-PL" sz="1800" dirty="0">
                <a:latin typeface="Mundial "/>
                <a:ea typeface="Calibri" panose="020F0502020204030204" pitchFamily="34" charset="0"/>
                <a:cs typeface="Times New Roman" panose="02020603050405020304" pitchFamily="18" charset="0"/>
              </a:rPr>
              <a:t>Unikać pośpiechu przy spożywaniu gorących napojów i posiłków; nie przemieszczać się z gorącymi napojami po zatłoczonych korytarzach</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BFC81F56-BC3D-18D1-5B74-77099E7DE0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6013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Identyfikacja zagrożeń dla zdrowia na campusie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53</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just">
              <a:lnSpc>
                <a:spcPct val="150000"/>
              </a:lnSpc>
              <a:spcBef>
                <a:spcPts val="0"/>
              </a:spcBef>
            </a:pPr>
            <a:r>
              <a:rPr lang="pl-PL" sz="2000" b="1" dirty="0">
                <a:solidFill>
                  <a:srgbClr val="C00000"/>
                </a:solidFill>
                <a:latin typeface="Mundial "/>
                <a:ea typeface="Calibri" panose="020F0502020204030204" pitchFamily="34" charset="0"/>
                <a:cs typeface="Times New Roman" panose="02020603050405020304" pitchFamily="18" charset="0"/>
                <a:sym typeface="Wingdings" panose="05000000000000000000" pitchFamily="2" charset="2"/>
              </a:rPr>
              <a:t>INNE PRZYKŁADOWE RODZAJE ZAGROŻEŃ DLA ŻYCIA I ZDROWIA</a:t>
            </a:r>
          </a:p>
          <a:p>
            <a:pPr marL="436563" indent="-342900" algn="just">
              <a:lnSpc>
                <a:spcPct val="150000"/>
              </a:lnSpc>
              <a:spcBef>
                <a:spcPts val="0"/>
              </a:spcBef>
              <a:buFont typeface="Wingdings" panose="05000000000000000000" pitchFamily="2" charset="2"/>
              <a:buChar char="ü"/>
            </a:pPr>
            <a:r>
              <a:rPr lang="pl-PL" sz="2000" b="1" dirty="0">
                <a:latin typeface="Mundial "/>
                <a:ea typeface="Calibri" panose="020F0502020204030204" pitchFamily="34" charset="0"/>
                <a:cs typeface="Times New Roman" panose="02020603050405020304" pitchFamily="18" charset="0"/>
                <a:sym typeface="Wingdings" panose="05000000000000000000" pitchFamily="2" charset="2"/>
              </a:rPr>
              <a:t>Zagrożenie biologiczne </a:t>
            </a:r>
            <a:r>
              <a:rPr lang="pl-PL" sz="2000" dirty="0">
                <a:latin typeface="Mundial "/>
                <a:ea typeface="Calibri" panose="020F0502020204030204" pitchFamily="34" charset="0"/>
                <a:cs typeface="Times New Roman" panose="02020603050405020304" pitchFamily="18" charset="0"/>
                <a:sym typeface="Wingdings" panose="05000000000000000000" pitchFamily="2" charset="2"/>
              </a:rPr>
              <a:t>– np. nauka w stanie zagrożenia epidemicznego lub stanie epidemii (np. SARS-Cov-19); przebywanie z osobami chorymi w jednym pomieszczeniu</a:t>
            </a:r>
          </a:p>
          <a:p>
            <a:pPr marL="436563" indent="-342900" algn="just">
              <a:lnSpc>
                <a:spcPct val="150000"/>
              </a:lnSpc>
              <a:spcBef>
                <a:spcPts val="0"/>
              </a:spcBef>
              <a:buFont typeface="Wingdings" panose="05000000000000000000" pitchFamily="2" charset="2"/>
              <a:buChar char="ü"/>
            </a:pPr>
            <a:r>
              <a:rPr lang="pl-PL" sz="2000" b="1" dirty="0">
                <a:latin typeface="Mundial "/>
                <a:ea typeface="Calibri" panose="020F0502020204030204" pitchFamily="34" charset="0"/>
                <a:cs typeface="Times New Roman" panose="02020603050405020304" pitchFamily="18" charset="0"/>
                <a:sym typeface="Wingdings" panose="05000000000000000000" pitchFamily="2" charset="2"/>
              </a:rPr>
              <a:t>Agresja ze strony innej osoby </a:t>
            </a:r>
            <a:r>
              <a:rPr lang="pl-PL" sz="2000" dirty="0">
                <a:latin typeface="Mundial "/>
                <a:ea typeface="Calibri" panose="020F0502020204030204" pitchFamily="34" charset="0"/>
                <a:cs typeface="Times New Roman" panose="02020603050405020304" pitchFamily="18" charset="0"/>
                <a:sym typeface="Wingdings" panose="05000000000000000000" pitchFamily="2" charset="2"/>
              </a:rPr>
              <a:t>– może doprowadzić do awantury, bójki a w konsekwencji narazić zdrowie i życie</a:t>
            </a:r>
          </a:p>
          <a:p>
            <a:pPr marL="436563" indent="-342900" algn="just">
              <a:lnSpc>
                <a:spcPct val="150000"/>
              </a:lnSpc>
              <a:spcBef>
                <a:spcPts val="0"/>
              </a:spcBef>
              <a:buFont typeface="Wingdings" panose="05000000000000000000" pitchFamily="2" charset="2"/>
              <a:buChar char="ü"/>
            </a:pPr>
            <a:r>
              <a:rPr lang="pl-PL" sz="2000" b="1" dirty="0">
                <a:latin typeface="Mundial "/>
                <a:ea typeface="Calibri" panose="020F0502020204030204" pitchFamily="34" charset="0"/>
                <a:cs typeface="Times New Roman" panose="02020603050405020304" pitchFamily="18" charset="0"/>
                <a:sym typeface="Wingdings" panose="05000000000000000000" pitchFamily="2" charset="2"/>
              </a:rPr>
              <a:t>Stres</a:t>
            </a:r>
            <a:r>
              <a:rPr lang="pl-PL" sz="2000" dirty="0">
                <a:latin typeface="Mundial "/>
                <a:ea typeface="Calibri" panose="020F0502020204030204" pitchFamily="34" charset="0"/>
                <a:cs typeface="Times New Roman" panose="02020603050405020304" pitchFamily="18" charset="0"/>
                <a:sym typeface="Wingdings" panose="05000000000000000000" pitchFamily="2" charset="2"/>
              </a:rPr>
              <a:t> – zbyt duże obciążenie psychiczne (np. spowodowane nauką, terminami, presją, sesją...) może w dłuższej perspektywie negatywnie odbić się na zdrowiu, jakości życia, pracy i nauki.</a:t>
            </a:r>
          </a:p>
          <a:p>
            <a:pPr marL="436563" indent="-342900" algn="just">
              <a:lnSpc>
                <a:spcPct val="150000"/>
              </a:lnSpc>
              <a:spcBef>
                <a:spcPts val="0"/>
              </a:spcBef>
              <a:buFont typeface="Wingdings" panose="05000000000000000000" pitchFamily="2" charset="2"/>
              <a:buChar char="ü"/>
            </a:pPr>
            <a:r>
              <a:rPr lang="pl-PL" sz="2000" b="1" dirty="0">
                <a:latin typeface="Mundial "/>
                <a:ea typeface="Calibri" panose="020F0502020204030204" pitchFamily="34" charset="0"/>
                <a:cs typeface="Times New Roman" panose="02020603050405020304" pitchFamily="18" charset="0"/>
                <a:sym typeface="Wingdings" panose="05000000000000000000" pitchFamily="2" charset="2"/>
              </a:rPr>
              <a:t>Wypadek komunikacyjny </a:t>
            </a:r>
            <a:r>
              <a:rPr lang="pl-PL" sz="2000" dirty="0">
                <a:latin typeface="Mundial "/>
                <a:ea typeface="Calibri" panose="020F0502020204030204" pitchFamily="34" charset="0"/>
                <a:cs typeface="Times New Roman" panose="02020603050405020304" pitchFamily="18" charset="0"/>
                <a:sym typeface="Wingdings" panose="05000000000000000000" pitchFamily="2" charset="2"/>
              </a:rPr>
              <a:t>– np. podczas przemieszczanie się na zajęcia do budynku H lub podczas zorganizowanych wyjazdów studenckich np. plener malarski</a:t>
            </a:r>
          </a:p>
          <a:p>
            <a:pPr algn="just">
              <a:lnSpc>
                <a:spcPct val="150000"/>
              </a:lnSpc>
              <a:spcBef>
                <a:spcPts val="0"/>
              </a:spcBef>
            </a:pPr>
            <a:endParaRPr lang="pl-PL" sz="2400" b="1" dirty="0">
              <a:solidFill>
                <a:srgbClr val="C00000"/>
              </a:solidFill>
              <a:latin typeface="Mundial "/>
              <a:ea typeface="Calibri" panose="020F0502020204030204" pitchFamily="34" charset="0"/>
              <a:cs typeface="Times New Roman" panose="02020603050405020304" pitchFamily="18" charset="0"/>
              <a:sym typeface="Wingdings" panose="05000000000000000000" pitchFamily="2" charset="2"/>
            </a:endParaRPr>
          </a:p>
          <a:p>
            <a:pPr algn="just">
              <a:lnSpc>
                <a:spcPct val="150000"/>
              </a:lnSpc>
              <a:spcBef>
                <a:spcPts val="0"/>
              </a:spcBef>
            </a:pPr>
            <a:endParaRPr lang="pl-PL" sz="1800" b="1" u="sng" dirty="0">
              <a:latin typeface="Mundial "/>
              <a:ea typeface="Calibri" panose="020F0502020204030204" pitchFamily="34" charset="0"/>
              <a:cs typeface="Times New Roman" panose="02020603050405020304" pitchFamily="18" charset="0"/>
              <a:sym typeface="Wingdings" panose="05000000000000000000" pitchFamily="2" charset="2"/>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BFC81F56-BC3D-18D1-5B74-77099E7DE0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83315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Zagrożenia dla zdrowia i wypadkowe występujące w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54</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ctr"/>
            <a:r>
              <a:rPr lang="pl-PL" sz="2800" b="1" dirty="0">
                <a:solidFill>
                  <a:srgbClr val="C00000"/>
                </a:solidFill>
                <a:latin typeface="Mundial"/>
              </a:rPr>
              <a:t>WYPADEK PODCZAS ZAJĘĆ W PJATK</a:t>
            </a:r>
          </a:p>
          <a:p>
            <a:r>
              <a:rPr lang="pl-PL" sz="2400" b="1" dirty="0">
                <a:latin typeface="Mundial"/>
              </a:rPr>
              <a:t>Podstawa prawna</a:t>
            </a:r>
          </a:p>
          <a:p>
            <a:pPr algn="ctr"/>
            <a:r>
              <a:rPr lang="pl-PL" sz="2400" dirty="0"/>
              <a:t>Ustawa z 30.10.2002 r. o zaopatrzeniu z tytułu wypadków lub chorób zawodowych powstałych w szczególnych okolicznościach (Dz.U.2013.737). </a:t>
            </a:r>
          </a:p>
          <a:p>
            <a:pPr algn="ctr"/>
            <a:endParaRPr lang="pl-PL" sz="2400" dirty="0"/>
          </a:p>
          <a:p>
            <a:pPr algn="ctr"/>
            <a:r>
              <a:rPr lang="pl-PL" sz="2400" dirty="0"/>
              <a:t> Rozporządzenie Ministra Nauki i Szkolnictwa Wyższego z 30.10.2018 r. w sprawie sposobu zapewnienia w Uczelni bezpiecznych i higienicznych warunków pracy i kształcenia (Dz. U. 2018.2090). </a:t>
            </a:r>
            <a:endParaRPr lang="pl-PL" sz="1600" b="1" dirty="0">
              <a:solidFill>
                <a:srgbClr val="C00000"/>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BFC81F56-BC3D-18D1-5B74-77099E7DE0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65304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Zagrożenia dla zdrowia i wypadkowe występujące w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55</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ctr"/>
            <a:r>
              <a:rPr lang="pl-PL" sz="2000" b="1" dirty="0">
                <a:solidFill>
                  <a:srgbClr val="C00000"/>
                </a:solidFill>
                <a:latin typeface="Mundial"/>
              </a:rPr>
              <a:t>WYPADEK PODCZAS ZAJĘĆ W PJATK</a:t>
            </a:r>
          </a:p>
          <a:p>
            <a:r>
              <a:rPr lang="pl-PL" sz="2000" b="1" i="0" dirty="0">
                <a:effectLst/>
                <a:latin typeface="Mundial "/>
              </a:rPr>
              <a:t>        </a:t>
            </a:r>
            <a:endParaRPr lang="pl-PL" sz="1800" b="0" i="0" dirty="0">
              <a:effectLst/>
              <a:latin typeface="Mundial "/>
            </a:endParaRPr>
          </a:p>
          <a:p>
            <a:pPr algn="ctr"/>
            <a:r>
              <a:rPr lang="pl-PL" sz="2000" b="0" i="0" dirty="0">
                <a:effectLst/>
                <a:latin typeface="Mundial "/>
              </a:rPr>
              <a:t>W świetle ustawy z dnia 30 października 2002 r. o zaopatrzeniu z tytułu wypadków lub chorób zawodowych powstałych </a:t>
            </a:r>
            <a:r>
              <a:rPr lang="pl-PL" sz="2000" b="0" i="0" u="sng" dirty="0">
                <a:effectLst/>
                <a:latin typeface="Mundial "/>
              </a:rPr>
              <a:t>w szczególnych okolicznościach </a:t>
            </a:r>
            <a:r>
              <a:rPr lang="pl-PL" sz="2000" b="0" i="0" dirty="0">
                <a:effectLst/>
                <a:latin typeface="Mundial "/>
              </a:rPr>
              <a:t>( </a:t>
            </a:r>
            <a:r>
              <a:rPr lang="pl-PL" sz="2000" b="0" i="0" dirty="0" err="1">
                <a:effectLst/>
                <a:latin typeface="Mundial "/>
              </a:rPr>
              <a:t>t.j</a:t>
            </a:r>
            <a:r>
              <a:rPr lang="pl-PL" sz="2000" b="0" i="0" dirty="0">
                <a:effectLst/>
                <a:latin typeface="Mundial "/>
              </a:rPr>
              <a:t>. Dz. U. z 2013 r., poz. 737)  za wypadek uzasadniający przyznanie świadczeń uważa </a:t>
            </a:r>
            <a:r>
              <a:rPr lang="pl-PL" sz="2000" b="1" i="0" dirty="0">
                <a:effectLst/>
                <a:latin typeface="Mundial "/>
              </a:rPr>
              <a:t>się nagłe zdarzenie wywołane przyczyną zewnętrzną, powodujące uraz lub śmierć, które nastąpiło w czasie zajęć dydaktycznych, wychowawczych lub opiekuńczych realizowanych przez jednostki organizacyjne systemu oświaty, zajęć w szkole wyższej lub zajęć na studiach doktoranckich albo w czasie odbywania praktyki przewidzianej organizacją studiów lub nauki.</a:t>
            </a:r>
            <a:endParaRPr lang="pl-PL" sz="1400" b="1" dirty="0">
              <a:latin typeface="Mundial "/>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Newsy - Śląski Okręgowy Związek Pływacki">
            <a:extLst>
              <a:ext uri="{FF2B5EF4-FFF2-40B4-BE49-F238E27FC236}">
                <a16:creationId xmlns:a16="http://schemas.microsoft.com/office/drawing/2014/main" id="{15351D77-07A3-0706-77FE-A780D3A889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02418">
            <a:off x="9583846" y="905357"/>
            <a:ext cx="1846606" cy="7034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F9891F96-9FE1-7A02-AD98-4A9EFD67E0E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7398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Zagrożenia dla zdrowia i wypadkowe występujące w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56</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ctr"/>
            <a:r>
              <a:rPr lang="pl-PL" sz="2000" b="1" dirty="0">
                <a:solidFill>
                  <a:srgbClr val="C00000"/>
                </a:solidFill>
                <a:latin typeface="Mundial"/>
              </a:rPr>
              <a:t>WYPADEK PODCZAS ZAJĘĆ W PJATK</a:t>
            </a:r>
          </a:p>
          <a:p>
            <a:pPr algn="l"/>
            <a:r>
              <a:rPr lang="pl-PL" sz="2000" b="0" i="0" dirty="0">
                <a:effectLst/>
                <a:latin typeface="Mundial "/>
              </a:rPr>
              <a:t>Osobom, które stały się niezdolne do pracy wskutek wypadku w szczególnych okolicznościach (tutaj pobierania nauki), przysługuje:</a:t>
            </a:r>
          </a:p>
          <a:p>
            <a:pPr marL="550863" indent="-457200" algn="l">
              <a:buFont typeface="+mj-lt"/>
              <a:buAutoNum type="arabicPeriod"/>
            </a:pPr>
            <a:r>
              <a:rPr lang="pl-PL" sz="2000" b="0" i="0" dirty="0">
                <a:solidFill>
                  <a:srgbClr val="C00000"/>
                </a:solidFill>
                <a:effectLst/>
                <a:latin typeface="Mundial "/>
              </a:rPr>
              <a:t>renta z tytułu niezdolności do pracy;</a:t>
            </a:r>
          </a:p>
          <a:p>
            <a:pPr marL="550863" indent="-457200" algn="l">
              <a:buFont typeface="+mj-lt"/>
              <a:buAutoNum type="arabicPeriod"/>
            </a:pPr>
            <a:r>
              <a:rPr lang="pl-PL" sz="2000" b="0" i="0" dirty="0">
                <a:effectLst/>
                <a:latin typeface="Mundial "/>
              </a:rPr>
              <a:t>jednorazowe odszkodowanie;</a:t>
            </a:r>
          </a:p>
          <a:p>
            <a:pPr marL="550863" indent="-457200" algn="l">
              <a:buFont typeface="+mj-lt"/>
              <a:buAutoNum type="arabicPeriod"/>
            </a:pPr>
            <a:r>
              <a:rPr lang="pl-PL" sz="2000" b="0" i="0" dirty="0">
                <a:solidFill>
                  <a:srgbClr val="C00000"/>
                </a:solidFill>
                <a:effectLst/>
                <a:latin typeface="Mundial "/>
              </a:rPr>
              <a:t>świadczenia opieki zdrowotnej określone w przepisach o świadczeniach opieki zdrowotnej finansowanych ze środków publicznych, w zakresie niezbędnym do leczenia następstw wypadku lub choroby zawodowej, </a:t>
            </a:r>
            <a:r>
              <a:rPr lang="pl-PL" sz="2000" dirty="0">
                <a:solidFill>
                  <a:srgbClr val="C00000"/>
                </a:solidFill>
                <a:latin typeface="Mundial "/>
              </a:rPr>
              <a:t>w przypadku, gdy </a:t>
            </a:r>
            <a:r>
              <a:rPr lang="pl-PL" sz="2000" b="0" i="0" dirty="0">
                <a:solidFill>
                  <a:srgbClr val="C00000"/>
                </a:solidFill>
                <a:effectLst/>
                <a:latin typeface="Mundial "/>
              </a:rPr>
              <a:t>osoby te nie są objęte ubezpieczeniem zdrowotnym.</a:t>
            </a:r>
          </a:p>
          <a:p>
            <a:pPr algn="ctr"/>
            <a:endParaRPr lang="pl-PL" sz="1100" b="1" i="0" dirty="0">
              <a:effectLst/>
              <a:latin typeface="Mundial "/>
            </a:endParaRPr>
          </a:p>
          <a:p>
            <a:pPr algn="ctr"/>
            <a:r>
              <a:rPr lang="pl-PL" sz="1800" b="1" i="0" dirty="0">
                <a:effectLst/>
                <a:latin typeface="Mundial "/>
              </a:rPr>
              <a:t>Świadczenia określone w punkcie 1 i 2 finansowane są ze środków budżetu państwa – przyznaje je i wypłaca ZUS na wniosek osoby uprawnionej do tych świadczeń.</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70300542-8E7A-66D0-EB8C-DC5ED2AF5CD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9370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Zagrożenia dla zdrowia i wypadkowe występujące w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57</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ctr"/>
            <a:r>
              <a:rPr lang="pl-PL" sz="2000" b="1" dirty="0">
                <a:solidFill>
                  <a:srgbClr val="C00000"/>
                </a:solidFill>
                <a:latin typeface="Mundial"/>
              </a:rPr>
              <a:t>WYPADEK PODCZAS ZAJĘĆ W PJATK</a:t>
            </a:r>
          </a:p>
          <a:p>
            <a:pPr algn="ctr"/>
            <a:endParaRPr lang="pl-PL" sz="2000" b="1" dirty="0">
              <a:solidFill>
                <a:srgbClr val="C00000"/>
              </a:solidFill>
              <a:latin typeface="Mundial"/>
            </a:endParaRPr>
          </a:p>
          <a:p>
            <a:pPr algn="ctr"/>
            <a:r>
              <a:rPr lang="pl-PL" sz="2800" b="1" dirty="0">
                <a:latin typeface="Mundial"/>
              </a:rPr>
              <a:t>Gdy student ulegnie wypadkowi, a stan jego zdrowia na to pozwala, zobowiązany jest o takim zdarzeniu NIEZWŁOCZNIE (tj. bez zbędnej zwłoki) POWIADOMIĆ prowadzącego zajęcia lub jeśli do zdarzenia dojdzie w strefach wspólnych pracownika Działu Administracyjnego </a:t>
            </a:r>
          </a:p>
          <a:p>
            <a:pPr algn="ctr"/>
            <a:r>
              <a:rPr lang="pl-PL" sz="2800" b="1" dirty="0">
                <a:latin typeface="Mundial"/>
              </a:rPr>
              <a:t>lub pracowników ochrony</a:t>
            </a:r>
          </a:p>
          <a:p>
            <a:pPr algn="ctr"/>
            <a:r>
              <a:rPr lang="pl-PL" sz="2800" b="1" dirty="0">
                <a:solidFill>
                  <a:srgbClr val="C00000"/>
                </a:solidFill>
                <a:latin typeface="Mundial"/>
              </a:rPr>
              <a:t>Nr telefonu: +48 508 053 390</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Newsy - Śląski Okręgowy Związek Pływacki">
            <a:extLst>
              <a:ext uri="{FF2B5EF4-FFF2-40B4-BE49-F238E27FC236}">
                <a16:creationId xmlns:a16="http://schemas.microsoft.com/office/drawing/2014/main" id="{475C7D03-A304-143A-CCDB-884D789BEF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02418">
            <a:off x="9771024" y="798268"/>
            <a:ext cx="1846606" cy="7034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FD32E8E8-237B-BEA7-50DC-08D472E80B3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40717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Zagrożenia dla zdrowia i wypadkowe występujące w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58</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ctr"/>
            <a:r>
              <a:rPr lang="pl-PL" sz="2000" b="1" dirty="0">
                <a:solidFill>
                  <a:srgbClr val="C00000"/>
                </a:solidFill>
                <a:latin typeface="Mundial"/>
              </a:rPr>
              <a:t>WYPADEK PODCZAS ZAJĘĆ W PJATK</a:t>
            </a:r>
          </a:p>
          <a:p>
            <a:pPr algn="ctr"/>
            <a:endParaRPr lang="pl-PL" sz="2000" b="1" dirty="0">
              <a:solidFill>
                <a:srgbClr val="C00000"/>
              </a:solidFill>
              <a:latin typeface="Mundial"/>
            </a:endParaRPr>
          </a:p>
          <a:p>
            <a:pPr algn="ctr"/>
            <a:r>
              <a:rPr lang="pl-PL" sz="2800" b="1" dirty="0">
                <a:latin typeface="Mundial"/>
              </a:rPr>
              <a:t>Student będący świadkiem zdarzenia, które może zagrażać życiu lub zdrowiu innego studenta, wykładowcy lub pracownika Uczelni </a:t>
            </a:r>
            <a:r>
              <a:rPr lang="pl-PL" sz="2800" b="1" u="sng" dirty="0">
                <a:latin typeface="Mundial"/>
              </a:rPr>
              <a:t>zobowiązany jest wezwać pomoc</a:t>
            </a:r>
            <a:r>
              <a:rPr lang="pl-PL" sz="2800" b="1" dirty="0">
                <a:latin typeface="Mundial"/>
              </a:rPr>
              <a:t> oraz zgłosić ten fakt do pracownika Działu Technicznego </a:t>
            </a:r>
          </a:p>
          <a:p>
            <a:pPr algn="ctr"/>
            <a:r>
              <a:rPr lang="pl-PL" sz="2800" b="1" dirty="0">
                <a:latin typeface="Mundial"/>
              </a:rPr>
              <a:t>lub pracowników ochrony</a:t>
            </a:r>
            <a:endParaRPr lang="pl-PL" sz="3200" b="1" dirty="0">
              <a:latin typeface="Mundial"/>
            </a:endParaRPr>
          </a:p>
          <a:p>
            <a:pPr algn="ctr"/>
            <a:r>
              <a:rPr lang="pl-PL" sz="2800" b="1" dirty="0">
                <a:solidFill>
                  <a:srgbClr val="C00000"/>
                </a:solidFill>
                <a:latin typeface="Mundial"/>
              </a:rPr>
              <a:t>Nr telefonu: +48 508 053 390</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ewsy - Śląski Okręgowy Związek Pływacki">
            <a:extLst>
              <a:ext uri="{FF2B5EF4-FFF2-40B4-BE49-F238E27FC236}">
                <a16:creationId xmlns:a16="http://schemas.microsoft.com/office/drawing/2014/main" id="{73386D14-B4C5-ACE2-EC72-613E7A8985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02418">
            <a:off x="9840671" y="698989"/>
            <a:ext cx="1846606" cy="70346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FE231E5-C5F5-2CE7-C584-D7B870B090B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3136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Zagrożenia dla zdrowia i wypadkowe występujące w PJATK</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59</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ctr"/>
            <a:r>
              <a:rPr lang="pl-PL" sz="2000" b="1" dirty="0">
                <a:solidFill>
                  <a:srgbClr val="C00000"/>
                </a:solidFill>
                <a:latin typeface="Mundial"/>
              </a:rPr>
              <a:t>WYPADEK PODCZAS ZAJĘĆ W PJATK</a:t>
            </a:r>
          </a:p>
          <a:p>
            <a:pPr algn="ctr"/>
            <a:endParaRPr lang="pl-PL" sz="2000" b="1" dirty="0">
              <a:solidFill>
                <a:srgbClr val="C00000"/>
              </a:solidFill>
              <a:latin typeface="Mundial"/>
            </a:endParaRPr>
          </a:p>
          <a:p>
            <a:pPr algn="ctr"/>
            <a:endParaRPr lang="pl-PL" sz="2400" b="1" dirty="0">
              <a:latin typeface="Mundial"/>
            </a:endParaRPr>
          </a:p>
          <a:p>
            <a:pPr algn="ctr"/>
            <a:r>
              <a:rPr lang="pl-PL" sz="2800" b="1" dirty="0">
                <a:latin typeface="Mundial"/>
              </a:rPr>
              <a:t>Przy ustalaniu okoliczności i przyczyn wypadku studentów stosuje się odpowiednio przepisy dotyczące ustalania okoliczności i przyczyn wypadków przy pracy.</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243097C1-8AE1-0E63-5BE9-E79FDB9057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9569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60</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algn="ctr"/>
            <a:endParaRPr lang="pl-PL" sz="2000" b="1" i="0" u="none" strike="noStrike" baseline="0" dirty="0">
              <a:latin typeface="Mundial"/>
            </a:endParaRPr>
          </a:p>
          <a:p>
            <a:pPr algn="ctr"/>
            <a:r>
              <a:rPr lang="pl-PL" sz="4000" b="1" i="0" u="none" strike="noStrike" baseline="0" dirty="0">
                <a:latin typeface="Mundial"/>
              </a:rPr>
              <a:t>Ubezpieczenie od </a:t>
            </a:r>
          </a:p>
          <a:p>
            <a:pPr algn="ctr"/>
            <a:r>
              <a:rPr lang="pl-PL" sz="4000" b="1" i="0" u="none" strike="noStrike" baseline="0" dirty="0">
                <a:latin typeface="Mundial"/>
              </a:rPr>
              <a:t>Następstw Nieszczęśliwych Wypadków </a:t>
            </a:r>
          </a:p>
          <a:p>
            <a:pPr algn="ctr"/>
            <a:r>
              <a:rPr lang="pl-PL" sz="4000" b="1" i="0" u="none" strike="noStrike" baseline="0" dirty="0">
                <a:latin typeface="Mundial"/>
              </a:rPr>
              <a:t>i </a:t>
            </a:r>
          </a:p>
          <a:p>
            <a:pPr algn="ctr"/>
            <a:r>
              <a:rPr lang="pl-PL" sz="4000" b="1" i="0" u="none" strike="noStrike" baseline="0" dirty="0">
                <a:latin typeface="Mundial"/>
              </a:rPr>
              <a:t>Odpowiedzialności Cywilnej</a:t>
            </a: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98388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Ubezpieczenie NNW i OC</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61</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ctr"/>
            <a:r>
              <a:rPr lang="pl-PL" sz="2800" b="1" dirty="0">
                <a:solidFill>
                  <a:srgbClr val="C00000"/>
                </a:solidFill>
                <a:latin typeface="Mundial"/>
              </a:rPr>
              <a:t>K</a:t>
            </a:r>
            <a:r>
              <a:rPr lang="pl-PL" sz="2800" b="1" i="0" dirty="0">
                <a:solidFill>
                  <a:srgbClr val="C00000"/>
                </a:solidFill>
                <a:effectLst/>
                <a:latin typeface="Mundial"/>
              </a:rPr>
              <a:t>ażdy Student Polsko-Japońskiej Akademii Technik Komputerowych bez względu na narodowość został objęty ubezpieczeniem NNW i OC.</a:t>
            </a:r>
            <a:endParaRPr lang="pl-PL" sz="2800" b="0" i="0" dirty="0">
              <a:solidFill>
                <a:srgbClr val="C00000"/>
              </a:solidFill>
              <a:effectLst/>
              <a:latin typeface="Mundial"/>
            </a:endParaRPr>
          </a:p>
          <a:p>
            <a:pPr algn="l"/>
            <a:endParaRPr lang="pl-PL" sz="1050" b="0" i="0" dirty="0">
              <a:solidFill>
                <a:srgbClr val="333333"/>
              </a:solidFill>
              <a:effectLst/>
              <a:latin typeface="Mundial"/>
            </a:endParaRPr>
          </a:p>
          <a:p>
            <a:pPr algn="ctr"/>
            <a:r>
              <a:rPr lang="pl-PL" sz="2000" b="0" i="0" dirty="0">
                <a:solidFill>
                  <a:srgbClr val="333333"/>
                </a:solidFill>
                <a:effectLst/>
                <a:latin typeface="Mundial"/>
              </a:rPr>
              <a:t>Ubezpieczenie NNW zabezpiecza Studentów w razie wystąpienia nieszczęśliwego wypadku (w tym wypadku komunikacyjnego).</a:t>
            </a:r>
          </a:p>
          <a:p>
            <a:pPr algn="ctr"/>
            <a:r>
              <a:rPr lang="pl-PL" sz="2000" b="0" i="0" dirty="0">
                <a:solidFill>
                  <a:srgbClr val="333333"/>
                </a:solidFill>
                <a:effectLst/>
                <a:latin typeface="Mundial"/>
              </a:rPr>
              <a:t>Ubezpieczenie OC zapewnia ochronę za szkody osobowe i rzeczowe podczas uczestnictwa w zajęciach dydaktycznych, w szczególności podczas zajęć w laboratoriach, praktyk, stażu itp., jak również w życiu prywatnym.</a:t>
            </a:r>
          </a:p>
          <a:p>
            <a:pPr algn="ctr"/>
            <a:endParaRPr lang="pl-PL" b="0" i="0" dirty="0">
              <a:solidFill>
                <a:srgbClr val="333333"/>
              </a:solidFill>
              <a:effectLst/>
              <a:latin typeface="Mundial"/>
            </a:endParaRPr>
          </a:p>
          <a:p>
            <a:pPr algn="ctr"/>
            <a:r>
              <a:rPr lang="pl-PL" sz="2000" b="1" i="0" dirty="0">
                <a:solidFill>
                  <a:srgbClr val="333333"/>
                </a:solidFill>
                <a:effectLst/>
                <a:latin typeface="Mundial"/>
              </a:rPr>
              <a:t>O szczegółach ubezpieczenia, zakresach i wysokościach świadczeń można przeczytać na stronie internetowej: </a:t>
            </a:r>
            <a:r>
              <a:rPr lang="pl-PL" sz="2000" b="1" i="0" u="none" strike="noStrike" dirty="0">
                <a:solidFill>
                  <a:srgbClr val="EB4947"/>
                </a:solidFill>
                <a:effectLst/>
                <a:latin typeface="Mundial"/>
                <a:hlinkClick r:id="rId2"/>
              </a:rPr>
              <a:t>PJATK.MENTOR.PL</a:t>
            </a:r>
            <a:endParaRPr lang="pl-PL" sz="2000" b="1" i="0" dirty="0">
              <a:solidFill>
                <a:srgbClr val="333333"/>
              </a:solidFill>
              <a:effectLst/>
              <a:latin typeface="Mundial"/>
            </a:endParaRPr>
          </a:p>
          <a:p>
            <a:pPr algn="ctr"/>
            <a:endParaRPr lang="pl-PL" b="1" dirty="0">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26528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62</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algn="ctr"/>
            <a:endParaRPr lang="pl-PL" sz="4000" b="1" i="0" u="none" strike="noStrike" baseline="0" dirty="0">
              <a:latin typeface="Mundial"/>
            </a:endParaRPr>
          </a:p>
          <a:p>
            <a:pPr algn="ctr"/>
            <a:r>
              <a:rPr lang="pl-PL" sz="4000" b="1" dirty="0">
                <a:latin typeface="Mundial"/>
              </a:rPr>
              <a:t>Podstawowe zasady ergonomii </a:t>
            </a:r>
          </a:p>
          <a:p>
            <a:pPr algn="ctr"/>
            <a:r>
              <a:rPr lang="pl-PL" sz="4000" b="1" dirty="0">
                <a:latin typeface="Mundial"/>
              </a:rPr>
              <a:t>podczas </a:t>
            </a:r>
            <a:r>
              <a:rPr lang="pl-PL" sz="4000" b="1" dirty="0">
                <a:solidFill>
                  <a:srgbClr val="C00000"/>
                </a:solidFill>
                <a:latin typeface="Mundial"/>
              </a:rPr>
              <a:t>zajęć w PJATK</a:t>
            </a:r>
          </a:p>
          <a:p>
            <a:pPr algn="ctr"/>
            <a:endParaRPr lang="pl-PL" sz="4000" b="1" i="0" u="none" strike="noStrike" baseline="0" dirty="0">
              <a:latin typeface="Mundial"/>
            </a:endParaRPr>
          </a:p>
          <a:p>
            <a:pPr algn="ctr"/>
            <a:endParaRPr lang="pl-PL" sz="4000" b="1" i="0" u="none" strike="noStrike" baseline="0" dirty="0">
              <a:solidFill>
                <a:schemeClr val="accent1">
                  <a:lumMod val="75000"/>
                </a:schemeClr>
              </a:solidFill>
              <a:latin typeface="Mundial"/>
            </a:endParaRP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56974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Podstawowe zasady ergonomii podczas nauki</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63</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3" y="826477"/>
            <a:ext cx="7550543" cy="5583115"/>
          </a:xfrm>
        </p:spPr>
        <p:txBody>
          <a:bodyPr/>
          <a:lstStyle/>
          <a:p>
            <a:pPr algn="ctr"/>
            <a:r>
              <a:rPr lang="pl-PL" sz="2400" b="1" dirty="0">
                <a:solidFill>
                  <a:srgbClr val="C00000"/>
                </a:solidFill>
                <a:latin typeface="Mundial"/>
              </a:rPr>
              <a:t>NAUKA I PRACA PRZY KOMPUTERZE</a:t>
            </a:r>
          </a:p>
          <a:p>
            <a:r>
              <a:rPr lang="pl-PL" sz="2000" dirty="0">
                <a:latin typeface="Mundial"/>
              </a:rPr>
              <a:t>Obecnie standardem oferowanym przez PJATK bez względu na wybrany kierunek jest prowadzenie zajęć wykładowych i ćwiczeniowych </a:t>
            </a:r>
            <a:r>
              <a:rPr lang="pl-PL" sz="2000" b="1" dirty="0">
                <a:latin typeface="Mundial"/>
              </a:rPr>
              <a:t>z wykorzystaniem nowoczesnego sprzętu komputerowego. </a:t>
            </a:r>
            <a:r>
              <a:rPr lang="pl-PL" sz="2000" dirty="0">
                <a:latin typeface="Mundial"/>
              </a:rPr>
              <a:t>Najbardziej widoczne, a zarazem odczuwalne dla Studenta i jego zdrowia jest to w czasie zajęć laboratoryjnych                        w pracowniach komputerowych.</a:t>
            </a:r>
          </a:p>
          <a:p>
            <a:endParaRPr lang="pl-PL" sz="2000" dirty="0">
              <a:latin typeface="Mundial"/>
            </a:endParaRPr>
          </a:p>
          <a:p>
            <a:r>
              <a:rPr lang="pl-PL" sz="2000" dirty="0">
                <a:latin typeface="Mundial"/>
              </a:rPr>
              <a:t>Nie można zapomnieć o doświadczeniu </a:t>
            </a:r>
            <a:r>
              <a:rPr lang="pl-PL" sz="2000" b="1" dirty="0">
                <a:latin typeface="Mundial"/>
              </a:rPr>
              <a:t>nauki zdalnej</a:t>
            </a:r>
            <a:r>
              <a:rPr lang="pl-PL" sz="2000" dirty="0">
                <a:latin typeface="Mundial"/>
              </a:rPr>
              <a:t>,                       która stała się wygodną alternatywą dla klasycznego                 nauczania na wypadek sytuacji kryzysowych                                            jak choćby stan epidemii.</a:t>
            </a:r>
          </a:p>
          <a:p>
            <a:endParaRPr lang="pl-PL" sz="2000" dirty="0">
              <a:solidFill>
                <a:srgbClr val="C00000"/>
              </a:solidFill>
              <a:latin typeface="Mundial"/>
            </a:endParaRPr>
          </a:p>
          <a:p>
            <a:endParaRPr lang="pl-PL" sz="2000" dirty="0">
              <a:latin typeface="Mundial"/>
            </a:endParaRPr>
          </a:p>
          <a:p>
            <a:pPr algn="ctr"/>
            <a:endParaRPr lang="pl-PL" sz="2000" b="1" dirty="0">
              <a:solidFill>
                <a:srgbClr val="C00000"/>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7E558D2F-328A-42FF-BC92-19A7EE30B73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udzik - Gmina Trzebielino">
            <a:extLst>
              <a:ext uri="{FF2B5EF4-FFF2-40B4-BE49-F238E27FC236}">
                <a16:creationId xmlns:a16="http://schemas.microsoft.com/office/drawing/2014/main" id="{D1A957BF-2706-4881-B293-3627DF3F6581}"/>
              </a:ext>
            </a:extLst>
          </p:cNvPr>
          <p:cNvPicPr>
            <a:picLocks noChangeAspect="1" noChangeArrowheads="1"/>
          </p:cNvPicPr>
          <p:nvPr/>
        </p:nvPicPr>
        <p:blipFill>
          <a:blip r:embed="rId4" cstate="print">
            <a:alphaModFix/>
            <a:extLst>
              <a:ext uri="{28A0092B-C50C-407E-A947-70E740481C1C}">
                <a14:useLocalDpi xmlns:a14="http://schemas.microsoft.com/office/drawing/2010/main" val="0"/>
              </a:ext>
            </a:extLst>
          </a:blip>
          <a:srcRect/>
          <a:stretch>
            <a:fillRect/>
          </a:stretch>
        </p:blipFill>
        <p:spPr bwMode="auto">
          <a:xfrm>
            <a:off x="9448063" y="3527934"/>
            <a:ext cx="2250859" cy="2250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3733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Podstawowe zasady ergonomii podczas nauki</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64</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3" y="826477"/>
            <a:ext cx="7550543" cy="5583115"/>
          </a:xfrm>
        </p:spPr>
        <p:txBody>
          <a:bodyPr/>
          <a:lstStyle/>
          <a:p>
            <a:pPr algn="ctr"/>
            <a:r>
              <a:rPr lang="pl-PL" sz="2400" b="1" dirty="0">
                <a:solidFill>
                  <a:srgbClr val="C00000"/>
                </a:solidFill>
                <a:latin typeface="Mundial"/>
              </a:rPr>
              <a:t>NAUKA I PRACA PRZY KOMPUTERZE</a:t>
            </a:r>
          </a:p>
          <a:p>
            <a:endParaRPr lang="pl-PL" sz="2000" dirty="0">
              <a:latin typeface="Mundial"/>
            </a:endParaRPr>
          </a:p>
          <a:p>
            <a:r>
              <a:rPr lang="pl-PL" sz="2000" dirty="0">
                <a:latin typeface="Mundial"/>
              </a:rPr>
              <a:t>Wykorzystanie komputerów jako głównego narzędzia w procesie nauczania niesie za sobą pewne konsekwencje:</a:t>
            </a:r>
          </a:p>
          <a:p>
            <a:pPr marL="436563" indent="-342900">
              <a:buFont typeface="Wingdings" panose="05000000000000000000" pitchFamily="2" charset="2"/>
              <a:buChar char="ü"/>
            </a:pPr>
            <a:r>
              <a:rPr lang="pl-PL" sz="2000" b="1" dirty="0">
                <a:latin typeface="Mundial"/>
              </a:rPr>
              <a:t>Student przyjmuje pozycję siedzącą przez znaczną część dnia</a:t>
            </a:r>
          </a:p>
          <a:p>
            <a:pPr marL="436563" indent="-342900">
              <a:buFont typeface="Wingdings" panose="05000000000000000000" pitchFamily="2" charset="2"/>
              <a:buChar char="ü"/>
            </a:pPr>
            <a:r>
              <a:rPr lang="pl-PL" sz="2000" b="1" dirty="0">
                <a:latin typeface="Mundial"/>
              </a:rPr>
              <a:t>Student korzysta z monitora ekranowego przez znaczną część dnia</a:t>
            </a:r>
          </a:p>
          <a:p>
            <a:r>
              <a:rPr lang="pl-PL" sz="2000" dirty="0">
                <a:latin typeface="Mundial"/>
              </a:rPr>
              <a:t>Powyższe mogą powodować w dłuższej perspektywie                               szereg potencjalnych dolegliwości zdrowotnych.</a:t>
            </a:r>
          </a:p>
          <a:p>
            <a:endParaRPr lang="pl-PL" sz="2000" dirty="0">
              <a:latin typeface="Mundial"/>
            </a:endParaRPr>
          </a:p>
          <a:p>
            <a:r>
              <a:rPr lang="pl-PL" sz="2000" dirty="0">
                <a:latin typeface="Mundial"/>
              </a:rPr>
              <a:t>Wspomnieć można również o </a:t>
            </a:r>
            <a:r>
              <a:rPr lang="pl-PL" sz="2000" b="1" dirty="0">
                <a:latin typeface="Mundial"/>
              </a:rPr>
              <a:t>nauce w słuchawkach,                              </a:t>
            </a:r>
            <a:r>
              <a:rPr lang="pl-PL" sz="2000" dirty="0">
                <a:latin typeface="Mundial"/>
              </a:rPr>
              <a:t>co nie pozostaje obojętne dla narządu słuchu.</a:t>
            </a:r>
          </a:p>
          <a:p>
            <a:endParaRPr lang="pl-PL" sz="2000" dirty="0">
              <a:solidFill>
                <a:srgbClr val="C00000"/>
              </a:solidFill>
              <a:latin typeface="Mundial"/>
            </a:endParaRPr>
          </a:p>
          <a:p>
            <a:endParaRPr lang="pl-PL" sz="2000" dirty="0">
              <a:latin typeface="Mundial"/>
            </a:endParaRPr>
          </a:p>
          <a:p>
            <a:pPr algn="ctr"/>
            <a:endParaRPr lang="pl-PL" sz="2000" b="1" dirty="0">
              <a:solidFill>
                <a:srgbClr val="C00000"/>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DD130ACE-4233-402C-8A6F-F92FF361B2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55835"/>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Ludzik 3d fotografie, zdjęcia stockowe, Ludzik 3d obrazy royalty-free">
            <a:extLst>
              <a:ext uri="{FF2B5EF4-FFF2-40B4-BE49-F238E27FC236}">
                <a16:creationId xmlns:a16="http://schemas.microsoft.com/office/drawing/2014/main" id="{58FBC24C-70DA-450F-987A-52176B47D77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97346" y="3958301"/>
            <a:ext cx="3112718" cy="2747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7598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65</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274885"/>
            <a:ext cx="8538377" cy="4615961"/>
          </a:xfrm>
        </p:spPr>
        <p:txBody>
          <a:bodyPr numCol="2"/>
          <a:lstStyle/>
          <a:p>
            <a:pPr marL="379413" indent="-285750">
              <a:buFont typeface="Wingdings" panose="05000000000000000000" pitchFamily="2" charset="2"/>
              <a:buChar char="ü"/>
            </a:pPr>
            <a:endParaRPr lang="pl-PL" sz="1800" dirty="0">
              <a:solidFill>
                <a:srgbClr val="000000"/>
              </a:solidFill>
              <a:latin typeface="Mundial"/>
            </a:endParaRPr>
          </a:p>
          <a:p>
            <a:endParaRPr lang="pl-PL" sz="2000" dirty="0">
              <a:solidFill>
                <a:srgbClr val="000000"/>
              </a:solidFill>
              <a:latin typeface="Mundial"/>
            </a:endParaRPr>
          </a:p>
          <a:p>
            <a:pPr marL="379413" indent="-285750">
              <a:buFont typeface="Wingdings" panose="05000000000000000000" pitchFamily="2" charset="2"/>
              <a:buChar char="ü"/>
            </a:pPr>
            <a:r>
              <a:rPr lang="pl-PL" sz="2000" b="1" dirty="0">
                <a:latin typeface="Mundial"/>
              </a:rPr>
              <a:t>Podrażnienia błony śluzowej nosa i krtani wywołane przez ozon (np. drukarki laserowe)</a:t>
            </a:r>
          </a:p>
          <a:p>
            <a:pPr marL="379413" indent="-285750">
              <a:buFont typeface="Wingdings" panose="05000000000000000000" pitchFamily="2" charset="2"/>
              <a:buChar char="ü"/>
            </a:pPr>
            <a:r>
              <a:rPr lang="pl-PL" sz="2000" b="1" i="0" u="none" strike="noStrike" baseline="0" dirty="0">
                <a:solidFill>
                  <a:srgbClr val="C00000"/>
                </a:solidFill>
                <a:latin typeface="Mundial"/>
              </a:rPr>
              <a:t>Syndrom </a:t>
            </a:r>
            <a:r>
              <a:rPr lang="pl-PL" sz="2000" b="1" i="0" u="none" strike="noStrike" baseline="0" dirty="0" err="1">
                <a:solidFill>
                  <a:srgbClr val="C00000"/>
                </a:solidFill>
                <a:latin typeface="Mundial"/>
              </a:rPr>
              <a:t>Sicca</a:t>
            </a:r>
            <a:r>
              <a:rPr lang="pl-PL" sz="2000" b="1" i="0" u="none" strike="noStrike" baseline="0" dirty="0">
                <a:solidFill>
                  <a:srgbClr val="C00000"/>
                </a:solidFill>
                <a:latin typeface="Mundial"/>
              </a:rPr>
              <a:t> (zespół suchego oka)</a:t>
            </a:r>
          </a:p>
          <a:p>
            <a:pPr marL="379413" indent="-285750">
              <a:buFont typeface="Wingdings" panose="05000000000000000000" pitchFamily="2" charset="2"/>
              <a:buChar char="ü"/>
            </a:pPr>
            <a:r>
              <a:rPr lang="pl-PL" sz="2000" b="1" dirty="0">
                <a:latin typeface="Mundial"/>
              </a:rPr>
              <a:t>Zaburzenia widzenia</a:t>
            </a:r>
          </a:p>
          <a:p>
            <a:pPr marL="379413" indent="-285750">
              <a:buFont typeface="Wingdings" panose="05000000000000000000" pitchFamily="2" charset="2"/>
              <a:buChar char="ü"/>
            </a:pPr>
            <a:r>
              <a:rPr lang="pl-PL" sz="2000" b="1" i="0" u="none" strike="noStrike" baseline="0" dirty="0">
                <a:solidFill>
                  <a:srgbClr val="C00000"/>
                </a:solidFill>
                <a:latin typeface="Mundial"/>
              </a:rPr>
              <a:t>Zawroty i bóle głowy</a:t>
            </a:r>
          </a:p>
          <a:p>
            <a:pPr marL="379413" indent="-285750">
              <a:buFont typeface="Wingdings" panose="05000000000000000000" pitchFamily="2" charset="2"/>
              <a:buChar char="ü"/>
            </a:pPr>
            <a:r>
              <a:rPr lang="pl-PL" sz="2000" b="1" dirty="0">
                <a:latin typeface="Mundial"/>
              </a:rPr>
              <a:t>Zespół </a:t>
            </a:r>
            <a:r>
              <a:rPr lang="pl-PL" sz="2000" b="1" dirty="0" err="1">
                <a:latin typeface="Mundial"/>
              </a:rPr>
              <a:t>cieśni</a:t>
            </a:r>
            <a:r>
              <a:rPr lang="pl-PL" sz="2000" b="1" dirty="0">
                <a:latin typeface="Mundial"/>
              </a:rPr>
              <a:t> nadgarstka</a:t>
            </a:r>
          </a:p>
          <a:p>
            <a:pPr marL="379413" indent="-285750">
              <a:buFont typeface="Wingdings" panose="05000000000000000000" pitchFamily="2" charset="2"/>
              <a:buChar char="ü"/>
            </a:pPr>
            <a:endParaRPr lang="pl-PL" sz="2000" b="1" i="0" u="none" strike="noStrike" baseline="0" dirty="0">
              <a:solidFill>
                <a:srgbClr val="000000"/>
              </a:solidFill>
              <a:latin typeface="Mundial"/>
            </a:endParaRPr>
          </a:p>
          <a:p>
            <a:endParaRPr lang="pl-PL" sz="2000" b="1" dirty="0">
              <a:solidFill>
                <a:srgbClr val="000000"/>
              </a:solidFill>
              <a:latin typeface="Mundial"/>
            </a:endParaRPr>
          </a:p>
          <a:p>
            <a:pPr marL="379413" indent="-285750">
              <a:buFont typeface="Wingdings" panose="05000000000000000000" pitchFamily="2" charset="2"/>
              <a:buChar char="ü"/>
            </a:pPr>
            <a:r>
              <a:rPr lang="pl-PL" sz="2000" b="1" i="0" u="none" strike="noStrike" baseline="0" dirty="0">
                <a:solidFill>
                  <a:srgbClr val="C00000"/>
                </a:solidFill>
                <a:latin typeface="Mundial"/>
              </a:rPr>
              <a:t>Dolegliwości krę</a:t>
            </a:r>
            <a:r>
              <a:rPr lang="pl-PL" sz="2000" b="1" dirty="0">
                <a:solidFill>
                  <a:srgbClr val="C00000"/>
                </a:solidFill>
                <a:latin typeface="Mundial"/>
              </a:rPr>
              <a:t>gosłupa i pleców</a:t>
            </a:r>
          </a:p>
          <a:p>
            <a:pPr marL="379413" indent="-285750">
              <a:buFont typeface="Wingdings" panose="05000000000000000000" pitchFamily="2" charset="2"/>
              <a:buChar char="ü"/>
            </a:pPr>
            <a:r>
              <a:rPr lang="pl-PL" sz="2000" b="1" i="0" u="none" strike="noStrike" baseline="0" dirty="0">
                <a:latin typeface="Mundial"/>
              </a:rPr>
              <a:t>Impotencja</a:t>
            </a:r>
          </a:p>
          <a:p>
            <a:pPr marL="379413" indent="-285750">
              <a:buFont typeface="Wingdings" panose="05000000000000000000" pitchFamily="2" charset="2"/>
              <a:buChar char="ü"/>
            </a:pPr>
            <a:r>
              <a:rPr lang="pl-PL" sz="2000" b="1" dirty="0">
                <a:solidFill>
                  <a:srgbClr val="C00000"/>
                </a:solidFill>
                <a:latin typeface="Mundial"/>
              </a:rPr>
              <a:t>Zaburzenia krążenia</a:t>
            </a:r>
          </a:p>
          <a:p>
            <a:pPr marL="379413" indent="-285750">
              <a:buFont typeface="Wingdings" panose="05000000000000000000" pitchFamily="2" charset="2"/>
              <a:buChar char="ü"/>
            </a:pPr>
            <a:r>
              <a:rPr lang="pl-PL" sz="2000" b="1" i="0" u="none" strike="noStrike" baseline="0" dirty="0">
                <a:latin typeface="Mundial"/>
              </a:rPr>
              <a:t>Podrażnienia skóry i alergie</a:t>
            </a:r>
          </a:p>
          <a:p>
            <a:pPr marL="379413" indent="-285750">
              <a:buFont typeface="Wingdings" panose="05000000000000000000" pitchFamily="2" charset="2"/>
              <a:buChar char="ü"/>
            </a:pPr>
            <a:r>
              <a:rPr lang="pl-PL" sz="2000" b="1" dirty="0">
                <a:solidFill>
                  <a:srgbClr val="C00000"/>
                </a:solidFill>
                <a:latin typeface="Mundial"/>
              </a:rPr>
              <a:t>Usztywnienie mięśni</a:t>
            </a:r>
          </a:p>
          <a:p>
            <a:pPr marL="379413" indent="-285750">
              <a:buFont typeface="Wingdings" panose="05000000000000000000" pitchFamily="2" charset="2"/>
              <a:buChar char="ü"/>
            </a:pPr>
            <a:r>
              <a:rPr lang="pl-PL" sz="2000" b="1" i="0" u="none" strike="noStrike" baseline="0" dirty="0">
                <a:latin typeface="Mundial"/>
              </a:rPr>
              <a:t>Dolegliwości natury psychicznej</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70032"/>
            <a:ext cx="1441628" cy="1441628"/>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2EA8F202-4913-6536-01A4-D1123780C43D}"/>
              </a:ext>
            </a:extLst>
          </p:cNvPr>
          <p:cNvSpPr txBox="1"/>
          <p:nvPr/>
        </p:nvSpPr>
        <p:spPr>
          <a:xfrm>
            <a:off x="3464169" y="1207247"/>
            <a:ext cx="7826973" cy="461665"/>
          </a:xfrm>
          <a:prstGeom prst="rect">
            <a:avLst/>
          </a:prstGeom>
          <a:noFill/>
        </p:spPr>
        <p:txBody>
          <a:bodyPr wrap="square" rtlCol="0">
            <a:spAutoFit/>
          </a:bodyPr>
          <a:lstStyle/>
          <a:p>
            <a:r>
              <a:rPr lang="pl-PL" sz="2400" b="1" dirty="0">
                <a:solidFill>
                  <a:schemeClr val="accent6"/>
                </a:solidFill>
                <a:latin typeface="Mundial "/>
              </a:rPr>
              <a:t>SKUTKI DŁUGOTRWAŁEJ PRACY/NAUKI PRZY KOMPUTERZE</a:t>
            </a:r>
          </a:p>
        </p:txBody>
      </p:sp>
      <p:sp>
        <p:nvSpPr>
          <p:cNvPr id="10" name="Tytuł 1">
            <a:extLst>
              <a:ext uri="{FF2B5EF4-FFF2-40B4-BE49-F238E27FC236}">
                <a16:creationId xmlns:a16="http://schemas.microsoft.com/office/drawing/2014/main" id="{7B450707-EF1B-49E2-98C3-90CF7565EA28}"/>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Podstawowe zasady ergonomii podczas nauki</a:t>
            </a:r>
            <a:endParaRPr lang="pl-PL" dirty="0"/>
          </a:p>
        </p:txBody>
      </p:sp>
      <p:pic>
        <p:nvPicPr>
          <p:cNvPr id="11" name="Picture 4">
            <a:extLst>
              <a:ext uri="{FF2B5EF4-FFF2-40B4-BE49-F238E27FC236}">
                <a16:creationId xmlns:a16="http://schemas.microsoft.com/office/drawing/2014/main" id="{472C0F1B-E117-48D8-AF34-281D6FEB0D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55835"/>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25356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Podstawowe zasady ergonomii podczas nauki</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66</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3" y="826477"/>
            <a:ext cx="7550543" cy="5583115"/>
          </a:xfrm>
        </p:spPr>
        <p:txBody>
          <a:bodyPr/>
          <a:lstStyle/>
          <a:p>
            <a:endParaRPr lang="pl-PL" sz="2000" dirty="0">
              <a:latin typeface="Mundial"/>
            </a:endParaRPr>
          </a:p>
          <a:p>
            <a:pPr algn="ctr"/>
            <a:r>
              <a:rPr lang="pl-PL" sz="2400" b="1" dirty="0">
                <a:latin typeface="Mundial"/>
              </a:rPr>
              <a:t>Ergonomia podpowiada jak zorganizować przestrzeń do nauki oraz stanowisko komputerowe tak, by zminimalizować skutki długotrwałego siedzenia przed komputerem</a:t>
            </a:r>
          </a:p>
          <a:p>
            <a:pPr algn="ctr"/>
            <a:endParaRPr lang="pl-PL" sz="2400" b="1" dirty="0">
              <a:latin typeface="Mundial"/>
            </a:endParaRPr>
          </a:p>
          <a:p>
            <a:pPr algn="ctr"/>
            <a:r>
              <a:rPr lang="pl-PL" sz="2400" b="1" dirty="0">
                <a:latin typeface="Mundial"/>
              </a:rPr>
              <a:t>CZY</a:t>
            </a:r>
          </a:p>
          <a:p>
            <a:pPr algn="ctr"/>
            <a:r>
              <a:rPr lang="pl-PL" sz="2400" b="1" dirty="0">
                <a:latin typeface="Mundial"/>
              </a:rPr>
              <a:t>???</a:t>
            </a:r>
          </a:p>
          <a:p>
            <a:endParaRPr lang="pl-PL" sz="2000" dirty="0">
              <a:solidFill>
                <a:srgbClr val="C00000"/>
              </a:solidFill>
              <a:latin typeface="Mundial"/>
            </a:endParaRPr>
          </a:p>
          <a:p>
            <a:endParaRPr lang="pl-PL" sz="2000" dirty="0">
              <a:latin typeface="Mundial"/>
            </a:endParaRPr>
          </a:p>
          <a:p>
            <a:pPr algn="ctr"/>
            <a:endParaRPr lang="pl-PL" sz="2000" b="1" dirty="0">
              <a:solidFill>
                <a:srgbClr val="C00000"/>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DD130ACE-4233-402C-8A6F-F92FF361B2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55835"/>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Leasing komputerów i sprzętu komputerowego | Leasing serwerów">
            <a:extLst>
              <a:ext uri="{FF2B5EF4-FFF2-40B4-BE49-F238E27FC236}">
                <a16:creationId xmlns:a16="http://schemas.microsoft.com/office/drawing/2014/main" id="{B197F5B9-DAD6-4634-AEA2-99D5715555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2916" y="3618292"/>
            <a:ext cx="2222165" cy="133329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3d ludzik biuro fotografie, zdjęcia stockowe, 3d ludzik biuro obrazy  royalty-free">
            <a:extLst>
              <a:ext uri="{FF2B5EF4-FFF2-40B4-BE49-F238E27FC236}">
                <a16:creationId xmlns:a16="http://schemas.microsoft.com/office/drawing/2014/main" id="{2804C472-B0B3-4EEF-994F-782CFEC6836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63883" y="3282435"/>
            <a:ext cx="2550831" cy="2550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3776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i="0" u="none" strike="noStrike" baseline="0" dirty="0">
                <a:latin typeface="Mundial"/>
              </a:rPr>
              <a:t>Podstawowe zasady ergonomii podczas nauki</a:t>
            </a:r>
            <a:endParaRPr lang="pl-PL" dirty="0"/>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67</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209192" y="826477"/>
            <a:ext cx="8132885" cy="5583115"/>
          </a:xfrm>
        </p:spPr>
        <p:txBody>
          <a:bodyPr/>
          <a:lstStyle/>
          <a:p>
            <a:pPr algn="ctr"/>
            <a:r>
              <a:rPr lang="pl-PL" sz="2000" b="1" dirty="0">
                <a:solidFill>
                  <a:srgbClr val="C00000"/>
                </a:solidFill>
                <a:latin typeface="Mundial "/>
              </a:rPr>
              <a:t>PRACA I NAUKA PRZY KOMPUTERZE</a:t>
            </a:r>
          </a:p>
          <a:p>
            <a:r>
              <a:rPr lang="pl-PL" sz="1800" dirty="0">
                <a:solidFill>
                  <a:srgbClr val="000000"/>
                </a:solidFill>
                <a:latin typeface="Mundial "/>
              </a:rPr>
              <a:t>Zastosowanie zasad e</a:t>
            </a:r>
            <a:r>
              <a:rPr lang="pl-PL" sz="1800" b="0" i="0" u="none" strike="noStrike" baseline="0" dirty="0">
                <a:solidFill>
                  <a:srgbClr val="000000"/>
                </a:solidFill>
                <a:latin typeface="Mundial "/>
              </a:rPr>
              <a:t>rgonomii pracy (nauki) przy komputerze sprawia, że stajemy się bardziej wydajni, produktywni, nie mamy problemów z koncentracją i podnosi się nasza efektywność. Poniższe ryciny przedstawiają prawidłowe parametry ustawienia monitora, krzesła oraz sprzętu peryferyjnego.</a:t>
            </a:r>
          </a:p>
          <a:p>
            <a:r>
              <a:rPr lang="pl-PL" sz="1800" dirty="0">
                <a:solidFill>
                  <a:srgbClr val="000000"/>
                </a:solidFill>
                <a:latin typeface="Mundial "/>
              </a:rPr>
              <a:t>Sygnalizują również dobrą praktykę stosowania </a:t>
            </a:r>
            <a:r>
              <a:rPr lang="pl-PL" sz="1800" b="1" dirty="0">
                <a:solidFill>
                  <a:srgbClr val="000000"/>
                </a:solidFill>
                <a:latin typeface="Mundial "/>
              </a:rPr>
              <a:t>5 minutowej przerwy na każde 60 minut</a:t>
            </a:r>
            <a:r>
              <a:rPr lang="pl-PL" sz="1800" dirty="0">
                <a:solidFill>
                  <a:srgbClr val="000000"/>
                </a:solidFill>
                <a:latin typeface="Mundial "/>
              </a:rPr>
              <a:t> spędzane przy komputerze.</a:t>
            </a:r>
            <a:endParaRPr lang="pl-PL" sz="2000" b="1" dirty="0">
              <a:solidFill>
                <a:srgbClr val="C00000"/>
              </a:solidFill>
              <a:latin typeface="Mundial "/>
            </a:endParaRPr>
          </a:p>
          <a:p>
            <a:pPr algn="ctr"/>
            <a:endParaRPr lang="pl-PL" sz="2000" b="1" dirty="0">
              <a:solidFill>
                <a:srgbClr val="C00000"/>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6DE88424-5024-7946-2A91-B9657D7BDDDC}"/>
              </a:ext>
            </a:extLst>
          </p:cNvPr>
          <p:cNvPicPr>
            <a:picLocks noChangeAspect="1"/>
          </p:cNvPicPr>
          <p:nvPr/>
        </p:nvPicPr>
        <p:blipFill>
          <a:blip r:embed="rId3"/>
          <a:stretch>
            <a:fillRect/>
          </a:stretch>
        </p:blipFill>
        <p:spPr>
          <a:xfrm>
            <a:off x="3209192" y="3745650"/>
            <a:ext cx="7763815" cy="3112350"/>
          </a:xfrm>
          <a:prstGeom prst="rect">
            <a:avLst/>
          </a:prstGeom>
        </p:spPr>
      </p:pic>
      <p:pic>
        <p:nvPicPr>
          <p:cNvPr id="8" name="Picture 4">
            <a:extLst>
              <a:ext uri="{FF2B5EF4-FFF2-40B4-BE49-F238E27FC236}">
                <a16:creationId xmlns:a16="http://schemas.microsoft.com/office/drawing/2014/main" id="{D4AA1B8B-6990-4D39-8B8E-383F4D2E9AF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583" y="5055835"/>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16350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68</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algn="ctr"/>
            <a:endParaRPr lang="pl-PL" sz="4000" b="1" i="0" u="none" strike="noStrike" baseline="0" dirty="0">
              <a:latin typeface="Mundial"/>
            </a:endParaRPr>
          </a:p>
          <a:p>
            <a:pPr algn="ctr"/>
            <a:r>
              <a:rPr lang="pl-PL" sz="4000" b="1" dirty="0">
                <a:latin typeface="Mundial"/>
              </a:rPr>
              <a:t>Z</a:t>
            </a:r>
            <a:r>
              <a:rPr lang="pl-PL" sz="4000" b="1" i="0" u="none" strike="noStrike" baseline="0" dirty="0">
                <a:latin typeface="Mundial"/>
              </a:rPr>
              <a:t>asady udzielania pomocy przedlekarskiej w razie wypadku</a:t>
            </a:r>
            <a:endParaRPr lang="pl-PL" sz="4000" b="1" dirty="0">
              <a:latin typeface="Mundial"/>
            </a:endParaRP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98100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69</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274885"/>
            <a:ext cx="8720548" cy="5217989"/>
          </a:xfrm>
        </p:spPr>
        <p:txBody>
          <a:bodyPr numCol="1"/>
          <a:lstStyle/>
          <a:p>
            <a:pPr marL="379413" indent="-285750">
              <a:buFont typeface="Wingdings" panose="05000000000000000000" pitchFamily="2" charset="2"/>
              <a:buChar char="ü"/>
            </a:pPr>
            <a:endParaRPr lang="pl-PL" sz="1800" dirty="0">
              <a:solidFill>
                <a:schemeClr val="accent6"/>
              </a:solidFill>
              <a:latin typeface="Mundial"/>
            </a:endParaRPr>
          </a:p>
          <a:p>
            <a:r>
              <a:rPr lang="pl-PL" sz="2000" b="1" dirty="0">
                <a:latin typeface="Mundial "/>
              </a:rPr>
              <a:t>Co to jest PIERWSZA POMOC PRZEDMEDYCZNA?</a:t>
            </a:r>
          </a:p>
          <a:p>
            <a:r>
              <a:rPr lang="pl-PL" sz="2000" b="0" i="0" dirty="0">
                <a:solidFill>
                  <a:srgbClr val="000000"/>
                </a:solidFill>
                <a:effectLst/>
                <a:latin typeface="Mundial "/>
              </a:rPr>
              <a:t>to zespół czynności podejmowanych przez </a:t>
            </a:r>
            <a:r>
              <a:rPr lang="pl-PL" sz="2000" b="1" i="0" dirty="0">
                <a:solidFill>
                  <a:srgbClr val="C00000"/>
                </a:solidFill>
                <a:effectLst/>
                <a:latin typeface="Mundial "/>
              </a:rPr>
              <a:t>świadków zdarzenia </a:t>
            </a:r>
            <a:r>
              <a:rPr lang="pl-PL" sz="2000" b="0" i="0" dirty="0">
                <a:solidFill>
                  <a:srgbClr val="000000"/>
                </a:solidFill>
                <a:effectLst/>
                <a:latin typeface="Mundial "/>
              </a:rPr>
              <a:t>na miejscu zdarzenia, w którym występuje bezpośrednie zagrożenie dla życia i zdrowia poszkodowanego. </a:t>
            </a:r>
          </a:p>
          <a:p>
            <a:r>
              <a:rPr lang="pl-PL" sz="2000" b="0" i="0" dirty="0">
                <a:solidFill>
                  <a:srgbClr val="000000"/>
                </a:solidFill>
                <a:effectLst/>
                <a:latin typeface="Mundial "/>
              </a:rPr>
              <a:t>Pierwszej pomocy udzielamy </a:t>
            </a:r>
            <a:r>
              <a:rPr lang="pl-PL" sz="2000" b="1" i="0" dirty="0">
                <a:solidFill>
                  <a:srgbClr val="000000"/>
                </a:solidFill>
                <a:effectLst/>
                <a:latin typeface="Mundial "/>
              </a:rPr>
              <a:t>z wykorzystaniem ogólnodostępnych środków </a:t>
            </a:r>
            <a:r>
              <a:rPr lang="pl-PL" sz="2000" b="0" i="0" dirty="0">
                <a:solidFill>
                  <a:srgbClr val="000000"/>
                </a:solidFill>
                <a:effectLst/>
                <a:latin typeface="Mundial "/>
              </a:rPr>
              <a:t>opatrunkowych. </a:t>
            </a:r>
          </a:p>
          <a:p>
            <a:r>
              <a:rPr lang="pl-PL" sz="2000" b="1" i="0" dirty="0">
                <a:solidFill>
                  <a:srgbClr val="C00000"/>
                </a:solidFill>
                <a:effectLst/>
                <a:latin typeface="Mundial "/>
              </a:rPr>
              <a:t>Czas udzielania </a:t>
            </a:r>
            <a:r>
              <a:rPr lang="pl-PL" sz="2000" b="0" i="0" dirty="0">
                <a:solidFill>
                  <a:srgbClr val="000000"/>
                </a:solidFill>
                <a:effectLst/>
                <a:latin typeface="Mundial "/>
              </a:rPr>
              <a:t>pierwszej pomocy trwa od momentu zaobserwowania zagrożenia dla życia i zdrowia </a:t>
            </a:r>
            <a:r>
              <a:rPr lang="pl-PL" sz="2000" b="1" i="0" dirty="0">
                <a:solidFill>
                  <a:srgbClr val="C00000"/>
                </a:solidFill>
                <a:effectLst/>
                <a:latin typeface="Mundial "/>
              </a:rPr>
              <a:t>aż do momentu przekazania poszkodowanego służbom ratowniczym.</a:t>
            </a:r>
            <a:r>
              <a:rPr lang="pl-PL" sz="2000" b="0" i="0" u="none" strike="noStrike" baseline="0" dirty="0">
                <a:solidFill>
                  <a:srgbClr val="000000"/>
                </a:solidFill>
                <a:latin typeface="Mundial "/>
              </a:rPr>
              <a:t>	</a:t>
            </a:r>
          </a:p>
          <a:p>
            <a:endParaRPr lang="pl-PL" sz="1800" b="0" i="0" u="none" strike="noStrike" baseline="0" dirty="0">
              <a:solidFill>
                <a:srgbClr val="000000"/>
              </a:solidFill>
              <a:latin typeface="Calibri" panose="020F0502020204030204" pitchFamily="34" charset="0"/>
            </a:endParaRPr>
          </a:p>
          <a:p>
            <a:r>
              <a:rPr lang="pl-PL" sz="1800" b="0" i="0" u="none" strike="noStrike" baseline="0" dirty="0">
                <a:solidFill>
                  <a:srgbClr val="000000"/>
                </a:solidFill>
                <a:latin typeface="Calibri" panose="020F0502020204030204" pitchFamily="34" charset="0"/>
              </a:rPr>
              <a:t>	</a:t>
            </a: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2EA8F202-4913-6536-01A4-D1123780C43D}"/>
              </a:ext>
            </a:extLst>
          </p:cNvPr>
          <p:cNvSpPr txBox="1"/>
          <p:nvPr/>
        </p:nvSpPr>
        <p:spPr>
          <a:xfrm>
            <a:off x="2954215" y="764775"/>
            <a:ext cx="8643883" cy="400110"/>
          </a:xfrm>
          <a:prstGeom prst="rect">
            <a:avLst/>
          </a:prstGeom>
          <a:noFill/>
        </p:spPr>
        <p:txBody>
          <a:bodyPr wrap="square" rtlCol="0">
            <a:spAutoFit/>
          </a:bodyPr>
          <a:lstStyle/>
          <a:p>
            <a:pPr algn="ctr"/>
            <a:r>
              <a:rPr lang="pl-PL" sz="2000" b="1" dirty="0">
                <a:solidFill>
                  <a:srgbClr val="C00000"/>
                </a:solidFill>
                <a:latin typeface="Mundial"/>
              </a:rPr>
              <a:t>PIERWSZA POMOC – POMOC PRZEDLEKARSKA – POMOC PRZEDMEDYCZNA</a:t>
            </a:r>
            <a:endParaRPr lang="pl-PL" sz="2000" b="1" i="0" u="none" strike="noStrike" baseline="0" dirty="0">
              <a:solidFill>
                <a:srgbClr val="C00000"/>
              </a:solidFill>
              <a:latin typeface="Mundial"/>
            </a:endParaRPr>
          </a:p>
        </p:txBody>
      </p:sp>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61172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70</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274885"/>
            <a:ext cx="8720548" cy="5217989"/>
          </a:xfrm>
        </p:spPr>
        <p:txBody>
          <a:bodyPr numCol="1"/>
          <a:lstStyle/>
          <a:p>
            <a:pPr algn="ctr"/>
            <a:r>
              <a:rPr lang="pl-PL" sz="2400" b="1" i="0" dirty="0">
                <a:solidFill>
                  <a:srgbClr val="C00000"/>
                </a:solidFill>
                <a:effectLst/>
                <a:latin typeface="Mundial "/>
              </a:rPr>
              <a:t>Do udzielania pierwszej pomocy zobowiązana jest </a:t>
            </a:r>
            <a:r>
              <a:rPr lang="pl-PL" sz="2400" b="1" u="sng" dirty="0">
                <a:solidFill>
                  <a:srgbClr val="C00000"/>
                </a:solidFill>
              </a:rPr>
              <a:t>KAŻDA OSOBA</a:t>
            </a:r>
            <a:r>
              <a:rPr lang="pl-PL" sz="2400" b="1" i="0" u="sng" dirty="0">
                <a:solidFill>
                  <a:srgbClr val="C00000"/>
                </a:solidFill>
                <a:effectLst/>
                <a:latin typeface="Mundial "/>
              </a:rPr>
              <a:t>, </a:t>
            </a:r>
            <a:r>
              <a:rPr lang="pl-PL" sz="2400" b="1" i="0" dirty="0">
                <a:solidFill>
                  <a:srgbClr val="C00000"/>
                </a:solidFill>
                <a:effectLst/>
                <a:latin typeface="Mundial "/>
              </a:rPr>
              <a:t>która zauważy niebezpieczeństwo. </a:t>
            </a:r>
          </a:p>
          <a:p>
            <a:r>
              <a:rPr lang="pl-PL" sz="2000" b="0" i="0" dirty="0">
                <a:solidFill>
                  <a:srgbClr val="000000"/>
                </a:solidFill>
                <a:effectLst/>
                <a:latin typeface="Mundial "/>
              </a:rPr>
              <a:t>Prawo nakłada obowiązek udzielania pierwszej pomocy. Za nieudzielenie pierwszej pomocy grozi odpowiedzialność karna:</a:t>
            </a:r>
          </a:p>
          <a:p>
            <a:pPr algn="l"/>
            <a:endParaRPr lang="pl-PL" sz="1800" b="0" i="0" dirty="0">
              <a:effectLst/>
              <a:latin typeface="Mundial "/>
            </a:endParaRPr>
          </a:p>
          <a:p>
            <a:pPr algn="l"/>
            <a:r>
              <a:rPr lang="pl-PL" sz="1800" b="0" i="0" dirty="0">
                <a:effectLst/>
                <a:latin typeface="Mundial "/>
              </a:rPr>
              <a:t>Art.  162. Kodeks Karny  [Nieudzielenie pomocy]</a:t>
            </a:r>
          </a:p>
          <a:p>
            <a:pPr algn="l"/>
            <a:r>
              <a:rPr lang="pl-PL" sz="1800" b="0" i="0" dirty="0">
                <a:effectLst/>
                <a:latin typeface="Mundial "/>
              </a:rPr>
              <a:t>§  1. Kto człowiekowi znajdującemu się w położeniu grożącym bezpośrednim niebezpieczeństwem utraty życia albo ciężkiego uszczerbku na zdrowiu nie udziela pomocy, mogąc jej udzielić bez narażenia siebie lub innej osoby na niebezpieczeństwo utraty życia albo ciężkiego uszczerbku na zdrowiu, podlega karze pozbawienia wolności do lat 3.</a:t>
            </a:r>
          </a:p>
          <a:p>
            <a:endParaRPr lang="pl-PL" sz="2000" b="0" i="0" u="none" strike="noStrike" baseline="0" dirty="0">
              <a:solidFill>
                <a:srgbClr val="000000"/>
              </a:solidFill>
              <a:latin typeface="Mundial "/>
            </a:endParaRPr>
          </a:p>
          <a:p>
            <a:endParaRPr lang="pl-PL" sz="1800" b="0" i="0" u="none" strike="noStrike" baseline="0" dirty="0">
              <a:solidFill>
                <a:srgbClr val="000000"/>
              </a:solidFill>
              <a:latin typeface="Calibri" panose="020F0502020204030204" pitchFamily="34" charset="0"/>
            </a:endParaRPr>
          </a:p>
          <a:p>
            <a:r>
              <a:rPr lang="pl-PL" sz="1800" b="0" i="0" u="none" strike="noStrike" baseline="0" dirty="0">
                <a:solidFill>
                  <a:srgbClr val="000000"/>
                </a:solidFill>
                <a:latin typeface="Calibri" panose="020F0502020204030204" pitchFamily="34" charset="0"/>
              </a:rPr>
              <a:t>	</a:t>
            </a: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Newsy - Śląski Okręgowy Związek Pływacki">
            <a:extLst>
              <a:ext uri="{FF2B5EF4-FFF2-40B4-BE49-F238E27FC236}">
                <a16:creationId xmlns:a16="http://schemas.microsoft.com/office/drawing/2014/main" id="{43733A71-2F4D-46E6-9C4F-11DDF3D19C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02418">
            <a:off x="9563586" y="3204796"/>
            <a:ext cx="1846606" cy="7034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EBF18847-37EF-4C5A-B6CE-C1011FB2C79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0867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71</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905609"/>
            <a:ext cx="8720548" cy="5217989"/>
          </a:xfrm>
        </p:spPr>
        <p:txBody>
          <a:bodyPr numCol="1"/>
          <a:lstStyle/>
          <a:p>
            <a:pPr algn="ctr"/>
            <a:r>
              <a:rPr lang="pl-PL" sz="2800" b="1" i="0" dirty="0">
                <a:solidFill>
                  <a:srgbClr val="C00000"/>
                </a:solidFill>
                <a:effectLst/>
                <a:latin typeface="Mundial "/>
              </a:rPr>
              <a:t>Do udzielania pierwszej pomocy zobowiązana jest </a:t>
            </a:r>
          </a:p>
          <a:p>
            <a:pPr algn="ctr"/>
            <a:r>
              <a:rPr lang="pl-PL" sz="2800" b="1" u="sng" dirty="0">
                <a:solidFill>
                  <a:srgbClr val="C00000"/>
                </a:solidFill>
              </a:rPr>
              <a:t>KAŻDA OSOBA</a:t>
            </a:r>
            <a:r>
              <a:rPr lang="pl-PL" sz="2800" b="1" i="0" u="sng" dirty="0">
                <a:solidFill>
                  <a:srgbClr val="C00000"/>
                </a:solidFill>
                <a:effectLst/>
                <a:latin typeface="Mundial "/>
              </a:rPr>
              <a:t>, </a:t>
            </a:r>
            <a:r>
              <a:rPr lang="pl-PL" sz="2800" b="1" i="0" dirty="0">
                <a:solidFill>
                  <a:srgbClr val="C00000"/>
                </a:solidFill>
                <a:effectLst/>
                <a:latin typeface="Mundial "/>
              </a:rPr>
              <a:t>która zauważy zdarzenie zagrażające życiu lub zdrowiu</a:t>
            </a:r>
            <a:endParaRPr lang="pl-PL" sz="2400" b="0" i="0" u="none" strike="noStrike" baseline="0" dirty="0">
              <a:solidFill>
                <a:srgbClr val="000000"/>
              </a:solidFill>
              <a:latin typeface="Mundial "/>
            </a:endParaRPr>
          </a:p>
          <a:p>
            <a:r>
              <a:rPr lang="pl-PL" sz="2200" b="0" i="0" u="none" strike="noStrike" baseline="0" dirty="0">
                <a:solidFill>
                  <a:srgbClr val="000000"/>
                </a:solidFill>
                <a:latin typeface="Mundial "/>
              </a:rPr>
              <a:t>Kluczowe dla ratowania życia i zdrowia poszkodowanego w wypadku jest:</a:t>
            </a:r>
          </a:p>
          <a:p>
            <a:pPr marL="436563" indent="-342900">
              <a:buFont typeface="Wingdings" panose="05000000000000000000" pitchFamily="2" charset="2"/>
              <a:buChar char="ü"/>
            </a:pPr>
            <a:r>
              <a:rPr lang="pl-PL" sz="2400" b="1" i="0" u="none" strike="noStrike" baseline="0" dirty="0">
                <a:solidFill>
                  <a:srgbClr val="000000"/>
                </a:solidFill>
                <a:latin typeface="Mundial "/>
              </a:rPr>
              <a:t>WEZWANIE POMOCY tel. 999 lub 112</a:t>
            </a:r>
          </a:p>
          <a:p>
            <a:pPr marL="436563" indent="-342900">
              <a:buFont typeface="Wingdings" panose="05000000000000000000" pitchFamily="2" charset="2"/>
              <a:buChar char="ü"/>
            </a:pPr>
            <a:r>
              <a:rPr lang="pl-PL" sz="2400" b="1" dirty="0">
                <a:solidFill>
                  <a:srgbClr val="000000"/>
                </a:solidFill>
                <a:latin typeface="Mundial "/>
              </a:rPr>
              <a:t>ZACHOWANIE OPANOWANIA</a:t>
            </a:r>
          </a:p>
          <a:p>
            <a:pPr marL="436563" indent="-342900">
              <a:buFont typeface="Wingdings" panose="05000000000000000000" pitchFamily="2" charset="2"/>
              <a:buChar char="ü"/>
            </a:pPr>
            <a:r>
              <a:rPr lang="pl-PL" sz="2400" b="1" i="0" u="none" strike="noStrike" baseline="0" dirty="0">
                <a:solidFill>
                  <a:srgbClr val="000000"/>
                </a:solidFill>
                <a:latin typeface="Mundial "/>
              </a:rPr>
              <a:t>ZADBANIE O WŁASNE BEZPIECZEŃSTWO</a:t>
            </a:r>
            <a:endParaRPr lang="pl-PL" sz="2000" dirty="0">
              <a:solidFill>
                <a:srgbClr val="000000"/>
              </a:solidFill>
              <a:latin typeface="Mundial "/>
            </a:endParaRPr>
          </a:p>
          <a:p>
            <a:pPr algn="ctr"/>
            <a:r>
              <a:rPr lang="pl-PL" sz="2800" b="1" dirty="0">
                <a:solidFill>
                  <a:srgbClr val="C00000"/>
                </a:solidFill>
                <a:latin typeface="Mundial "/>
              </a:rPr>
              <a:t>Zapamiętaj! </a:t>
            </a:r>
          </a:p>
          <a:p>
            <a:pPr algn="ctr"/>
            <a:r>
              <a:rPr lang="pl-PL" sz="2800" b="1" dirty="0">
                <a:solidFill>
                  <a:srgbClr val="C00000"/>
                </a:solidFill>
                <a:latin typeface="Mundial "/>
              </a:rPr>
              <a:t>Dobry ratownik to Żywy ratownik!</a:t>
            </a:r>
            <a:endParaRPr lang="pl-PL" sz="2800" b="1" i="0" u="none" strike="noStrike" baseline="0" dirty="0">
              <a:solidFill>
                <a:srgbClr val="C00000"/>
              </a:solidFill>
              <a:latin typeface="Mundial "/>
            </a:endParaRPr>
          </a:p>
          <a:p>
            <a:endParaRPr lang="pl-PL" sz="1800" b="0" i="0" u="none" strike="noStrike" baseline="0" dirty="0">
              <a:solidFill>
                <a:srgbClr val="000000"/>
              </a:solidFill>
              <a:latin typeface="Calibri" panose="020F0502020204030204" pitchFamily="34" charset="0"/>
            </a:endParaRPr>
          </a:p>
          <a:p>
            <a:r>
              <a:rPr lang="pl-PL" sz="1800" b="0" i="0" u="none" strike="noStrike" baseline="0" dirty="0">
                <a:solidFill>
                  <a:srgbClr val="000000"/>
                </a:solidFill>
                <a:latin typeface="Calibri" panose="020F0502020204030204" pitchFamily="34" charset="0"/>
              </a:rPr>
              <a:t>	</a:t>
            </a: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Newsy - Śląski Okręgowy Związek Pływacki">
            <a:extLst>
              <a:ext uri="{FF2B5EF4-FFF2-40B4-BE49-F238E27FC236}">
                <a16:creationId xmlns:a16="http://schemas.microsoft.com/office/drawing/2014/main" id="{897D17E9-F2F8-4878-A71C-B68DAE2A066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02418">
            <a:off x="9235194" y="3614450"/>
            <a:ext cx="1846606" cy="7034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EA3AA55-6F2C-423F-B1B8-E4EDC824D38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79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1910628" cy="984583"/>
          </a:xfrm>
        </p:spPr>
        <p:txBody>
          <a:bodyPr>
            <a:normAutofit/>
          </a:bodyPr>
          <a:lstStyle/>
          <a:p>
            <a:r>
              <a:rPr lang="pl-PL" b="1" dirty="0"/>
              <a:t>Telefony alarmowe</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72</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21001" y="1011115"/>
            <a:ext cx="8421075" cy="5481759"/>
          </a:xfrm>
        </p:spPr>
        <p:txBody>
          <a:bodyPr/>
          <a:lstStyle/>
          <a:p>
            <a:endParaRPr lang="pl-PL" sz="2800" b="1" dirty="0">
              <a:latin typeface="Mundial"/>
            </a:endParaRPr>
          </a:p>
          <a:p>
            <a:endParaRPr lang="pl-PL" sz="2800" b="1" dirty="0">
              <a:latin typeface="Mundial"/>
            </a:endParaRPr>
          </a:p>
          <a:p>
            <a:r>
              <a:rPr lang="pl-PL" sz="3200" b="1" dirty="0">
                <a:latin typeface="Mundial"/>
              </a:rPr>
              <a:t>Policja 997</a:t>
            </a:r>
          </a:p>
          <a:p>
            <a:r>
              <a:rPr lang="pl-PL" sz="3200" b="1" dirty="0">
                <a:solidFill>
                  <a:srgbClr val="C00000"/>
                </a:solidFill>
                <a:latin typeface="Mundial"/>
              </a:rPr>
              <a:t>Straż Pożarna 998</a:t>
            </a:r>
          </a:p>
          <a:p>
            <a:r>
              <a:rPr lang="pl-PL" sz="3200" b="1" dirty="0">
                <a:latin typeface="Mundial"/>
              </a:rPr>
              <a:t>Pogotowie Ratunkowe 999</a:t>
            </a:r>
          </a:p>
          <a:p>
            <a:r>
              <a:rPr lang="pl-PL" sz="3200" b="1" dirty="0">
                <a:solidFill>
                  <a:srgbClr val="C00000"/>
                </a:solidFill>
                <a:latin typeface="Mundial"/>
              </a:rPr>
              <a:t>Centrum Powiadamiania Ratunkowego 112</a:t>
            </a:r>
          </a:p>
          <a:p>
            <a:endParaRPr lang="pl-PL" sz="2800" b="1" dirty="0">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Заказать |">
            <a:extLst>
              <a:ext uri="{FF2B5EF4-FFF2-40B4-BE49-F238E27FC236}">
                <a16:creationId xmlns:a16="http://schemas.microsoft.com/office/drawing/2014/main" id="{369150CF-18AC-41EA-822D-22D899F818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6629" y="547687"/>
            <a:ext cx="5245371" cy="40349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Newsy - Śląski Okręgowy Związek Pływacki">
            <a:extLst>
              <a:ext uri="{FF2B5EF4-FFF2-40B4-BE49-F238E27FC236}">
                <a16:creationId xmlns:a16="http://schemas.microsoft.com/office/drawing/2014/main" id="{417D152F-8653-4A30-AC5F-A8C6B7C3C0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96692">
            <a:off x="5943135" y="1412873"/>
            <a:ext cx="2103076" cy="80117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6DA1C1AD-CF1E-4ABD-9D2C-07422C85480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6386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73</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274885"/>
            <a:ext cx="8720548" cy="5217989"/>
          </a:xfrm>
        </p:spPr>
        <p:txBody>
          <a:bodyPr numCol="1"/>
          <a:lstStyle/>
          <a:p>
            <a:pPr>
              <a:spcBef>
                <a:spcPts val="0"/>
              </a:spcBef>
            </a:pPr>
            <a:r>
              <a:rPr lang="pl-PL" sz="2400" b="1" i="0" u="none" strike="noStrike" baseline="0" dirty="0">
                <a:solidFill>
                  <a:srgbClr val="C00000"/>
                </a:solidFill>
                <a:latin typeface="Mundial "/>
              </a:rPr>
              <a:t>Dzwoniąc pod numer alarmowy pamiętaj, </a:t>
            </a:r>
          </a:p>
          <a:p>
            <a:pPr>
              <a:spcBef>
                <a:spcPts val="0"/>
              </a:spcBef>
            </a:pPr>
            <a:r>
              <a:rPr lang="pl-PL" sz="2400" b="1" i="0" u="none" strike="noStrike" baseline="0" dirty="0">
                <a:solidFill>
                  <a:srgbClr val="C00000"/>
                </a:solidFill>
                <a:latin typeface="Mundial "/>
              </a:rPr>
              <a:t>by po</a:t>
            </a:r>
            <a:r>
              <a:rPr lang="pl-PL" sz="2400" b="1" dirty="0">
                <a:solidFill>
                  <a:srgbClr val="C00000"/>
                </a:solidFill>
                <a:latin typeface="Mundial "/>
              </a:rPr>
              <a:t>stępować wg wskazówek dyspozytora</a:t>
            </a:r>
          </a:p>
          <a:p>
            <a:r>
              <a:rPr lang="pl-PL" sz="2000" b="1" i="0" u="none" strike="noStrike" baseline="0" dirty="0">
                <a:latin typeface="Mundial "/>
              </a:rPr>
              <a:t>Bądź przygotowany, by podać informacje o:</a:t>
            </a:r>
          </a:p>
          <a:p>
            <a:pPr marL="379413" indent="-285750">
              <a:buFontTx/>
              <a:buChar char="-"/>
            </a:pPr>
            <a:r>
              <a:rPr lang="pl-PL" sz="2000" b="1" dirty="0">
                <a:latin typeface="Mundial "/>
              </a:rPr>
              <a:t>miejscu zdarzenia (podaj adres, budynek, piętro….),</a:t>
            </a:r>
          </a:p>
          <a:p>
            <a:pPr marL="379413" indent="-285750">
              <a:buFontTx/>
              <a:buChar char="-"/>
            </a:pPr>
            <a:r>
              <a:rPr lang="pl-PL" sz="2000" b="1" dirty="0">
                <a:latin typeface="Mundial "/>
              </a:rPr>
              <a:t>s</a:t>
            </a:r>
            <a:r>
              <a:rPr lang="pl-PL" sz="2000" b="1" i="0" u="none" strike="noStrike" baseline="0" dirty="0">
                <a:latin typeface="Mundial "/>
              </a:rPr>
              <a:t>woje dane jako </a:t>
            </a:r>
            <a:r>
              <a:rPr lang="pl-PL" sz="2000" b="1" dirty="0">
                <a:latin typeface="Mundial "/>
              </a:rPr>
              <a:t>osoby zgłaszającej zdarzenie,</a:t>
            </a:r>
          </a:p>
          <a:p>
            <a:pPr marL="379413" indent="-285750">
              <a:buFontTx/>
              <a:buChar char="-"/>
            </a:pPr>
            <a:r>
              <a:rPr lang="pl-PL" sz="2000" b="1" i="0" u="none" strike="noStrike" baseline="0" dirty="0">
                <a:latin typeface="Mundial "/>
              </a:rPr>
              <a:t>o poszkodowanym (wiek, płe</a:t>
            </a:r>
            <a:r>
              <a:rPr lang="pl-PL" sz="2000" b="1" dirty="0">
                <a:latin typeface="Mundial "/>
              </a:rPr>
              <a:t>ć, informacje charakterystyczne np. ciąży, niepełnosprawności, </a:t>
            </a:r>
            <a:r>
              <a:rPr lang="pl-PL" sz="2000" b="1" dirty="0" err="1">
                <a:latin typeface="Mundial "/>
              </a:rPr>
              <a:t>itd</a:t>
            </a:r>
            <a:r>
              <a:rPr lang="pl-PL" sz="2000" b="1" dirty="0">
                <a:latin typeface="Mundial "/>
              </a:rPr>
              <a:t>…)</a:t>
            </a:r>
          </a:p>
          <a:p>
            <a:pPr marL="379413" indent="-285750">
              <a:buFontTx/>
              <a:buChar char="-"/>
            </a:pPr>
            <a:r>
              <a:rPr lang="pl-PL" sz="2000" b="1" dirty="0">
                <a:latin typeface="Mundial "/>
              </a:rPr>
              <a:t>o</a:t>
            </a:r>
            <a:r>
              <a:rPr lang="pl-PL" sz="2000" b="1" i="0" u="none" strike="noStrike" baseline="0" dirty="0">
                <a:latin typeface="Mundial "/>
              </a:rPr>
              <a:t>pisz, co widzisz, co się wydarzyło.</a:t>
            </a:r>
            <a:endParaRPr lang="pl-PL" sz="2000" b="1" dirty="0">
              <a:latin typeface="Mundial "/>
            </a:endParaRPr>
          </a:p>
          <a:p>
            <a:pPr algn="ctr"/>
            <a:endParaRPr lang="pl-PL" sz="1100" b="1" i="0" u="none" strike="noStrike" baseline="0" dirty="0">
              <a:solidFill>
                <a:srgbClr val="C00000"/>
              </a:solidFill>
              <a:latin typeface="Mundial "/>
            </a:endParaRPr>
          </a:p>
          <a:p>
            <a:pPr algn="ctr"/>
            <a:r>
              <a:rPr lang="pl-PL" sz="2400" b="1" i="0" u="none" strike="noStrike" baseline="0" dirty="0">
                <a:solidFill>
                  <a:srgbClr val="C00000"/>
                </a:solidFill>
                <a:latin typeface="Mundial "/>
              </a:rPr>
              <a:t>Zachowaj spokój i bądź gotowy do współpracy</a:t>
            </a:r>
          </a:p>
          <a:p>
            <a:r>
              <a:rPr lang="pl-PL" sz="1800" b="0" i="0" u="none" strike="noStrike" baseline="0" dirty="0">
                <a:solidFill>
                  <a:srgbClr val="000000"/>
                </a:solidFill>
                <a:latin typeface="Calibri" panose="020F0502020204030204" pitchFamily="34" charset="0"/>
              </a:rPr>
              <a:t>	</a:t>
            </a: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F46BDB4B-7CD6-40ED-8BAD-B60558CD07F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owa Strona">
            <a:extLst>
              <a:ext uri="{FF2B5EF4-FFF2-40B4-BE49-F238E27FC236}">
                <a16:creationId xmlns:a16="http://schemas.microsoft.com/office/drawing/2014/main" id="{30486B2B-C4D0-4D1C-9877-3005E2DD2C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3293" y="730250"/>
            <a:ext cx="2019300" cy="2257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0830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74</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730251"/>
            <a:ext cx="8720548" cy="5762624"/>
          </a:xfrm>
        </p:spPr>
        <p:txBody>
          <a:bodyPr numCol="1"/>
          <a:lstStyle/>
          <a:p>
            <a:pPr algn="ctr"/>
            <a:r>
              <a:rPr lang="pl-PL" sz="2000" b="1" dirty="0">
                <a:solidFill>
                  <a:srgbClr val="C00000"/>
                </a:solidFill>
                <a:latin typeface="Mundial"/>
              </a:rPr>
              <a:t>SCHEMAT POSTĘPOWANIA Z OSOBĄ POSZKODOWANĄ NIEPRZYTOMNĄ</a:t>
            </a:r>
          </a:p>
          <a:p>
            <a:r>
              <a:rPr lang="pl-PL" sz="2000" b="1" i="0" u="none" strike="noStrike" baseline="0" dirty="0">
                <a:solidFill>
                  <a:srgbClr val="000000"/>
                </a:solidFill>
                <a:latin typeface="Mundial"/>
              </a:rPr>
              <a:t>Osoba </a:t>
            </a:r>
            <a:r>
              <a:rPr lang="pl-PL" sz="2000" b="1" dirty="0">
                <a:solidFill>
                  <a:srgbClr val="000000"/>
                </a:solidFill>
                <a:latin typeface="Mundial"/>
              </a:rPr>
              <a:t>NIE</a:t>
            </a:r>
            <a:r>
              <a:rPr lang="pl-PL" sz="2000" b="1" i="0" u="none" strike="noStrike" baseline="0" dirty="0">
                <a:solidFill>
                  <a:srgbClr val="000000"/>
                </a:solidFill>
                <a:latin typeface="Mundial"/>
              </a:rPr>
              <a:t>ODDYCHAJĄCA </a:t>
            </a:r>
            <a:r>
              <a:rPr lang="pl-PL" sz="2000" b="0" i="0" u="none" strike="noStrike" baseline="0" dirty="0">
                <a:solidFill>
                  <a:srgbClr val="000000"/>
                </a:solidFill>
                <a:latin typeface="Mundial"/>
              </a:rPr>
              <a:t>			</a:t>
            </a:r>
            <a:r>
              <a:rPr lang="pl-PL" sz="2000" b="1" i="0" u="none" strike="noStrike" baseline="0" dirty="0">
                <a:solidFill>
                  <a:srgbClr val="000000"/>
                </a:solidFill>
                <a:latin typeface="Mundial"/>
              </a:rPr>
              <a:t>osoba ODDYCHAJĄC</a:t>
            </a:r>
          </a:p>
          <a:p>
            <a:pPr algn="ctr"/>
            <a:endParaRPr lang="pl-PL" sz="2000" dirty="0">
              <a:solidFill>
                <a:srgbClr val="000000"/>
              </a:solidFill>
              <a:latin typeface="Mundial"/>
            </a:endParaRPr>
          </a:p>
          <a:p>
            <a:pPr algn="ctr"/>
            <a:r>
              <a:rPr lang="pl-PL" sz="2000" b="1" dirty="0">
                <a:solidFill>
                  <a:srgbClr val="000000"/>
                </a:solidFill>
                <a:latin typeface="Mundial"/>
              </a:rPr>
              <a:t>Reagujemy</a:t>
            </a:r>
          </a:p>
          <a:p>
            <a:pPr algn="ctr"/>
            <a:r>
              <a:rPr lang="pl-PL" sz="2000" b="1" i="0" u="none" strike="noStrike" baseline="0" dirty="0">
                <a:solidFill>
                  <a:srgbClr val="000000"/>
                </a:solidFill>
                <a:latin typeface="Mundial"/>
              </a:rPr>
              <a:t>Oceniamy bezpieczeństwo swoje i poszkodowanego</a:t>
            </a:r>
          </a:p>
          <a:p>
            <a:pPr algn="ctr"/>
            <a:r>
              <a:rPr lang="pl-PL" sz="2000" b="1" u="sng" dirty="0">
                <a:solidFill>
                  <a:srgbClr val="C00000"/>
                </a:solidFill>
                <a:latin typeface="Mundial"/>
              </a:rPr>
              <a:t>Wzywamy pomocy tel. 999 lub 112</a:t>
            </a:r>
          </a:p>
          <a:p>
            <a:pPr algn="ctr"/>
            <a:r>
              <a:rPr lang="pl-PL" sz="2000" b="1" i="0" u="none" strike="noStrike" baseline="0" dirty="0">
                <a:solidFill>
                  <a:srgbClr val="000000"/>
                </a:solidFill>
                <a:latin typeface="Mundial"/>
              </a:rPr>
              <a:t>Sprawdzamy oddech</a:t>
            </a:r>
          </a:p>
          <a:p>
            <a:endParaRPr lang="pl-PL" sz="2000" dirty="0">
              <a:solidFill>
                <a:srgbClr val="000000"/>
              </a:solidFill>
              <a:latin typeface="Mundial"/>
            </a:endParaRPr>
          </a:p>
          <a:p>
            <a:r>
              <a:rPr lang="pl-PL" sz="2000" b="1" dirty="0">
                <a:solidFill>
                  <a:srgbClr val="000000"/>
                </a:solidFill>
                <a:latin typeface="Mundial"/>
              </a:rPr>
              <a:t>Wykonujemy resuscytację 			</a:t>
            </a:r>
            <a:r>
              <a:rPr lang="pl-PL" sz="2000" b="1" i="0" u="none" strike="noStrike" baseline="0" dirty="0">
                <a:solidFill>
                  <a:srgbClr val="000000"/>
                </a:solidFill>
                <a:latin typeface="Mundial"/>
              </a:rPr>
              <a:t>Układamy w pozycji </a:t>
            </a:r>
            <a:r>
              <a:rPr lang="pl-PL" sz="2000" b="1" dirty="0">
                <a:solidFill>
                  <a:srgbClr val="000000"/>
                </a:solidFill>
                <a:latin typeface="Mundial"/>
              </a:rPr>
              <a:t>bocznej krążeniowo-oddechową (RKO)			ustalonej</a:t>
            </a:r>
          </a:p>
          <a:p>
            <a:r>
              <a:rPr lang="pl-PL" sz="2000" b="1" dirty="0">
                <a:solidFill>
                  <a:srgbClr val="000000"/>
                </a:solidFill>
                <a:latin typeface="Mundial"/>
              </a:rPr>
              <a:t>30 uciśnięć – 2 oddechy ratownicze		monitorujemy stan zdrowia</a:t>
            </a:r>
          </a:p>
          <a:p>
            <a:pPr algn="ctr"/>
            <a:r>
              <a:rPr lang="pl-PL" sz="2000" b="1" u="sng" dirty="0">
                <a:solidFill>
                  <a:srgbClr val="C00000"/>
                </a:solidFill>
                <a:latin typeface="Mundial"/>
              </a:rPr>
              <a:t>Czekamy na przyjazd wykwalifikowanych służb</a:t>
            </a:r>
          </a:p>
          <a:p>
            <a:endParaRPr lang="pl-PL" sz="2000" b="0" i="0" u="none" strike="noStrike" baseline="0" dirty="0">
              <a:solidFill>
                <a:srgbClr val="000000"/>
              </a:solidFill>
              <a:latin typeface="Mundial"/>
            </a:endParaRPr>
          </a:p>
          <a:p>
            <a:endParaRPr lang="pl-PL" sz="2000" b="0" i="0" u="none" strike="noStrike" baseline="0" dirty="0">
              <a:solidFill>
                <a:srgbClr val="000000"/>
              </a:solidFill>
              <a:latin typeface="Mundial"/>
            </a:endParaRPr>
          </a:p>
          <a:p>
            <a:endParaRPr lang="pl-PL" sz="2000" b="0" i="0" u="none" strike="noStrike" baseline="0" dirty="0">
              <a:solidFill>
                <a:srgbClr val="000000"/>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FE4F8FC-36A4-48E4-95AA-83188EAE2C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
        <p:nvSpPr>
          <p:cNvPr id="10" name="Strzałka: w prawo 9">
            <a:extLst>
              <a:ext uri="{FF2B5EF4-FFF2-40B4-BE49-F238E27FC236}">
                <a16:creationId xmlns:a16="http://schemas.microsoft.com/office/drawing/2014/main" id="{3F009449-ACD3-4A2E-BD1B-FDFE8B76B682}"/>
              </a:ext>
            </a:extLst>
          </p:cNvPr>
          <p:cNvSpPr/>
          <p:nvPr/>
        </p:nvSpPr>
        <p:spPr>
          <a:xfrm rot="2330255">
            <a:off x="5583819" y="1889410"/>
            <a:ext cx="1087680" cy="5415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Strzałka: w prawo 12">
            <a:extLst>
              <a:ext uri="{FF2B5EF4-FFF2-40B4-BE49-F238E27FC236}">
                <a16:creationId xmlns:a16="http://schemas.microsoft.com/office/drawing/2014/main" id="{5FA049B2-705C-4875-94F5-FE8DAD848B52}"/>
              </a:ext>
            </a:extLst>
          </p:cNvPr>
          <p:cNvSpPr/>
          <p:nvPr/>
        </p:nvSpPr>
        <p:spPr>
          <a:xfrm rot="8296224">
            <a:off x="7996197" y="1835581"/>
            <a:ext cx="1037928" cy="5415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Strzałka: w prawo 13">
            <a:extLst>
              <a:ext uri="{FF2B5EF4-FFF2-40B4-BE49-F238E27FC236}">
                <a16:creationId xmlns:a16="http://schemas.microsoft.com/office/drawing/2014/main" id="{C2E224C5-AB9F-4E7D-A827-313B3E4CAF18}"/>
              </a:ext>
            </a:extLst>
          </p:cNvPr>
          <p:cNvSpPr/>
          <p:nvPr/>
        </p:nvSpPr>
        <p:spPr>
          <a:xfrm rot="8533414">
            <a:off x="4890951" y="4181047"/>
            <a:ext cx="1041591" cy="5415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15" name="Strzałka: w prawo 14">
            <a:extLst>
              <a:ext uri="{FF2B5EF4-FFF2-40B4-BE49-F238E27FC236}">
                <a16:creationId xmlns:a16="http://schemas.microsoft.com/office/drawing/2014/main" id="{CD91C082-357C-471B-A08D-ED71169FA143}"/>
              </a:ext>
            </a:extLst>
          </p:cNvPr>
          <p:cNvSpPr/>
          <p:nvPr/>
        </p:nvSpPr>
        <p:spPr>
          <a:xfrm rot="2665018">
            <a:off x="8538849" y="4181047"/>
            <a:ext cx="1087680" cy="5415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9650279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75</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028869" y="919779"/>
            <a:ext cx="8720548" cy="5217989"/>
          </a:xfrm>
        </p:spPr>
        <p:txBody>
          <a:bodyPr numCol="1"/>
          <a:lstStyle/>
          <a:p>
            <a:pPr algn="ctr"/>
            <a:r>
              <a:rPr lang="pl-PL" sz="2400" b="1" i="0" u="none" strike="noStrike" baseline="0" dirty="0">
                <a:solidFill>
                  <a:srgbClr val="C00000"/>
                </a:solidFill>
                <a:latin typeface="Mundial"/>
              </a:rPr>
              <a:t>RESUSCYTACJA KRĄŻENIOWO-ODDECHOWA (RKO)</a:t>
            </a:r>
          </a:p>
          <a:p>
            <a:r>
              <a:rPr lang="pl-PL" sz="2000" b="1" dirty="0">
                <a:solidFill>
                  <a:srgbClr val="000000"/>
                </a:solidFill>
                <a:latin typeface="Mundial"/>
              </a:rPr>
              <a:t>To działania podejmowane w sytuacji, gdy u poszkodowanego dojdzie do nagłego zatrzymania krążenia, czyli ustaną czynności serca wraz z utratą świadomości i bezdechem.</a:t>
            </a:r>
          </a:p>
          <a:p>
            <a:r>
              <a:rPr lang="pl-PL" sz="2400" b="0" i="0" dirty="0">
                <a:solidFill>
                  <a:srgbClr val="202124"/>
                </a:solidFill>
                <a:effectLst/>
                <a:latin typeface="Mundial"/>
              </a:rPr>
              <a:t>Ogólny schemat resuscytacji to </a:t>
            </a:r>
          </a:p>
          <a:p>
            <a:r>
              <a:rPr lang="pl-PL" sz="3200" b="1" i="0" dirty="0">
                <a:solidFill>
                  <a:srgbClr val="C00000"/>
                </a:solidFill>
                <a:effectLst/>
                <a:latin typeface="Mundial"/>
              </a:rPr>
              <a:t>30 uciśnięć i 2 wdechy. </a:t>
            </a:r>
          </a:p>
          <a:p>
            <a:r>
              <a:rPr lang="pl-PL" sz="2400" b="0" i="0" dirty="0">
                <a:solidFill>
                  <a:srgbClr val="202124"/>
                </a:solidFill>
                <a:effectLst/>
                <a:latin typeface="Mundial"/>
              </a:rPr>
              <a:t>Czynność taką powtarzamy aż do momentu                                                    odzyskania oddechu przez poszkodowanego                                                                                                     lub do momentu przyjechania karetki pogotowia. </a:t>
            </a:r>
            <a:endParaRPr lang="pl-PL" sz="2400" b="1" dirty="0">
              <a:solidFill>
                <a:srgbClr val="000000"/>
              </a:solidFill>
              <a:latin typeface="Mundial"/>
            </a:endParaRPr>
          </a:p>
          <a:p>
            <a:endParaRPr lang="pl-PL" sz="2000" b="0" i="0" u="none" strike="noStrike" baseline="0" dirty="0">
              <a:solidFill>
                <a:srgbClr val="000000"/>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FE4F8FC-36A4-48E4-95AA-83188EAE2C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ierwsza pomoc przedmedyczna">
            <a:extLst>
              <a:ext uri="{FF2B5EF4-FFF2-40B4-BE49-F238E27FC236}">
                <a16:creationId xmlns:a16="http://schemas.microsoft.com/office/drawing/2014/main" id="{04998FCF-6D35-409C-9965-9458F58608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02687" y="2769488"/>
            <a:ext cx="3323815" cy="2489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6447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76</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730251"/>
            <a:ext cx="8720548" cy="5762624"/>
          </a:xfrm>
        </p:spPr>
        <p:txBody>
          <a:bodyPr numCol="1"/>
          <a:lstStyle/>
          <a:p>
            <a:pPr algn="ctr"/>
            <a:r>
              <a:rPr lang="pl-PL" sz="2400" b="1" i="0" u="none" strike="noStrike" baseline="0" dirty="0">
                <a:solidFill>
                  <a:srgbClr val="C00000"/>
                </a:solidFill>
                <a:latin typeface="Mundial"/>
              </a:rPr>
              <a:t>RESUSCYTACJA KRĄŻENIOWO-ODDECHOWA (RKO)</a:t>
            </a:r>
          </a:p>
          <a:p>
            <a:pPr>
              <a:spcBef>
                <a:spcPts val="0"/>
              </a:spcBef>
            </a:pPr>
            <a:r>
              <a:rPr lang="pl-PL" sz="2400" b="1" i="0" u="none" strike="noStrike" baseline="0" dirty="0">
                <a:solidFill>
                  <a:srgbClr val="000000"/>
                </a:solidFill>
                <a:latin typeface="Mundial"/>
              </a:rPr>
              <a:t>Zasady uciskania klatki piersiowej (30 uciśnięć):</a:t>
            </a:r>
          </a:p>
          <a:p>
            <a:pPr marL="436563" indent="-342900">
              <a:spcBef>
                <a:spcPts val="0"/>
              </a:spcBef>
              <a:buFont typeface="Wingdings" panose="05000000000000000000" pitchFamily="2" charset="2"/>
              <a:buChar char="ü"/>
            </a:pPr>
            <a:r>
              <a:rPr lang="pl-PL" sz="2000" dirty="0">
                <a:solidFill>
                  <a:srgbClr val="000000"/>
                </a:solidFill>
                <a:latin typeface="Mundial"/>
              </a:rPr>
              <a:t>Ułóż poszkodowanego na plecach, na twardej i równiej powierzchni</a:t>
            </a:r>
          </a:p>
          <a:p>
            <a:pPr marL="436563" indent="-342900">
              <a:spcBef>
                <a:spcPts val="0"/>
              </a:spcBef>
              <a:buFont typeface="Wingdings" panose="05000000000000000000" pitchFamily="2" charset="2"/>
              <a:buChar char="ü"/>
            </a:pPr>
            <a:r>
              <a:rPr lang="pl-PL" sz="2000" b="0" i="0" u="none" strike="noStrike" baseline="0" dirty="0">
                <a:solidFill>
                  <a:srgbClr val="000000"/>
                </a:solidFill>
                <a:latin typeface="Mundial"/>
              </a:rPr>
              <a:t>Ułóż ręce centralnie na klatce piersiowej poszkodowanego</a:t>
            </a:r>
          </a:p>
          <a:p>
            <a:pPr marL="436563" indent="-342900">
              <a:spcBef>
                <a:spcPts val="0"/>
              </a:spcBef>
              <a:buFont typeface="Wingdings" panose="05000000000000000000" pitchFamily="2" charset="2"/>
              <a:buChar char="ü"/>
            </a:pPr>
            <a:r>
              <a:rPr lang="pl-PL" sz="2000" dirty="0">
                <a:solidFill>
                  <a:srgbClr val="000000"/>
                </a:solidFill>
                <a:latin typeface="Mundial"/>
              </a:rPr>
              <a:t>Wyprostuj ręce w łokciach, nachyl się nad poszkodowanym</a:t>
            </a:r>
          </a:p>
          <a:p>
            <a:pPr marL="436563" indent="-342900">
              <a:spcBef>
                <a:spcPts val="0"/>
              </a:spcBef>
              <a:buFont typeface="Wingdings" panose="05000000000000000000" pitchFamily="2" charset="2"/>
              <a:buChar char="ü"/>
            </a:pPr>
            <a:r>
              <a:rPr lang="pl-PL" sz="2000" b="0" i="0" u="none" strike="noStrike" baseline="0" dirty="0">
                <a:solidFill>
                  <a:srgbClr val="000000"/>
                </a:solidFill>
                <a:latin typeface="Mundial"/>
              </a:rPr>
              <a:t>Uciskaj klatkę piersiową </a:t>
            </a:r>
            <a:r>
              <a:rPr lang="pl-PL" sz="2000" b="1" i="0" u="none" strike="noStrike" baseline="0" dirty="0">
                <a:solidFill>
                  <a:srgbClr val="C00000"/>
                </a:solidFill>
                <a:latin typeface="Mundial"/>
              </a:rPr>
              <a:t>30 razy </a:t>
            </a:r>
            <a:r>
              <a:rPr lang="pl-PL" sz="2000" b="0" i="0" u="none" strike="noStrike" baseline="0" dirty="0">
                <a:solidFill>
                  <a:srgbClr val="000000"/>
                </a:solidFill>
                <a:latin typeface="Mundial"/>
              </a:rPr>
              <a:t>w rytmie ok</a:t>
            </a:r>
            <a:r>
              <a:rPr lang="pl-PL" sz="2000" dirty="0">
                <a:solidFill>
                  <a:srgbClr val="000000"/>
                </a:solidFill>
                <a:latin typeface="Mundial"/>
              </a:rPr>
              <a:t>. </a:t>
            </a:r>
            <a:r>
              <a:rPr lang="pl-PL" sz="2000" b="0" i="0" u="none" strike="noStrike" baseline="0" dirty="0">
                <a:solidFill>
                  <a:srgbClr val="000000"/>
                </a:solidFill>
                <a:latin typeface="Mundial"/>
              </a:rPr>
              <a:t>100 uciśnięć na minutę na głębokość 4-5 cm</a:t>
            </a: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FE4F8FC-36A4-48E4-95AA-83188EAE2C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49E62557-FD62-4F0B-8E52-AF67FD226A27}"/>
              </a:ext>
            </a:extLst>
          </p:cNvPr>
          <p:cNvPicPr>
            <a:picLocks noChangeAspect="1"/>
          </p:cNvPicPr>
          <p:nvPr/>
        </p:nvPicPr>
        <p:blipFill>
          <a:blip r:embed="rId4"/>
          <a:stretch>
            <a:fillRect/>
          </a:stretch>
        </p:blipFill>
        <p:spPr>
          <a:xfrm>
            <a:off x="3924962" y="3879544"/>
            <a:ext cx="6560174" cy="2370338"/>
          </a:xfrm>
          <a:prstGeom prst="rect">
            <a:avLst/>
          </a:prstGeom>
        </p:spPr>
      </p:pic>
    </p:spTree>
    <p:extLst>
      <p:ext uri="{BB962C8B-B14F-4D97-AF65-F5344CB8AC3E}">
        <p14:creationId xmlns:p14="http://schemas.microsoft.com/office/powerpoint/2010/main" val="30909017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77</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730251"/>
            <a:ext cx="8720548" cy="5762624"/>
          </a:xfrm>
        </p:spPr>
        <p:txBody>
          <a:bodyPr numCol="1"/>
          <a:lstStyle/>
          <a:p>
            <a:pPr algn="ctr"/>
            <a:r>
              <a:rPr lang="pl-PL" sz="2400" b="1" i="0" u="none" strike="noStrike" baseline="0" dirty="0">
                <a:solidFill>
                  <a:srgbClr val="C00000"/>
                </a:solidFill>
                <a:latin typeface="Mundial"/>
              </a:rPr>
              <a:t>RESUSCYTACJA KRĄŻENIOWO-ODDECHOWA (RKO)</a:t>
            </a:r>
          </a:p>
          <a:p>
            <a:pPr>
              <a:spcBef>
                <a:spcPts val="0"/>
              </a:spcBef>
            </a:pPr>
            <a:r>
              <a:rPr lang="pl-PL" sz="2400" b="1" i="0" u="none" strike="noStrike" baseline="0" dirty="0">
                <a:solidFill>
                  <a:srgbClr val="000000"/>
                </a:solidFill>
                <a:latin typeface="Mundial"/>
              </a:rPr>
              <a:t>Zasady </a:t>
            </a:r>
            <a:r>
              <a:rPr lang="pl-PL" sz="2400" b="1" dirty="0">
                <a:solidFill>
                  <a:srgbClr val="000000"/>
                </a:solidFill>
                <a:latin typeface="Mundial"/>
              </a:rPr>
              <a:t>odd</a:t>
            </a:r>
            <a:r>
              <a:rPr lang="pl-PL" sz="2400" b="1" i="0" u="none" strike="noStrike" baseline="0" dirty="0">
                <a:solidFill>
                  <a:srgbClr val="000000"/>
                </a:solidFill>
                <a:latin typeface="Mundial"/>
              </a:rPr>
              <a:t>echów ratowniczych (2 wdechy):</a:t>
            </a:r>
          </a:p>
          <a:p>
            <a:pPr marL="436563" indent="-342900">
              <a:spcBef>
                <a:spcPts val="0"/>
              </a:spcBef>
              <a:buFont typeface="Wingdings" panose="05000000000000000000" pitchFamily="2" charset="2"/>
              <a:buChar char="ü"/>
            </a:pPr>
            <a:r>
              <a:rPr lang="pl-PL" sz="2000" b="0" i="0" u="none" strike="noStrike" baseline="0" dirty="0">
                <a:solidFill>
                  <a:srgbClr val="000000"/>
                </a:solidFill>
                <a:latin typeface="Mundial"/>
              </a:rPr>
              <a:t>Odegnij głowę poszkodowanego do dołu, a brodę unieś do góry</a:t>
            </a:r>
          </a:p>
          <a:p>
            <a:pPr marL="436563" indent="-342900">
              <a:spcBef>
                <a:spcPts val="0"/>
              </a:spcBef>
              <a:buFont typeface="Wingdings" panose="05000000000000000000" pitchFamily="2" charset="2"/>
              <a:buChar char="ü"/>
            </a:pPr>
            <a:r>
              <a:rPr lang="pl-PL" sz="2000" dirty="0">
                <a:solidFill>
                  <a:srgbClr val="000000"/>
                </a:solidFill>
                <a:latin typeface="Mundial"/>
              </a:rPr>
              <a:t>Nabierz powietrza, wargami obejmij usta poszkodowanego i wdmuchaj powietrze do płuc ratowanego; jeśli możesz użyj gazy, materiału, maseczki, by chronić swoją osobę przed ewentualną infekcją</a:t>
            </a:r>
          </a:p>
          <a:p>
            <a:pPr marL="436563" indent="-342900">
              <a:spcBef>
                <a:spcPts val="0"/>
              </a:spcBef>
              <a:buFont typeface="Wingdings" panose="05000000000000000000" pitchFamily="2" charset="2"/>
              <a:buChar char="ü"/>
            </a:pPr>
            <a:r>
              <a:rPr lang="pl-PL" sz="2000" b="0" i="0" u="none" strike="noStrike" baseline="0" dirty="0">
                <a:solidFill>
                  <a:srgbClr val="000000"/>
                </a:solidFill>
                <a:latin typeface="Mundial"/>
              </a:rPr>
              <a:t>Wykonaj 2 </a:t>
            </a:r>
            <a:r>
              <a:rPr lang="pl-PL" sz="2000" dirty="0">
                <a:solidFill>
                  <a:srgbClr val="000000"/>
                </a:solidFill>
                <a:latin typeface="Mundial"/>
              </a:rPr>
              <a:t>oddechy ratownicze, każdy po 1 sekundę, przerwa między nimi 10 sekund</a:t>
            </a:r>
          </a:p>
          <a:p>
            <a:pPr marL="436563" indent="-342900">
              <a:spcBef>
                <a:spcPts val="0"/>
              </a:spcBef>
              <a:buFont typeface="Wingdings" panose="05000000000000000000" pitchFamily="2" charset="2"/>
              <a:buChar char="ü"/>
            </a:pPr>
            <a:r>
              <a:rPr lang="pl-PL" sz="2000" b="0" i="0" u="none" strike="noStrike" baseline="0" dirty="0">
                <a:solidFill>
                  <a:srgbClr val="000000"/>
                </a:solidFill>
                <a:latin typeface="Mundial"/>
              </a:rPr>
              <a:t>Po każdym w</a:t>
            </a:r>
            <a:r>
              <a:rPr lang="pl-PL" sz="2000" dirty="0">
                <a:solidFill>
                  <a:srgbClr val="000000"/>
                </a:solidFill>
                <a:latin typeface="Mundial"/>
              </a:rPr>
              <a:t>dechu poczekaj, aby wtłoczone powietrze mogło opuścić płuca ratowanego</a:t>
            </a:r>
            <a:endParaRPr lang="pl-PL" sz="2000" b="0" i="0" u="none" strike="noStrike" baseline="0" dirty="0">
              <a:solidFill>
                <a:srgbClr val="000000"/>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FE4F8FC-36A4-48E4-95AA-83188EAE2C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9" name="Obraz 8">
            <a:extLst>
              <a:ext uri="{FF2B5EF4-FFF2-40B4-BE49-F238E27FC236}">
                <a16:creationId xmlns:a16="http://schemas.microsoft.com/office/drawing/2014/main" id="{60182D36-87E6-445E-99A8-633A72FC83FF}"/>
              </a:ext>
            </a:extLst>
          </p:cNvPr>
          <p:cNvPicPr>
            <a:picLocks noChangeAspect="1"/>
          </p:cNvPicPr>
          <p:nvPr/>
        </p:nvPicPr>
        <p:blipFill>
          <a:blip r:embed="rId4"/>
          <a:stretch>
            <a:fillRect/>
          </a:stretch>
        </p:blipFill>
        <p:spPr>
          <a:xfrm>
            <a:off x="5069150" y="4516135"/>
            <a:ext cx="5329266" cy="2164311"/>
          </a:xfrm>
          <a:prstGeom prst="rect">
            <a:avLst/>
          </a:prstGeom>
        </p:spPr>
      </p:pic>
    </p:spTree>
    <p:extLst>
      <p:ext uri="{BB962C8B-B14F-4D97-AF65-F5344CB8AC3E}">
        <p14:creationId xmlns:p14="http://schemas.microsoft.com/office/powerpoint/2010/main" val="11394699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78</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730251"/>
            <a:ext cx="8720548" cy="5762624"/>
          </a:xfrm>
        </p:spPr>
        <p:txBody>
          <a:bodyPr numCol="1"/>
          <a:lstStyle/>
          <a:p>
            <a:pPr algn="ctr"/>
            <a:r>
              <a:rPr lang="pl-PL" sz="2400" b="1" i="0" u="none" strike="noStrike" baseline="0" dirty="0">
                <a:solidFill>
                  <a:srgbClr val="C00000"/>
                </a:solidFill>
                <a:latin typeface="Mundial"/>
              </a:rPr>
              <a:t>RESUSCYTACJA KRĄŻENIOWO-ODDECHOWA (RKO)</a:t>
            </a:r>
          </a:p>
          <a:p>
            <a:r>
              <a:rPr lang="pl-PL" sz="1800" b="1" dirty="0">
                <a:solidFill>
                  <a:schemeClr val="accent6"/>
                </a:solidFill>
                <a:latin typeface="Mundial"/>
              </a:rPr>
              <a:t>Kiedy można odstąpić od resuscytacji krążeniowo-oddechowej:</a:t>
            </a:r>
          </a:p>
          <a:p>
            <a:pPr marL="379413" indent="-285750">
              <a:buFont typeface="Wingdings" panose="05000000000000000000" pitchFamily="2" charset="2"/>
              <a:buChar char="ü"/>
            </a:pPr>
            <a:r>
              <a:rPr lang="pl-PL" sz="1800" dirty="0">
                <a:solidFill>
                  <a:schemeClr val="accent6"/>
                </a:solidFill>
                <a:latin typeface="Mundial"/>
              </a:rPr>
              <a:t>gdy poszkodowany odzyskał przytomność, zaczął się poruszać, kaszleć</a:t>
            </a:r>
          </a:p>
          <a:p>
            <a:pPr marL="379413" indent="-285750">
              <a:buFont typeface="Wingdings" panose="05000000000000000000" pitchFamily="2" charset="2"/>
              <a:buChar char="ü"/>
            </a:pPr>
            <a:r>
              <a:rPr lang="pl-PL" sz="1800" dirty="0">
                <a:solidFill>
                  <a:schemeClr val="accent6"/>
                </a:solidFill>
                <a:latin typeface="Mundial"/>
              </a:rPr>
              <a:t>gdy przybyła profesjonalna służba ratownicza, np. pogotowie, inny świadek zdarzenia jest ratownikiem medycznym</a:t>
            </a:r>
          </a:p>
          <a:p>
            <a:pPr marL="379413" indent="-285750">
              <a:buFont typeface="Wingdings" panose="05000000000000000000" pitchFamily="2" charset="2"/>
              <a:buChar char="ü"/>
            </a:pPr>
            <a:r>
              <a:rPr lang="pl-PL" sz="1800" dirty="0">
                <a:solidFill>
                  <a:schemeClr val="accent6"/>
                </a:solidFill>
                <a:latin typeface="Mundial"/>
              </a:rPr>
              <a:t>gdy udzielający pomocy jest wyczerpany i dalsze udzielanie pomocy grozi pogorszeniem jego własnego zdrowia lub utratą życia</a:t>
            </a:r>
          </a:p>
          <a:p>
            <a:pPr marL="379413" indent="-285750">
              <a:buFont typeface="Wingdings" panose="05000000000000000000" pitchFamily="2" charset="2"/>
              <a:buChar char="ü"/>
            </a:pPr>
            <a:r>
              <a:rPr lang="pl-PL" sz="1800" dirty="0">
                <a:solidFill>
                  <a:schemeClr val="accent6"/>
                </a:solidFill>
                <a:latin typeface="Mundial"/>
              </a:rPr>
              <a:t>gdy nastąpił ewidentny zgon poszkodowanego</a:t>
            </a:r>
          </a:p>
          <a:p>
            <a:pPr algn="ctr"/>
            <a:endParaRPr lang="pl-PL" sz="1800" dirty="0">
              <a:solidFill>
                <a:srgbClr val="C00000"/>
              </a:solidFill>
              <a:latin typeface="Mundial"/>
            </a:endParaRPr>
          </a:p>
          <a:p>
            <a:pPr algn="ctr"/>
            <a:r>
              <a:rPr lang="pl-PL" sz="1800" dirty="0">
                <a:solidFill>
                  <a:srgbClr val="C00000"/>
                </a:solidFill>
                <a:latin typeface="Mundial"/>
              </a:rPr>
              <a:t>Na czas pandemii Europejska Rada Resuscytacji zarekomendowała odstąpienie od wykonywania oddechów ratowniczych, by uniknąć zakażeń Covid-19. </a:t>
            </a:r>
          </a:p>
          <a:p>
            <a:pPr algn="ctr"/>
            <a:r>
              <a:rPr lang="pl-PL" sz="1800" dirty="0">
                <a:solidFill>
                  <a:srgbClr val="C00000"/>
                </a:solidFill>
                <a:latin typeface="Mundial"/>
              </a:rPr>
              <a:t>Należy jednak wykonywać uciśnięcia klatki piersiowej z zachowaniem należytej ostrożności.</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FE4F8FC-36A4-48E4-95AA-83188EAE2C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24212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79</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187261" cy="5217989"/>
          </a:xfrm>
        </p:spPr>
        <p:txBody>
          <a:bodyPr numCol="1"/>
          <a:lstStyle/>
          <a:p>
            <a:pPr algn="ctr"/>
            <a:r>
              <a:rPr lang="pl-PL" sz="2400" b="1" i="0" u="none" strike="noStrike" baseline="0" dirty="0">
                <a:solidFill>
                  <a:srgbClr val="C00000"/>
                </a:solidFill>
                <a:latin typeface="Mundial "/>
              </a:rPr>
              <a:t>POZYCJA BEZPIECZNA – POZYCJA BOCZNA USTALONA</a:t>
            </a:r>
            <a:endParaRPr lang="pl-PL" b="1" dirty="0">
              <a:solidFill>
                <a:srgbClr val="000000"/>
              </a:solidFill>
              <a:latin typeface="Mundial "/>
            </a:endParaRPr>
          </a:p>
          <a:p>
            <a:pPr algn="ctr">
              <a:spcBef>
                <a:spcPts val="1200"/>
              </a:spcBef>
              <a:spcAft>
                <a:spcPts val="1200"/>
              </a:spcAft>
            </a:pPr>
            <a:r>
              <a:rPr lang="pl-PL" sz="2000" b="1" dirty="0">
                <a:solidFill>
                  <a:srgbClr val="000000"/>
                </a:solidFill>
                <a:latin typeface="Mundial "/>
              </a:rPr>
              <a:t>Jest to pozycja bezpieczna dla osoby </a:t>
            </a:r>
            <a:r>
              <a:rPr lang="pl-PL" sz="2000" b="1" u="sng" dirty="0">
                <a:solidFill>
                  <a:srgbClr val="000000"/>
                </a:solidFill>
                <a:latin typeface="Mundial "/>
              </a:rPr>
              <a:t>nieprzytomnej, ale samodzielnie oddychającej!</a:t>
            </a:r>
          </a:p>
          <a:p>
            <a:pPr algn="ctr">
              <a:spcBef>
                <a:spcPts val="1200"/>
              </a:spcBef>
              <a:spcAft>
                <a:spcPts val="1200"/>
              </a:spcAft>
            </a:pPr>
            <a:r>
              <a:rPr lang="pl-PL" sz="2000" b="1" dirty="0">
                <a:solidFill>
                  <a:srgbClr val="000000"/>
                </a:solidFill>
                <a:latin typeface="Mundial "/>
              </a:rPr>
              <a:t>Można ją zastosować TYLKO po wykluczeniu urazów (kręgosłupa), ran krwawiących, zwichnięć i złamań (np. kończyn)</a:t>
            </a:r>
          </a:p>
          <a:p>
            <a:pPr algn="ctr">
              <a:spcBef>
                <a:spcPts val="1200"/>
              </a:spcBef>
              <a:spcAft>
                <a:spcPts val="1200"/>
              </a:spcAft>
            </a:pPr>
            <a:r>
              <a:rPr lang="pl-PL" sz="2000" b="1" dirty="0">
                <a:solidFill>
                  <a:srgbClr val="000000"/>
                </a:solidFill>
                <a:latin typeface="Mundial "/>
              </a:rPr>
              <a:t>Zapobiega podduszeniu, zachłyśnięciu, zadławieniu wymiocinami</a:t>
            </a:r>
          </a:p>
          <a:p>
            <a:pPr algn="l">
              <a:spcAft>
                <a:spcPts val="1200"/>
              </a:spcAft>
            </a:pPr>
            <a:br>
              <a:rPr lang="pl-PL" sz="1800" b="0" i="0" dirty="0">
                <a:solidFill>
                  <a:srgbClr val="222222"/>
                </a:solidFill>
                <a:effectLst/>
                <a:latin typeface="Times New Roman" panose="02020603050405020304" pitchFamily="18" charset="0"/>
              </a:rPr>
            </a:br>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6D9D1925-0960-42E9-9721-E91E930663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9" name="Obraz 8">
            <a:extLst>
              <a:ext uri="{FF2B5EF4-FFF2-40B4-BE49-F238E27FC236}">
                <a16:creationId xmlns:a16="http://schemas.microsoft.com/office/drawing/2014/main" id="{B14E948C-64BF-447E-BC34-C46FD0D0E4C2}"/>
              </a:ext>
            </a:extLst>
          </p:cNvPr>
          <p:cNvPicPr>
            <a:picLocks noChangeAspect="1"/>
          </p:cNvPicPr>
          <p:nvPr/>
        </p:nvPicPr>
        <p:blipFill>
          <a:blip r:embed="rId4"/>
          <a:stretch>
            <a:fillRect/>
          </a:stretch>
        </p:blipFill>
        <p:spPr>
          <a:xfrm>
            <a:off x="3897297" y="4194906"/>
            <a:ext cx="5894774" cy="2498939"/>
          </a:xfrm>
          <a:prstGeom prst="rect">
            <a:avLst/>
          </a:prstGeom>
        </p:spPr>
      </p:pic>
    </p:spTree>
    <p:extLst>
      <p:ext uri="{BB962C8B-B14F-4D97-AF65-F5344CB8AC3E}">
        <p14:creationId xmlns:p14="http://schemas.microsoft.com/office/powerpoint/2010/main" val="9376546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80</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730250"/>
            <a:ext cx="8720548" cy="5217989"/>
          </a:xfrm>
        </p:spPr>
        <p:txBody>
          <a:bodyPr numCol="1"/>
          <a:lstStyle/>
          <a:p>
            <a:pPr algn="ctr"/>
            <a:r>
              <a:rPr lang="pl-PL" sz="2400" b="1" i="0" u="none" strike="noStrike" baseline="0" dirty="0">
                <a:solidFill>
                  <a:srgbClr val="C00000"/>
                </a:solidFill>
                <a:latin typeface="Mundial "/>
              </a:rPr>
              <a:t>POZYCJA BOCZNA USTALONA – JAK UŁOŻYĆ POSZKODOWANEGO</a:t>
            </a:r>
            <a:endParaRPr lang="pl-PL" sz="1600" b="0" i="0" dirty="0">
              <a:solidFill>
                <a:srgbClr val="222222"/>
              </a:solidFill>
              <a:effectLst/>
              <a:latin typeface="Mundial "/>
            </a:endParaRPr>
          </a:p>
          <a:p>
            <a:pPr marL="436563" indent="-342900" algn="l">
              <a:spcBef>
                <a:spcPts val="0"/>
              </a:spcBef>
              <a:spcAft>
                <a:spcPts val="1200"/>
              </a:spcAft>
              <a:buFont typeface="+mj-lt"/>
              <a:buAutoNum type="arabicPeriod"/>
            </a:pPr>
            <a:r>
              <a:rPr lang="pl-PL" sz="1800" b="0" i="0" dirty="0">
                <a:effectLst/>
                <a:latin typeface="Mundial "/>
              </a:rPr>
              <a:t>Najpierw </a:t>
            </a:r>
            <a:r>
              <a:rPr lang="pl-PL" sz="1800" b="1" i="0" u="sng" dirty="0">
                <a:effectLst/>
                <a:latin typeface="Mundial "/>
              </a:rPr>
              <a:t>oceń bezpieczeństwo</a:t>
            </a:r>
            <a:r>
              <a:rPr lang="pl-PL" sz="1800" b="0" i="0" dirty="0">
                <a:effectLst/>
                <a:latin typeface="Mundial "/>
              </a:rPr>
              <a:t> własne i poszkodowanego.</a:t>
            </a:r>
          </a:p>
          <a:p>
            <a:pPr marL="436563" indent="-342900" algn="l">
              <a:spcBef>
                <a:spcPts val="0"/>
              </a:spcBef>
              <a:spcAft>
                <a:spcPts val="1200"/>
              </a:spcAft>
              <a:buFont typeface="+mj-lt"/>
              <a:buAutoNum type="arabicPeriod"/>
            </a:pPr>
            <a:r>
              <a:rPr lang="pl-PL" sz="1800" b="0" i="0" dirty="0">
                <a:effectLst/>
                <a:latin typeface="Mundial "/>
              </a:rPr>
              <a:t>Następnie uklęknij przy poszkodowanym i oceń jego przytomność. Sprawdź przez 10 sekund czy prawidłowo oddycha. </a:t>
            </a:r>
            <a:r>
              <a:rPr lang="pl-PL" sz="1800" dirty="0">
                <a:latin typeface="Mundial "/>
              </a:rPr>
              <a:t>Jeśli </a:t>
            </a:r>
            <a:r>
              <a:rPr lang="pl-PL" sz="1800" b="0" i="0" dirty="0">
                <a:effectLst/>
                <a:latin typeface="Mundial "/>
              </a:rPr>
              <a:t>osoba jest nieprzytomna, ale </a:t>
            </a:r>
            <a:r>
              <a:rPr lang="pl-PL" sz="1800" b="1" i="0" u="sng" dirty="0">
                <a:effectLst/>
                <a:latin typeface="Mundial "/>
              </a:rPr>
              <a:t>oddycha prawidłowo</a:t>
            </a:r>
            <a:r>
              <a:rPr lang="pl-PL" sz="1800" b="0" i="0" dirty="0">
                <a:effectLst/>
                <a:latin typeface="Mundial "/>
              </a:rPr>
              <a:t>, możemy ułożyć ją w pozycji bezpiecznej. Jeśli masz kogoś do pomocy, przekaż informacje o stanie poszkodowanego. Druga osoba może zadzwonić pod numer </a:t>
            </a:r>
            <a:r>
              <a:rPr lang="pl-PL" sz="1800" dirty="0">
                <a:latin typeface="Mundial "/>
              </a:rPr>
              <a:t>alarmowy.</a:t>
            </a:r>
          </a:p>
          <a:p>
            <a:pPr marL="436563" indent="-342900" algn="l">
              <a:spcBef>
                <a:spcPts val="0"/>
              </a:spcBef>
              <a:spcAft>
                <a:spcPts val="1200"/>
              </a:spcAft>
              <a:buFont typeface="+mj-lt"/>
              <a:buAutoNum type="arabicPeriod"/>
            </a:pPr>
            <a:r>
              <a:rPr lang="pl-PL" sz="1800" dirty="0">
                <a:latin typeface="Mundial "/>
              </a:rPr>
              <a:t>Z</a:t>
            </a:r>
            <a:r>
              <a:rPr lang="pl-PL" sz="1800" b="0" i="0" dirty="0">
                <a:effectLst/>
                <a:latin typeface="Mundial "/>
              </a:rPr>
              <a:t>dejmij </a:t>
            </a:r>
            <a:r>
              <a:rPr lang="pl-PL" sz="1800" dirty="0">
                <a:latin typeface="Mundial "/>
              </a:rPr>
              <a:t>poszkodowanemu </a:t>
            </a:r>
            <a:r>
              <a:rPr lang="pl-PL" sz="1800" b="0" i="0" dirty="0">
                <a:effectLst/>
                <a:latin typeface="Mundial "/>
              </a:rPr>
              <a:t>okulary (jeśli je nosi). </a:t>
            </a:r>
            <a:r>
              <a:rPr lang="pl-PL" sz="1800" dirty="0">
                <a:latin typeface="Mundial "/>
              </a:rPr>
              <a:t>P</a:t>
            </a:r>
            <a:r>
              <a:rPr lang="pl-PL" sz="1800" b="0" i="0" dirty="0">
                <a:effectLst/>
                <a:latin typeface="Mundial "/>
              </a:rPr>
              <a:t>rzeszukaj kieszenie (</a:t>
            </a:r>
            <a:r>
              <a:rPr lang="pl-PL" sz="1800" dirty="0">
                <a:latin typeface="Mundial "/>
              </a:rPr>
              <a:t>pod kątem </a:t>
            </a:r>
            <a:r>
              <a:rPr lang="pl-PL" sz="1800" b="0" i="0" dirty="0">
                <a:effectLst/>
                <a:latin typeface="Mundial "/>
              </a:rPr>
              <a:t>niebezpieczne przedmiotów typu nóż, scyzoryk itp. – mogą spowodować urazy u poszkodowanego). </a:t>
            </a:r>
            <a:endParaRPr lang="pl-PL" sz="1800" dirty="0">
              <a:latin typeface="Mundial "/>
            </a:endParaRPr>
          </a:p>
          <a:p>
            <a:pPr marL="436563" indent="-342900" algn="l">
              <a:spcBef>
                <a:spcPts val="0"/>
              </a:spcBef>
              <a:spcAft>
                <a:spcPts val="1200"/>
              </a:spcAft>
              <a:buFont typeface="+mj-lt"/>
              <a:buAutoNum type="arabicPeriod"/>
            </a:pPr>
            <a:r>
              <a:rPr lang="pl-PL" sz="1800" b="0" i="0" dirty="0">
                <a:effectLst/>
                <a:latin typeface="Mundial "/>
              </a:rPr>
              <a:t>Wyprostuj obie nogi (jeśli są ułożone w nienaturalnej pozycji). Ułóż ręce wzdłuż ciała - pozycja ta ułatwi Ci wykonywanie dalszych czynności. </a:t>
            </a:r>
          </a:p>
          <a:p>
            <a:pPr marL="436563" indent="-342900" algn="l">
              <a:spcBef>
                <a:spcPts val="0"/>
              </a:spcBef>
              <a:spcAft>
                <a:spcPts val="1200"/>
              </a:spcAft>
              <a:buFont typeface="+mj-lt"/>
              <a:buAutoNum type="arabicPeriod"/>
            </a:pPr>
            <a:r>
              <a:rPr lang="pl-PL" sz="1800" b="0" i="0" dirty="0">
                <a:effectLst/>
                <a:latin typeface="Mundial "/>
              </a:rPr>
              <a:t>Złap za rękę znajdującą się bliżej Ciebie i ułóż ją pod </a:t>
            </a:r>
            <a:r>
              <a:rPr lang="pl-PL" sz="1800" b="1" i="0" u="sng" dirty="0">
                <a:effectLst/>
                <a:latin typeface="Mundial "/>
              </a:rPr>
              <a:t>kątem 90°</a:t>
            </a:r>
            <a:r>
              <a:rPr lang="pl-PL" sz="1800" b="0" i="0" dirty="0">
                <a:effectLst/>
                <a:latin typeface="Mundial "/>
              </a:rPr>
              <a:t> w stawie łokciowym oraz barkowym tak, aby dłoń skierowana była ku górze.</a:t>
            </a:r>
          </a:p>
          <a:p>
            <a:pPr algn="l">
              <a:spcBef>
                <a:spcPts val="0"/>
              </a:spcBef>
              <a:spcAft>
                <a:spcPts val="1200"/>
              </a:spcAft>
            </a:pPr>
            <a:br>
              <a:rPr lang="pl-PL" sz="1600" b="0" i="0" dirty="0">
                <a:solidFill>
                  <a:srgbClr val="222222"/>
                </a:solidFill>
                <a:effectLst/>
                <a:latin typeface="Mundial "/>
              </a:rPr>
            </a:br>
            <a:br>
              <a:rPr lang="pl-PL" sz="1600" b="0" i="0" dirty="0">
                <a:solidFill>
                  <a:srgbClr val="222222"/>
                </a:solidFill>
                <a:effectLst/>
                <a:latin typeface="Mundial "/>
              </a:rPr>
            </a:br>
            <a:endParaRPr lang="pl-PL" sz="1800" b="0" i="0" u="none" strike="noStrike" baseline="0" dirty="0">
              <a:solidFill>
                <a:srgbClr val="000000"/>
              </a:solidFill>
              <a:latin typeface="Calibri" panose="020F0502020204030204" pitchFamily="34" charset="0"/>
            </a:endParaRPr>
          </a:p>
          <a:p>
            <a:r>
              <a:rPr lang="pl-PL" sz="1800" b="0" i="0" u="none" strike="noStrike" baseline="0" dirty="0">
                <a:solidFill>
                  <a:srgbClr val="000000"/>
                </a:solidFill>
                <a:latin typeface="Calibri" panose="020F0502020204030204" pitchFamily="34" charset="0"/>
              </a:rPr>
              <a:t>	</a:t>
            </a: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FA24157B-791A-4B26-A67C-DB0025D060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41552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81</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730250"/>
            <a:ext cx="8720548" cy="5217989"/>
          </a:xfrm>
        </p:spPr>
        <p:txBody>
          <a:bodyPr numCol="1"/>
          <a:lstStyle/>
          <a:p>
            <a:pPr algn="ctr"/>
            <a:r>
              <a:rPr lang="pl-PL" sz="2400" b="1" i="0" u="none" strike="noStrike" baseline="0" dirty="0">
                <a:solidFill>
                  <a:srgbClr val="C00000"/>
                </a:solidFill>
                <a:latin typeface="Mundial "/>
              </a:rPr>
              <a:t>POZYCJA BOCZNA USTALONA – JAK UŁOŻYĆ POSZKODOWANEGO</a:t>
            </a:r>
          </a:p>
          <a:p>
            <a:pPr marL="436563" indent="-342900" algn="l">
              <a:spcBef>
                <a:spcPts val="0"/>
              </a:spcBef>
              <a:spcAft>
                <a:spcPts val="1200"/>
              </a:spcAft>
              <a:buFont typeface="+mj-lt"/>
              <a:buAutoNum type="arabicPeriod" startAt="6"/>
            </a:pPr>
            <a:r>
              <a:rPr lang="pl-PL" sz="1800" b="0" i="0" dirty="0">
                <a:effectLst/>
                <a:latin typeface="Mundial "/>
              </a:rPr>
              <a:t>Przełóż drugie ramię poszkodowanego w poprzek klatki piersiowej dłonią ku sobie i przytrzymaj ją przy policzku poszkodowanego.</a:t>
            </a:r>
            <a:r>
              <a:rPr lang="pl-PL" sz="1800" b="1" i="0" dirty="0">
                <a:effectLst/>
                <a:latin typeface="Mundial "/>
              </a:rPr>
              <a:t> </a:t>
            </a:r>
            <a:r>
              <a:rPr lang="pl-PL" sz="1800" b="0" i="0" dirty="0">
                <a:effectLst/>
                <a:latin typeface="Mundial "/>
              </a:rPr>
              <a:t>Drugą ręką złap po zewnętrznej stronie dalszą nogę (na wysokości kolana) i przyciągnij kończynę do siebie, starając się nie odrywać stopy od podłoża.</a:t>
            </a:r>
          </a:p>
          <a:p>
            <a:pPr marL="436563" indent="-342900" algn="l">
              <a:spcBef>
                <a:spcPts val="0"/>
              </a:spcBef>
              <a:spcAft>
                <a:spcPts val="1200"/>
              </a:spcAft>
              <a:buFont typeface="+mj-lt"/>
              <a:buAutoNum type="arabicPeriod" startAt="6"/>
            </a:pPr>
            <a:r>
              <a:rPr lang="pl-PL" sz="1800" b="0" i="0" dirty="0">
                <a:effectLst/>
                <a:latin typeface="Mundial "/>
              </a:rPr>
              <a:t>Następnie naciśnij kolano ku podłożu i w efekcie zadziałania dźwigni poszkodowany przetoczy się na bok. Tym s</a:t>
            </a:r>
            <a:r>
              <a:rPr lang="pl-PL" sz="1800" dirty="0">
                <a:latin typeface="Mundial "/>
              </a:rPr>
              <a:t>posobem bezpiecznie przetoczysz osobę nawet dużo większą od Ciebie. </a:t>
            </a:r>
            <a:r>
              <a:rPr lang="pl-PL" sz="1800" b="0" i="0" dirty="0">
                <a:effectLst/>
                <a:latin typeface="Mundial "/>
              </a:rPr>
              <a:t>Drugą ręką ochraniaj cały czas twarz poszkodowanego.</a:t>
            </a:r>
          </a:p>
          <a:p>
            <a:pPr marL="436563" indent="-342900" algn="l">
              <a:spcBef>
                <a:spcPts val="0"/>
              </a:spcBef>
              <a:spcAft>
                <a:spcPts val="1200"/>
              </a:spcAft>
              <a:buFont typeface="+mj-lt"/>
              <a:buAutoNum type="arabicPeriod" startAt="6"/>
            </a:pPr>
            <a:r>
              <a:rPr lang="pl-PL" sz="1800" dirty="0">
                <a:latin typeface="Mundial "/>
              </a:rPr>
              <a:t>Postaraj się ustabilizować uzyskane ułożenie</a:t>
            </a:r>
            <a:r>
              <a:rPr lang="pl-PL" sz="1800" b="0" i="0" dirty="0">
                <a:effectLst/>
                <a:latin typeface="Mundial "/>
              </a:rPr>
              <a:t> poprzez ustawienie nogi poszkodowanego za którą ciągnąłeś ciało, pod </a:t>
            </a:r>
            <a:r>
              <a:rPr lang="pl-PL" sz="1800" b="1" i="0" u="sng" dirty="0">
                <a:effectLst/>
                <a:latin typeface="Mundial "/>
              </a:rPr>
              <a:t>kątem 90°</a:t>
            </a:r>
            <a:r>
              <a:rPr lang="pl-PL" sz="1800" b="0" i="0" dirty="0">
                <a:effectLst/>
                <a:latin typeface="Mundial "/>
              </a:rPr>
              <a:t>.</a:t>
            </a:r>
            <a:r>
              <a:rPr lang="pl-PL" sz="1800" dirty="0">
                <a:latin typeface="Mundial "/>
              </a:rPr>
              <a:t> </a:t>
            </a:r>
          </a:p>
          <a:p>
            <a:pPr marL="436563" indent="-342900" algn="l">
              <a:spcBef>
                <a:spcPts val="0"/>
              </a:spcBef>
              <a:spcAft>
                <a:spcPts val="1200"/>
              </a:spcAft>
              <a:buFont typeface="+mj-lt"/>
              <a:buAutoNum type="arabicPeriod" startAt="6"/>
            </a:pPr>
            <a:r>
              <a:rPr lang="pl-PL" sz="1800" dirty="0">
                <a:latin typeface="Mundial "/>
              </a:rPr>
              <a:t>J</a:t>
            </a:r>
            <a:r>
              <a:rPr lang="pl-PL" sz="1800" b="0" i="0" dirty="0">
                <a:effectLst/>
                <a:latin typeface="Mundial "/>
              </a:rPr>
              <a:t>esteś sam i wcześniej tego nie zrobiłeś, wezwij pogotowie ratunkowe. </a:t>
            </a:r>
            <a:r>
              <a:rPr lang="pl-PL" sz="1800" dirty="0">
                <a:latin typeface="Mundial "/>
              </a:rPr>
              <a:t>R</a:t>
            </a:r>
            <a:r>
              <a:rPr lang="pl-PL" sz="1800" b="0" i="0" dirty="0">
                <a:effectLst/>
                <a:latin typeface="Mundial "/>
              </a:rPr>
              <a:t>egularnie (co ok. 2 minuty) sprawdzaj oddech poszkodowanego.</a:t>
            </a:r>
          </a:p>
          <a:p>
            <a:pPr marL="436563" indent="-342900" algn="l">
              <a:spcBef>
                <a:spcPts val="0"/>
              </a:spcBef>
              <a:spcAft>
                <a:spcPts val="1200"/>
              </a:spcAft>
              <a:buFont typeface="+mj-lt"/>
              <a:buAutoNum type="arabicPeriod" startAt="6"/>
            </a:pPr>
            <a:r>
              <a:rPr lang="pl-PL" sz="1800" b="0" i="0" dirty="0">
                <a:effectLst/>
                <a:latin typeface="Mundial "/>
              </a:rPr>
              <a:t>Jeżeli pomoc długo nie nadchodzi, </a:t>
            </a:r>
            <a:r>
              <a:rPr lang="pl-PL" sz="1800" b="1" i="0" u="sng" dirty="0">
                <a:effectLst/>
                <a:latin typeface="Mundial "/>
              </a:rPr>
              <a:t>po 30 minutach</a:t>
            </a:r>
            <a:r>
              <a:rPr lang="pl-PL" sz="1800" b="0" i="0" dirty="0">
                <a:effectLst/>
                <a:latin typeface="Mundial "/>
              </a:rPr>
              <a:t> przekręcić poszkodowanego na plecy i od nowa ułożyć go w pozycji bezpiecznej, ale na drugim boku.</a:t>
            </a:r>
            <a:endParaRPr lang="pl-PL" sz="2800" b="0" i="0" dirty="0">
              <a:effectLst/>
              <a:latin typeface="Mundial "/>
            </a:endParaRPr>
          </a:p>
          <a:p>
            <a:pPr algn="l">
              <a:spcBef>
                <a:spcPts val="0"/>
              </a:spcBef>
              <a:spcAft>
                <a:spcPts val="1200"/>
              </a:spcAft>
            </a:pPr>
            <a:br>
              <a:rPr lang="pl-PL" sz="1600" b="0" i="0" dirty="0">
                <a:solidFill>
                  <a:srgbClr val="222222"/>
                </a:solidFill>
                <a:effectLst/>
                <a:latin typeface="Mundial "/>
              </a:rPr>
            </a:br>
            <a:br>
              <a:rPr lang="pl-PL" sz="1600" b="0" i="0" dirty="0">
                <a:solidFill>
                  <a:srgbClr val="222222"/>
                </a:solidFill>
                <a:effectLst/>
                <a:latin typeface="Mundial "/>
              </a:rPr>
            </a:br>
            <a:endParaRPr lang="pl-PL" sz="1800" b="0" i="0" u="none" strike="noStrike" baseline="0" dirty="0">
              <a:solidFill>
                <a:srgbClr val="000000"/>
              </a:solidFill>
              <a:latin typeface="Calibri" panose="020F0502020204030204" pitchFamily="34" charset="0"/>
            </a:endParaRPr>
          </a:p>
          <a:p>
            <a:r>
              <a:rPr lang="pl-PL" sz="1800" b="0" i="0" u="none" strike="noStrike" baseline="0" dirty="0">
                <a:solidFill>
                  <a:srgbClr val="000000"/>
                </a:solidFill>
                <a:latin typeface="Calibri" panose="020F0502020204030204" pitchFamily="34" charset="0"/>
              </a:rPr>
              <a:t>	</a:t>
            </a: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6498A7A2-F3EE-43FA-9CFA-A055909614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6585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78354"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a:xfrm>
            <a:off x="11472333" y="365126"/>
            <a:ext cx="554169" cy="365125"/>
          </a:xfrm>
        </p:spPr>
        <p:txBody>
          <a:bodyPr/>
          <a:lstStyle/>
          <a:p>
            <a:fld id="{439CBD9F-C91E-49DF-B625-7C7E2E3EE5C8}" type="slidenum">
              <a:rPr lang="en-US" smtClean="0"/>
              <a:t>82</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04114" y="615277"/>
            <a:ext cx="8720548" cy="5217989"/>
          </a:xfrm>
        </p:spPr>
        <p:txBody>
          <a:bodyPr numCol="1"/>
          <a:lstStyle/>
          <a:p>
            <a:pPr algn="ctr"/>
            <a:r>
              <a:rPr lang="pl-PL" sz="1800" b="1" i="0" u="none" strike="noStrike" baseline="0" dirty="0">
                <a:solidFill>
                  <a:srgbClr val="C00000"/>
                </a:solidFill>
                <a:latin typeface="Mundial "/>
              </a:rPr>
              <a:t>POZYCJA BOCZNA USTALONA – JAK UŁOŻYĆ POSZKODOWANEGO - PRZYPOMNIENIE</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2A6BB55-5C0D-4B61-B918-26F8EE7A6B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Pozycja boczna wg NATO">
            <a:extLst>
              <a:ext uri="{FF2B5EF4-FFF2-40B4-BE49-F238E27FC236}">
                <a16:creationId xmlns:a16="http://schemas.microsoft.com/office/drawing/2014/main" id="{DC799CC9-E99B-49C9-A260-AB17CB7276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9407" y="1117937"/>
            <a:ext cx="2381250" cy="19716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ozycja boczna wg NATO">
            <a:extLst>
              <a:ext uri="{FF2B5EF4-FFF2-40B4-BE49-F238E27FC236}">
                <a16:creationId xmlns:a16="http://schemas.microsoft.com/office/drawing/2014/main" id="{EE36269D-02A2-4BB3-963D-6E23907EAA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5069" y="1080741"/>
            <a:ext cx="2381250" cy="19716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Pozycja boczna wg NATO">
            <a:extLst>
              <a:ext uri="{FF2B5EF4-FFF2-40B4-BE49-F238E27FC236}">
                <a16:creationId xmlns:a16="http://schemas.microsoft.com/office/drawing/2014/main" id="{FD9C7691-CD85-44E4-BEBF-E23422CB7C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68400" y="1079207"/>
            <a:ext cx="2381250" cy="18669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ozycja boczna wg NATO">
            <a:extLst>
              <a:ext uri="{FF2B5EF4-FFF2-40B4-BE49-F238E27FC236}">
                <a16:creationId xmlns:a16="http://schemas.microsoft.com/office/drawing/2014/main" id="{067C2938-ED9E-443E-86F1-AF3362F0F6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39689" y="4055950"/>
            <a:ext cx="2371725" cy="185737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Pozycja boczna wg NATO">
            <a:extLst>
              <a:ext uri="{FF2B5EF4-FFF2-40B4-BE49-F238E27FC236}">
                <a16:creationId xmlns:a16="http://schemas.microsoft.com/office/drawing/2014/main" id="{D1372BFE-8722-41BC-AC15-DE0D391CC1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15589" y="3805585"/>
            <a:ext cx="2381250" cy="206692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Pozycja boczna wg NATO">
            <a:extLst>
              <a:ext uri="{FF2B5EF4-FFF2-40B4-BE49-F238E27FC236}">
                <a16:creationId xmlns:a16="http://schemas.microsoft.com/office/drawing/2014/main" id="{C583CF69-BD8F-41D2-B859-9CCB289A3B9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45176" y="3711868"/>
            <a:ext cx="2381250" cy="2066925"/>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94F6E666-065A-49F2-AE99-C44C41F42086}"/>
              </a:ext>
            </a:extLst>
          </p:cNvPr>
          <p:cNvSpPr txBox="1"/>
          <p:nvPr/>
        </p:nvSpPr>
        <p:spPr>
          <a:xfrm>
            <a:off x="2890335" y="3132620"/>
            <a:ext cx="8009961" cy="646331"/>
          </a:xfrm>
          <a:prstGeom prst="rect">
            <a:avLst/>
          </a:prstGeom>
          <a:noFill/>
        </p:spPr>
        <p:txBody>
          <a:bodyPr wrap="square" rtlCol="0">
            <a:spAutoFit/>
          </a:bodyPr>
          <a:lstStyle/>
          <a:p>
            <a:pPr algn="ctr"/>
            <a:r>
              <a:rPr lang="pl-PL" b="0" dirty="0">
                <a:solidFill>
                  <a:srgbClr val="000000"/>
                </a:solidFill>
                <a:effectLst/>
                <a:latin typeface="Mundial "/>
              </a:rPr>
              <a:t>Zegnij kończynę dolną w kolanie i odepchnij ją od siebie. Ułóż rękę poszkodowanego pod jego pośladkiem, a swoje ręce na jego barku i biodrach</a:t>
            </a:r>
            <a:endParaRPr lang="pl-PL" dirty="0">
              <a:latin typeface="Mundial "/>
            </a:endParaRPr>
          </a:p>
        </p:txBody>
      </p:sp>
      <p:sp>
        <p:nvSpPr>
          <p:cNvPr id="15" name="pole tekstowe 14">
            <a:extLst>
              <a:ext uri="{FF2B5EF4-FFF2-40B4-BE49-F238E27FC236}">
                <a16:creationId xmlns:a16="http://schemas.microsoft.com/office/drawing/2014/main" id="{2249F06F-56E7-43F3-B9D3-B7F11C057E56}"/>
              </a:ext>
            </a:extLst>
          </p:cNvPr>
          <p:cNvSpPr txBox="1"/>
          <p:nvPr/>
        </p:nvSpPr>
        <p:spPr>
          <a:xfrm>
            <a:off x="3113757" y="5805427"/>
            <a:ext cx="8009961" cy="369332"/>
          </a:xfrm>
          <a:prstGeom prst="rect">
            <a:avLst/>
          </a:prstGeom>
          <a:noFill/>
        </p:spPr>
        <p:txBody>
          <a:bodyPr wrap="square" rtlCol="0">
            <a:spAutoFit/>
          </a:bodyPr>
          <a:lstStyle/>
          <a:p>
            <a:pPr algn="ctr"/>
            <a:r>
              <a:rPr lang="pl-PL" b="0" dirty="0">
                <a:solidFill>
                  <a:srgbClr val="000000"/>
                </a:solidFill>
                <a:effectLst/>
                <a:latin typeface="Mundial "/>
              </a:rPr>
              <a:t>Przewróć poszkodowanego na bok, stosując mechanizm dźwigni. Zabezpiecz głowę</a:t>
            </a:r>
            <a:endParaRPr lang="pl-PL" dirty="0">
              <a:latin typeface="Mundial "/>
            </a:endParaRPr>
          </a:p>
        </p:txBody>
      </p:sp>
    </p:spTree>
    <p:extLst>
      <p:ext uri="{BB962C8B-B14F-4D97-AF65-F5344CB8AC3E}">
        <p14:creationId xmlns:p14="http://schemas.microsoft.com/office/powerpoint/2010/main" val="2611260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78354"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a:xfrm>
            <a:off x="11472333" y="365126"/>
            <a:ext cx="554169" cy="365125"/>
          </a:xfrm>
        </p:spPr>
        <p:txBody>
          <a:bodyPr/>
          <a:lstStyle/>
          <a:p>
            <a:fld id="{439CBD9F-C91E-49DF-B625-7C7E2E3EE5C8}" type="slidenum">
              <a:rPr lang="en-US" smtClean="0"/>
              <a:t>83</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04114" y="615277"/>
            <a:ext cx="8720548" cy="5217989"/>
          </a:xfrm>
        </p:spPr>
        <p:txBody>
          <a:bodyPr numCol="1"/>
          <a:lstStyle/>
          <a:p>
            <a:pPr algn="ctr"/>
            <a:r>
              <a:rPr lang="pl-PL" sz="2400" b="1" i="0" u="none" strike="noStrike" baseline="0" dirty="0">
                <a:solidFill>
                  <a:srgbClr val="C00000"/>
                </a:solidFill>
                <a:latin typeface="Mundial "/>
              </a:rPr>
              <a:t>ŁAŃCUCH PRZEŻYCIA</a:t>
            </a:r>
          </a:p>
          <a:p>
            <a:pPr algn="ctr"/>
            <a:r>
              <a:rPr lang="pl-PL" sz="2400" dirty="0">
                <a:latin typeface="Mundial "/>
              </a:rPr>
              <a:t>To termin stosowany w medycynie ratunkowej na określenie i podsumowanie kolejnych czynności (łańcucha czynności) podejmowanych w celu ratowania życia i zdrowia ludzkiego</a:t>
            </a:r>
            <a:endParaRPr lang="pl-PL" sz="2400" i="0" u="none" strike="noStrike" baseline="0" dirty="0">
              <a:latin typeface="Mundial "/>
            </a:endParaRPr>
          </a:p>
          <a:p>
            <a:pPr algn="ctr"/>
            <a:endParaRPr lang="pl-PL" sz="2400" b="1" i="0" u="none" strike="noStrike" baseline="0" dirty="0">
              <a:solidFill>
                <a:srgbClr val="C00000"/>
              </a:solidFill>
              <a:latin typeface="Mundial "/>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2A6BB55-5C0D-4B61-B918-26F8EE7A6B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FF79D973-91C5-F76A-1E9C-E1D3F9D3EC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2525" y="3314700"/>
            <a:ext cx="8572500" cy="264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15852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84</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720548" cy="2420345"/>
          </a:xfrm>
        </p:spPr>
        <p:txBody>
          <a:bodyPr numCol="2"/>
          <a:lstStyle/>
          <a:p>
            <a:pPr algn="ctr"/>
            <a:r>
              <a:rPr lang="pl-PL" sz="2000" b="1" i="0" u="none" strike="noStrike" baseline="0" dirty="0">
                <a:solidFill>
                  <a:srgbClr val="C00000"/>
                </a:solidFill>
                <a:latin typeface="Mundial"/>
              </a:rPr>
              <a:t>		OMDLENIA</a:t>
            </a:r>
            <a:endParaRPr lang="pl-PL" sz="1800" dirty="0">
              <a:solidFill>
                <a:srgbClr val="000000"/>
              </a:solidFill>
              <a:latin typeface="Calibri" panose="020F0502020204030204" pitchFamily="34" charset="0"/>
            </a:endParaRPr>
          </a:p>
          <a:p>
            <a:r>
              <a:rPr lang="pl-PL" sz="1800" b="1" i="0" u="none" strike="noStrike" baseline="0" dirty="0">
                <a:solidFill>
                  <a:srgbClr val="000000"/>
                </a:solidFill>
                <a:latin typeface="Calibri" panose="020F0502020204030204" pitchFamily="34" charset="0"/>
              </a:rPr>
              <a:t>Objawy:</a:t>
            </a:r>
          </a:p>
          <a:p>
            <a:pPr marL="379413" indent="-285750">
              <a:spcBef>
                <a:spcPts val="0"/>
              </a:spcBef>
              <a:buFont typeface="Wingdings" panose="05000000000000000000" pitchFamily="2" charset="2"/>
              <a:buChar char="ü"/>
            </a:pPr>
            <a:r>
              <a:rPr lang="pl-PL" sz="1800" b="0" i="0" u="none" strike="noStrike" baseline="0" dirty="0">
                <a:solidFill>
                  <a:srgbClr val="000000"/>
                </a:solidFill>
                <a:latin typeface="Calibri" panose="020F0502020204030204" pitchFamily="34" charset="0"/>
              </a:rPr>
              <a:t>Bladość na twarzy</a:t>
            </a:r>
          </a:p>
          <a:p>
            <a:pPr marL="379413" indent="-285750">
              <a:spcBef>
                <a:spcPts val="0"/>
              </a:spcBef>
              <a:buFont typeface="Wingdings" panose="05000000000000000000" pitchFamily="2" charset="2"/>
              <a:buChar char="ü"/>
            </a:pPr>
            <a:r>
              <a:rPr lang="pl-PL" sz="1800" dirty="0">
                <a:solidFill>
                  <a:srgbClr val="C00000"/>
                </a:solidFill>
                <a:latin typeface="Calibri" panose="020F0502020204030204" pitchFamily="34" charset="0"/>
              </a:rPr>
              <a:t>Zwolnienie tętna</a:t>
            </a:r>
          </a:p>
          <a:p>
            <a:pPr marL="379413" indent="-285750">
              <a:spcBef>
                <a:spcPts val="0"/>
              </a:spcBef>
              <a:buFont typeface="Wingdings" panose="05000000000000000000" pitchFamily="2" charset="2"/>
              <a:buChar char="ü"/>
            </a:pPr>
            <a:r>
              <a:rPr lang="pl-PL" sz="1800" b="0" i="0" u="none" strike="noStrike" baseline="0" dirty="0">
                <a:solidFill>
                  <a:srgbClr val="000000"/>
                </a:solidFill>
                <a:latin typeface="Calibri" panose="020F0502020204030204" pitchFamily="34" charset="0"/>
              </a:rPr>
              <a:t>Zawroty głowy</a:t>
            </a:r>
          </a:p>
          <a:p>
            <a:pPr marL="379413" indent="-285750">
              <a:spcBef>
                <a:spcPts val="0"/>
              </a:spcBef>
              <a:buFont typeface="Wingdings" panose="05000000000000000000" pitchFamily="2" charset="2"/>
              <a:buChar char="ü"/>
            </a:pPr>
            <a:r>
              <a:rPr lang="pl-PL" sz="1800" dirty="0">
                <a:solidFill>
                  <a:srgbClr val="C00000"/>
                </a:solidFill>
                <a:latin typeface="Calibri" panose="020F0502020204030204" pitchFamily="34" charset="0"/>
              </a:rPr>
              <a:t>Mroczki przed oczami</a:t>
            </a:r>
          </a:p>
          <a:p>
            <a:pPr marL="379413" indent="-285750">
              <a:spcBef>
                <a:spcPts val="0"/>
              </a:spcBef>
              <a:buFont typeface="Wingdings" panose="05000000000000000000" pitchFamily="2" charset="2"/>
              <a:buChar char="ü"/>
            </a:pPr>
            <a:endParaRPr lang="pl-PL" sz="1800" b="0" i="0" u="none" strike="noStrike" baseline="0" dirty="0">
              <a:solidFill>
                <a:srgbClr val="000000"/>
              </a:solidFill>
              <a:latin typeface="Calibri" panose="020F0502020204030204" pitchFamily="34" charset="0"/>
            </a:endParaRPr>
          </a:p>
          <a:p>
            <a:pPr marL="379413" indent="-285750">
              <a:spcBef>
                <a:spcPts val="0"/>
              </a:spcBef>
              <a:buFont typeface="Wingdings" panose="05000000000000000000" pitchFamily="2" charset="2"/>
              <a:buChar char="ü"/>
            </a:pPr>
            <a:endParaRPr lang="pl-PL" sz="1800" dirty="0">
              <a:solidFill>
                <a:srgbClr val="000000"/>
              </a:solidFill>
              <a:latin typeface="Calibri" panose="020F0502020204030204" pitchFamily="34" charset="0"/>
            </a:endParaRPr>
          </a:p>
          <a:p>
            <a:pPr marL="379413" indent="-285750">
              <a:spcBef>
                <a:spcPts val="0"/>
              </a:spcBef>
              <a:buFont typeface="Wingdings" panose="05000000000000000000" pitchFamily="2" charset="2"/>
              <a:buChar char="ü"/>
            </a:pPr>
            <a:endParaRPr lang="pl-PL" sz="1800" b="0" i="0" u="none" strike="noStrike" baseline="0" dirty="0">
              <a:solidFill>
                <a:srgbClr val="000000"/>
              </a:solidFill>
              <a:latin typeface="Calibri" panose="020F0502020204030204" pitchFamily="34" charset="0"/>
            </a:endParaRPr>
          </a:p>
          <a:p>
            <a:pPr marL="379413" indent="-285750">
              <a:spcBef>
                <a:spcPts val="0"/>
              </a:spcBef>
              <a:buFont typeface="Wingdings" panose="05000000000000000000" pitchFamily="2" charset="2"/>
              <a:buChar char="ü"/>
            </a:pPr>
            <a:endParaRPr lang="pl-PL" sz="1800" dirty="0">
              <a:solidFill>
                <a:srgbClr val="000000"/>
              </a:solidFill>
              <a:latin typeface="Calibri" panose="020F0502020204030204" pitchFamily="34" charset="0"/>
            </a:endParaRPr>
          </a:p>
          <a:p>
            <a:pPr marL="379413" indent="-285750">
              <a:spcBef>
                <a:spcPts val="0"/>
              </a:spcBef>
              <a:buFont typeface="Wingdings" panose="05000000000000000000" pitchFamily="2" charset="2"/>
              <a:buChar char="ü"/>
            </a:pPr>
            <a:r>
              <a:rPr lang="pl-PL" sz="1800" b="0" i="0" u="none" strike="noStrike" baseline="0" dirty="0">
                <a:solidFill>
                  <a:srgbClr val="000000"/>
                </a:solidFill>
                <a:latin typeface="Calibri" panose="020F0502020204030204" pitchFamily="34" charset="0"/>
              </a:rPr>
              <a:t>Nudności</a:t>
            </a:r>
          </a:p>
          <a:p>
            <a:pPr marL="379413" indent="-285750">
              <a:spcBef>
                <a:spcPts val="0"/>
              </a:spcBef>
              <a:buFont typeface="Wingdings" panose="05000000000000000000" pitchFamily="2" charset="2"/>
              <a:buChar char="ü"/>
            </a:pPr>
            <a:r>
              <a:rPr lang="pl-PL" sz="1800" dirty="0">
                <a:solidFill>
                  <a:srgbClr val="C00000"/>
                </a:solidFill>
                <a:latin typeface="Calibri" panose="020F0502020204030204" pitchFamily="34" charset="0"/>
              </a:rPr>
              <a:t>Kołatanie serca</a:t>
            </a:r>
          </a:p>
          <a:p>
            <a:pPr marL="379413" indent="-285750">
              <a:spcBef>
                <a:spcPts val="0"/>
              </a:spcBef>
              <a:buFont typeface="Wingdings" panose="05000000000000000000" pitchFamily="2" charset="2"/>
              <a:buChar char="ü"/>
            </a:pPr>
            <a:r>
              <a:rPr lang="pl-PL" sz="1800" b="0" i="0" u="none" strike="noStrike" baseline="0" dirty="0">
                <a:solidFill>
                  <a:srgbClr val="000000"/>
                </a:solidFill>
                <a:latin typeface="Calibri" panose="020F0502020204030204" pitchFamily="34" charset="0"/>
              </a:rPr>
              <a:t>W</a:t>
            </a:r>
            <a:r>
              <a:rPr lang="pl-PL" sz="1800" dirty="0">
                <a:solidFill>
                  <a:srgbClr val="000000"/>
                </a:solidFill>
                <a:latin typeface="Calibri" panose="020F0502020204030204" pitchFamily="34" charset="0"/>
              </a:rPr>
              <a:t>iotkość kończyn</a:t>
            </a:r>
          </a:p>
          <a:p>
            <a:pPr marL="379413" indent="-285750">
              <a:spcBef>
                <a:spcPts val="0"/>
              </a:spcBef>
              <a:buFont typeface="Wingdings" panose="05000000000000000000" pitchFamily="2" charset="2"/>
              <a:buChar char="ü"/>
            </a:pPr>
            <a:r>
              <a:rPr lang="pl-PL" sz="1800" b="0" i="0" u="none" strike="noStrike" baseline="0" dirty="0">
                <a:solidFill>
                  <a:srgbClr val="C00000"/>
                </a:solidFill>
                <a:latin typeface="Calibri" panose="020F0502020204030204" pitchFamily="34" charset="0"/>
              </a:rPr>
              <a:t>Zimny pot</a:t>
            </a:r>
          </a:p>
          <a:p>
            <a:pPr marL="379413" indent="-285750">
              <a:spcBef>
                <a:spcPts val="0"/>
              </a:spcBef>
              <a:buFont typeface="Wingdings" panose="05000000000000000000" pitchFamily="2" charset="2"/>
              <a:buChar char="ü"/>
            </a:pPr>
            <a:r>
              <a:rPr lang="pl-PL" sz="1800" dirty="0">
                <a:solidFill>
                  <a:srgbClr val="000000"/>
                </a:solidFill>
                <a:latin typeface="Calibri" panose="020F0502020204030204" pitchFamily="34" charset="0"/>
              </a:rPr>
              <a:t>Tzw. miękkie nogi, osuwanie się na ziemię</a:t>
            </a:r>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2A6BB55-5C0D-4B61-B918-26F8EE7A6B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
        <p:nvSpPr>
          <p:cNvPr id="9" name="pole tekstowe 8">
            <a:extLst>
              <a:ext uri="{FF2B5EF4-FFF2-40B4-BE49-F238E27FC236}">
                <a16:creationId xmlns:a16="http://schemas.microsoft.com/office/drawing/2014/main" id="{48FB129F-ABF3-47F7-95FC-9CF562BE78E9}"/>
              </a:ext>
            </a:extLst>
          </p:cNvPr>
          <p:cNvSpPr txBox="1"/>
          <p:nvPr/>
        </p:nvSpPr>
        <p:spPr>
          <a:xfrm>
            <a:off x="3090056" y="3801941"/>
            <a:ext cx="8584707" cy="2554545"/>
          </a:xfrm>
          <a:prstGeom prst="rect">
            <a:avLst/>
          </a:prstGeom>
          <a:noFill/>
        </p:spPr>
        <p:txBody>
          <a:bodyPr wrap="square" rtlCol="0">
            <a:spAutoFit/>
          </a:bodyPr>
          <a:lstStyle/>
          <a:p>
            <a:r>
              <a:rPr lang="pl-PL" sz="2000" b="1" dirty="0">
                <a:latin typeface="Mundial"/>
              </a:rPr>
              <a:t>Schemat postępowania:</a:t>
            </a:r>
          </a:p>
          <a:p>
            <a:pPr marL="342900" indent="-342900">
              <a:buFont typeface="Wingdings" panose="05000000000000000000" pitchFamily="2" charset="2"/>
              <a:buChar char="ü"/>
            </a:pPr>
            <a:r>
              <a:rPr lang="pl-PL" sz="2000" dirty="0">
                <a:latin typeface="Mundial"/>
              </a:rPr>
              <a:t>Wyprowadzić poszkodowanego na świeże powietrze lub otworzyć okno</a:t>
            </a:r>
          </a:p>
          <a:p>
            <a:pPr marL="342900" indent="-342900">
              <a:buFont typeface="Wingdings" panose="05000000000000000000" pitchFamily="2" charset="2"/>
              <a:buChar char="ü"/>
            </a:pPr>
            <a:r>
              <a:rPr lang="pl-PL" sz="2000" dirty="0">
                <a:latin typeface="Mundial"/>
              </a:rPr>
              <a:t>Poluźnić ciasne elementy ubrania (krawat, guziki w koszuli)</a:t>
            </a:r>
          </a:p>
          <a:p>
            <a:pPr marL="342900" indent="-342900">
              <a:buFont typeface="Wingdings" panose="05000000000000000000" pitchFamily="2" charset="2"/>
              <a:buChar char="ü"/>
            </a:pPr>
            <a:r>
              <a:rPr lang="pl-PL" sz="2000" dirty="0">
                <a:latin typeface="Mundial"/>
              </a:rPr>
              <a:t>Unieść ku górze kończyny (np. podłożyć coś pod nogi, unieść ręce w górę)</a:t>
            </a:r>
          </a:p>
          <a:p>
            <a:pPr marL="342900" indent="-342900">
              <a:buFont typeface="Wingdings" panose="05000000000000000000" pitchFamily="2" charset="2"/>
              <a:buChar char="ü"/>
            </a:pPr>
            <a:r>
              <a:rPr lang="pl-PL" sz="2000" dirty="0">
                <a:latin typeface="Mundial"/>
              </a:rPr>
              <a:t>Sprawdzać przytomność i kontrolować oddech,</a:t>
            </a:r>
          </a:p>
          <a:p>
            <a:pPr marL="342900" indent="-342900">
              <a:buFont typeface="Wingdings" panose="05000000000000000000" pitchFamily="2" charset="2"/>
              <a:buChar char="ü"/>
            </a:pPr>
            <a:r>
              <a:rPr lang="pl-PL" sz="2000" dirty="0">
                <a:latin typeface="Mundial"/>
              </a:rPr>
              <a:t>Jeśli stan poszkodowanego się nie poprawia, wezwać pogotowie nr 999 lub 112</a:t>
            </a:r>
          </a:p>
          <a:p>
            <a:pPr marL="342900" indent="-342900">
              <a:buFont typeface="Wingdings" panose="05000000000000000000" pitchFamily="2" charset="2"/>
              <a:buChar char="ü"/>
            </a:pPr>
            <a:r>
              <a:rPr lang="pl-PL" sz="2000" dirty="0">
                <a:latin typeface="Mundial"/>
              </a:rPr>
              <a:t>Ułożyć poszkodowanego w pozycji bocznej ustalonej (bocznej bezpiecznej)</a:t>
            </a:r>
          </a:p>
        </p:txBody>
      </p:sp>
    </p:spTree>
    <p:extLst>
      <p:ext uri="{BB962C8B-B14F-4D97-AF65-F5344CB8AC3E}">
        <p14:creationId xmlns:p14="http://schemas.microsoft.com/office/powerpoint/2010/main" val="205900002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85</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720548" cy="5518651"/>
          </a:xfrm>
        </p:spPr>
        <p:txBody>
          <a:bodyPr numCol="1"/>
          <a:lstStyle/>
          <a:p>
            <a:pPr algn="ctr"/>
            <a:r>
              <a:rPr lang="pl-PL" sz="2000" b="1" i="0" u="none" strike="noStrike" baseline="0" dirty="0">
                <a:solidFill>
                  <a:srgbClr val="C00000"/>
                </a:solidFill>
                <a:latin typeface="Mundial"/>
              </a:rPr>
              <a:t>KRWOTOKI I KRWAWIENIA</a:t>
            </a:r>
            <a:endParaRPr lang="pl-PL" sz="1800" dirty="0">
              <a:solidFill>
                <a:srgbClr val="000000"/>
              </a:solidFill>
              <a:latin typeface="Calibri" panose="020F0502020204030204" pitchFamily="34" charset="0"/>
            </a:endParaRPr>
          </a:p>
          <a:p>
            <a:r>
              <a:rPr lang="pl-PL" sz="1800" b="1" dirty="0">
                <a:solidFill>
                  <a:schemeClr val="accent6"/>
                </a:solidFill>
                <a:latin typeface="Mundial"/>
              </a:rPr>
              <a:t>KRWAWIENIE</a:t>
            </a:r>
            <a:r>
              <a:rPr lang="pl-PL" sz="1800" dirty="0">
                <a:solidFill>
                  <a:schemeClr val="accent6"/>
                </a:solidFill>
                <a:latin typeface="Mundial"/>
              </a:rPr>
              <a:t> – to powolna utrata krwi, początkowo niedająca objawów klinicznych</a:t>
            </a:r>
          </a:p>
          <a:p>
            <a:r>
              <a:rPr lang="pl-PL" sz="1800" b="1" dirty="0">
                <a:solidFill>
                  <a:schemeClr val="accent6"/>
                </a:solidFill>
                <a:latin typeface="Mundial"/>
              </a:rPr>
              <a:t>KRWOTOK </a:t>
            </a:r>
            <a:r>
              <a:rPr lang="pl-PL" sz="1800" dirty="0">
                <a:solidFill>
                  <a:schemeClr val="accent6"/>
                </a:solidFill>
                <a:latin typeface="Mundial"/>
              </a:rPr>
              <a:t>– to sytuacja, w której poszkodowany traci w sposób nagły dużą ilość krwi w krótkim czasie, co prowadzi do zaburzeń ogólnoustrojowych lub zagrożenia życia</a:t>
            </a:r>
          </a:p>
          <a:p>
            <a:r>
              <a:rPr lang="pl-PL" sz="1800" dirty="0">
                <a:solidFill>
                  <a:schemeClr val="accent6"/>
                </a:solidFill>
                <a:latin typeface="Mundial"/>
              </a:rPr>
              <a:t>Krwotoki dzielimy na:</a:t>
            </a:r>
          </a:p>
          <a:p>
            <a:pPr marL="379413" indent="-285750">
              <a:spcBef>
                <a:spcPts val="0"/>
              </a:spcBef>
              <a:buFont typeface="Wingdings" panose="05000000000000000000" pitchFamily="2" charset="2"/>
              <a:buChar char="ü"/>
            </a:pPr>
            <a:r>
              <a:rPr lang="pl-PL" sz="1800" b="1" dirty="0">
                <a:solidFill>
                  <a:srgbClr val="C00000"/>
                </a:solidFill>
                <a:latin typeface="Mundial"/>
              </a:rPr>
              <a:t>Żylne</a:t>
            </a:r>
          </a:p>
          <a:p>
            <a:pPr marL="379413" indent="-285750">
              <a:spcBef>
                <a:spcPts val="0"/>
              </a:spcBef>
              <a:buFont typeface="Wingdings" panose="05000000000000000000" pitchFamily="2" charset="2"/>
              <a:buChar char="ü"/>
            </a:pPr>
            <a:r>
              <a:rPr lang="pl-PL" sz="1800" b="1" dirty="0">
                <a:solidFill>
                  <a:srgbClr val="C00000"/>
                </a:solidFill>
                <a:latin typeface="Mundial"/>
              </a:rPr>
              <a:t>Tętnicze</a:t>
            </a:r>
          </a:p>
          <a:p>
            <a:endParaRPr lang="pl-PL" sz="1800" dirty="0">
              <a:solidFill>
                <a:schemeClr val="accent6"/>
              </a:solidFill>
              <a:latin typeface="Mundial"/>
            </a:endParaRPr>
          </a:p>
          <a:p>
            <a:r>
              <a:rPr lang="pl-PL" sz="1800" b="1" dirty="0">
                <a:latin typeface="Mundial"/>
              </a:rPr>
              <a:t>KRWOTOK ŻYLNY </a:t>
            </a:r>
            <a:r>
              <a:rPr lang="pl-PL" sz="1800" dirty="0">
                <a:solidFill>
                  <a:schemeClr val="accent6"/>
                </a:solidFill>
                <a:latin typeface="Mundial"/>
              </a:rPr>
              <a:t>– rozpoznasz go po </a:t>
            </a:r>
            <a:r>
              <a:rPr lang="pl-PL" sz="1800" b="1" dirty="0">
                <a:solidFill>
                  <a:schemeClr val="tx2">
                    <a:lumMod val="50000"/>
                  </a:schemeClr>
                </a:solidFill>
                <a:latin typeface="Mundial"/>
              </a:rPr>
              <a:t>ciemnym kolorze </a:t>
            </a:r>
            <a:r>
              <a:rPr lang="pl-PL" sz="1800" dirty="0">
                <a:solidFill>
                  <a:schemeClr val="accent6"/>
                </a:solidFill>
                <a:latin typeface="Mundial"/>
              </a:rPr>
              <a:t>krwi wypływającej z rany poszkodowanego; wystarczy założenie opatrunku uciskowego</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2A6BB55-5C0D-4B61-B918-26F8EE7A6B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1924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86</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6740198" cy="5518651"/>
          </a:xfrm>
        </p:spPr>
        <p:txBody>
          <a:bodyPr numCol="1"/>
          <a:lstStyle/>
          <a:p>
            <a:pPr algn="ctr"/>
            <a:r>
              <a:rPr lang="pl-PL" sz="2000" b="1" i="0" u="none" strike="noStrike" baseline="0" dirty="0">
                <a:solidFill>
                  <a:srgbClr val="C00000"/>
                </a:solidFill>
                <a:latin typeface="Mundial"/>
              </a:rPr>
              <a:t>KRWOTOKI I KRWAWIENIA</a:t>
            </a:r>
            <a:endParaRPr lang="pl-PL" sz="1800" dirty="0">
              <a:solidFill>
                <a:srgbClr val="000000"/>
              </a:solidFill>
              <a:latin typeface="Calibri" panose="020F0502020204030204" pitchFamily="34" charset="0"/>
            </a:endParaRPr>
          </a:p>
          <a:p>
            <a:r>
              <a:rPr lang="pl-PL" sz="1800" b="1" dirty="0">
                <a:solidFill>
                  <a:schemeClr val="accent6"/>
                </a:solidFill>
                <a:latin typeface="Mundial"/>
              </a:rPr>
              <a:t>KRWOTOK TĘTNICZY – </a:t>
            </a:r>
            <a:r>
              <a:rPr lang="pl-PL" sz="1800" dirty="0">
                <a:solidFill>
                  <a:schemeClr val="accent6"/>
                </a:solidFill>
                <a:latin typeface="Mundial"/>
              </a:rPr>
              <a:t>rozpoznasz go po </a:t>
            </a:r>
            <a:r>
              <a:rPr lang="pl-PL" sz="1800" b="1" dirty="0">
                <a:solidFill>
                  <a:srgbClr val="FF0000"/>
                </a:solidFill>
                <a:latin typeface="Mundial"/>
              </a:rPr>
              <a:t>żywoczerwonym kolorze </a:t>
            </a:r>
            <a:r>
              <a:rPr lang="pl-PL" sz="1800" dirty="0">
                <a:solidFill>
                  <a:schemeClr val="accent6"/>
                </a:solidFill>
                <a:latin typeface="Mundial"/>
              </a:rPr>
              <a:t>krwi tryskającej pod większym ciśnieniem z rany (wrażenie wyrzucania krwi w tempie tętna poszkodowanego); </a:t>
            </a:r>
            <a:r>
              <a:rPr lang="pl-PL" sz="1800" u="sng" dirty="0">
                <a:solidFill>
                  <a:schemeClr val="accent6"/>
                </a:solidFill>
                <a:latin typeface="Mundial"/>
              </a:rPr>
              <a:t>niezbędna jest natychmiastowa pomoc!</a:t>
            </a:r>
            <a:endParaRPr lang="pl-PL" sz="1800" b="1" dirty="0">
              <a:solidFill>
                <a:schemeClr val="accent6"/>
              </a:solidFill>
              <a:latin typeface="Mundial"/>
            </a:endParaRPr>
          </a:p>
          <a:p>
            <a:r>
              <a:rPr lang="pl-PL" sz="1800" b="1" dirty="0">
                <a:solidFill>
                  <a:schemeClr val="accent6"/>
                </a:solidFill>
                <a:latin typeface="Mundial"/>
              </a:rPr>
              <a:t>Schemat postępowania:</a:t>
            </a:r>
          </a:p>
          <a:p>
            <a:pPr marL="379413" indent="-285750">
              <a:spcBef>
                <a:spcPts val="0"/>
              </a:spcBef>
              <a:buFont typeface="Wingdings" panose="05000000000000000000" pitchFamily="2" charset="2"/>
              <a:buChar char="ü"/>
            </a:pPr>
            <a:r>
              <a:rPr lang="pl-PL" sz="1800" dirty="0">
                <a:solidFill>
                  <a:schemeClr val="accent6"/>
                </a:solidFill>
                <a:latin typeface="Mundial"/>
              </a:rPr>
              <a:t>Uszkodzone tętnice uciskamy powyżej rany,</a:t>
            </a:r>
          </a:p>
          <a:p>
            <a:pPr marL="379413" indent="-285750">
              <a:spcBef>
                <a:spcPts val="0"/>
              </a:spcBef>
              <a:buFont typeface="Wingdings" panose="05000000000000000000" pitchFamily="2" charset="2"/>
              <a:buChar char="ü"/>
            </a:pPr>
            <a:r>
              <a:rPr lang="pl-PL" sz="1800" dirty="0">
                <a:solidFill>
                  <a:schemeClr val="accent6"/>
                </a:solidFill>
                <a:latin typeface="Mundial"/>
              </a:rPr>
              <a:t>W przypadku uszkodzeń kończyn uciśnij ranę w miejscu krwawienia,</a:t>
            </a:r>
          </a:p>
          <a:p>
            <a:pPr marL="379413" indent="-285750">
              <a:spcBef>
                <a:spcPts val="0"/>
              </a:spcBef>
              <a:buFont typeface="Wingdings" panose="05000000000000000000" pitchFamily="2" charset="2"/>
              <a:buChar char="ü"/>
            </a:pPr>
            <a:r>
              <a:rPr lang="pl-PL" sz="1800" dirty="0">
                <a:solidFill>
                  <a:schemeClr val="accent6"/>
                </a:solidFill>
                <a:latin typeface="Mundial"/>
              </a:rPr>
              <a:t>Zakładamy opatrunek uciskowy - wykorzystaj gazik, a na nim umieść coś, co może stanowić dociążenie (np. zwinięte bandaże, kawałek materiału, gumowe rękawiczki zwinięte w kłębek); całość owiń bandażem lub chustą trójkątną lub kawałkiem materiału dającego </a:t>
            </a:r>
            <a:r>
              <a:rPr lang="pl-PL" sz="1800">
                <a:solidFill>
                  <a:schemeClr val="accent6"/>
                </a:solidFill>
                <a:latin typeface="Mundial"/>
              </a:rPr>
              <a:t>się pociąć </a:t>
            </a:r>
            <a:r>
              <a:rPr lang="pl-PL" sz="1800" dirty="0">
                <a:solidFill>
                  <a:schemeClr val="accent6"/>
                </a:solidFill>
                <a:latin typeface="Mundial"/>
              </a:rPr>
              <a:t>na pasy.</a:t>
            </a:r>
          </a:p>
          <a:p>
            <a:pPr marL="379413" indent="-285750">
              <a:spcBef>
                <a:spcPts val="0"/>
              </a:spcBef>
              <a:buFont typeface="Wingdings" panose="05000000000000000000" pitchFamily="2" charset="2"/>
              <a:buChar char="ü"/>
            </a:pPr>
            <a:r>
              <a:rPr lang="pl-PL" sz="1800" dirty="0">
                <a:solidFill>
                  <a:schemeClr val="accent6"/>
                </a:solidFill>
                <a:latin typeface="Mundial"/>
              </a:rPr>
              <a:t>Dla pewności do czasu przybycia profesjonalnych służb ratowniczych można uciskać dodatkowo ręką/palcami</a:t>
            </a:r>
          </a:p>
          <a:p>
            <a:endParaRPr lang="pl-PL" sz="1800" dirty="0">
              <a:solidFill>
                <a:schemeClr val="accent6"/>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2A6BB55-5C0D-4B61-B918-26F8EE7A6B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78A57816-B2FE-49BB-A933-C80A78C1BD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83377" y="1635572"/>
            <a:ext cx="2143125" cy="431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9388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87</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5958966" cy="5518651"/>
          </a:xfrm>
        </p:spPr>
        <p:txBody>
          <a:bodyPr numCol="1"/>
          <a:lstStyle/>
          <a:p>
            <a:pPr algn="ctr"/>
            <a:r>
              <a:rPr lang="pl-PL" sz="2400" b="1" dirty="0">
                <a:solidFill>
                  <a:srgbClr val="C00000"/>
                </a:solidFill>
                <a:latin typeface="Mundial"/>
              </a:rPr>
              <a:t>KRWOTOK Z NOSA </a:t>
            </a:r>
            <a:r>
              <a:rPr lang="pl-PL" sz="2400" b="0" i="0" dirty="0">
                <a:solidFill>
                  <a:srgbClr val="C00000"/>
                </a:solidFill>
                <a:effectLst/>
                <a:latin typeface="Tahoma" panose="020B0604030504040204" pitchFamily="34" charset="0"/>
              </a:rPr>
              <a:t> </a:t>
            </a:r>
            <a:endParaRPr lang="pl-PL" sz="2400" b="1" dirty="0">
              <a:solidFill>
                <a:schemeClr val="accent6"/>
              </a:solidFill>
              <a:latin typeface="Mundial"/>
            </a:endParaRPr>
          </a:p>
          <a:p>
            <a:r>
              <a:rPr lang="pl-PL" sz="2000" b="1" dirty="0">
                <a:solidFill>
                  <a:schemeClr val="accent6"/>
                </a:solidFill>
                <a:latin typeface="Mundial"/>
              </a:rPr>
              <a:t>Schemat postępowania:</a:t>
            </a:r>
          </a:p>
          <a:p>
            <a:pPr marL="379413" indent="-285750">
              <a:spcBef>
                <a:spcPts val="0"/>
              </a:spcBef>
              <a:buFont typeface="Wingdings" panose="05000000000000000000" pitchFamily="2" charset="2"/>
              <a:buChar char="ü"/>
            </a:pPr>
            <a:r>
              <a:rPr lang="pl-PL" sz="2000" dirty="0">
                <a:solidFill>
                  <a:schemeClr val="accent6"/>
                </a:solidFill>
                <a:latin typeface="Mundial"/>
              </a:rPr>
              <a:t>Posadź poszkodowanego z głową pochyloną lekko do przodu</a:t>
            </a:r>
          </a:p>
          <a:p>
            <a:pPr marL="379413" indent="-285750">
              <a:spcBef>
                <a:spcPts val="0"/>
              </a:spcBef>
              <a:buFont typeface="Wingdings" panose="05000000000000000000" pitchFamily="2" charset="2"/>
              <a:buChar char="ü"/>
            </a:pPr>
            <a:r>
              <a:rPr lang="pl-PL" sz="2000" dirty="0">
                <a:solidFill>
                  <a:schemeClr val="accent6"/>
                </a:solidFill>
                <a:latin typeface="Mundial"/>
              </a:rPr>
              <a:t>Po stronie krwawienia uciśnij lekko skrzydełko nosa       (ok. 10 min)</a:t>
            </a:r>
          </a:p>
          <a:p>
            <a:pPr marL="379413" indent="-285750">
              <a:spcBef>
                <a:spcPts val="0"/>
              </a:spcBef>
              <a:buFont typeface="Wingdings" panose="05000000000000000000" pitchFamily="2" charset="2"/>
              <a:buChar char="ü"/>
            </a:pPr>
            <a:r>
              <a:rPr lang="pl-PL" sz="2000" dirty="0">
                <a:solidFill>
                  <a:schemeClr val="accent6"/>
                </a:solidFill>
                <a:latin typeface="Mundial"/>
              </a:rPr>
              <a:t>Na kark i nasadę nosa warto położyć zimny kompres</a:t>
            </a:r>
          </a:p>
          <a:p>
            <a:pPr marL="379413" indent="-285750">
              <a:spcBef>
                <a:spcPts val="0"/>
              </a:spcBef>
              <a:buFont typeface="Wingdings" panose="05000000000000000000" pitchFamily="2" charset="2"/>
              <a:buChar char="ü"/>
            </a:pPr>
            <a:r>
              <a:rPr lang="pl-PL" sz="2000" dirty="0">
                <a:solidFill>
                  <a:schemeClr val="accent6"/>
                </a:solidFill>
                <a:latin typeface="Mundial"/>
              </a:rPr>
              <a:t>Zadbaj, by poszkodowany nie połykał krwi</a:t>
            </a:r>
          </a:p>
          <a:p>
            <a:pPr marL="379413" indent="-285750">
              <a:spcBef>
                <a:spcPts val="0"/>
              </a:spcBef>
              <a:buFont typeface="Wingdings" panose="05000000000000000000" pitchFamily="2" charset="2"/>
              <a:buChar char="ü"/>
            </a:pPr>
            <a:r>
              <a:rPr lang="pl-PL" sz="2000" dirty="0">
                <a:solidFill>
                  <a:schemeClr val="accent6"/>
                </a:solidFill>
                <a:latin typeface="Mundial"/>
              </a:rPr>
              <a:t>Poproś, by oddychał spokojnie przez usta</a:t>
            </a:r>
          </a:p>
          <a:p>
            <a:pPr marL="379413" indent="-285750">
              <a:spcBef>
                <a:spcPts val="0"/>
              </a:spcBef>
              <a:buFont typeface="Wingdings" panose="05000000000000000000" pitchFamily="2" charset="2"/>
              <a:buChar char="ü"/>
            </a:pPr>
            <a:r>
              <a:rPr lang="pl-PL" sz="2000" dirty="0">
                <a:solidFill>
                  <a:schemeClr val="accent6"/>
                </a:solidFill>
                <a:latin typeface="Mundial"/>
              </a:rPr>
              <a:t>Po ustaniu krwawienia poszkodowany powinien odpocząć</a:t>
            </a:r>
          </a:p>
          <a:p>
            <a:pPr marL="379413" indent="-285750">
              <a:spcBef>
                <a:spcPts val="0"/>
              </a:spcBef>
              <a:buFont typeface="Wingdings" panose="05000000000000000000" pitchFamily="2" charset="2"/>
              <a:buChar char="ü"/>
            </a:pPr>
            <a:r>
              <a:rPr lang="pl-PL" sz="2000" dirty="0">
                <a:solidFill>
                  <a:schemeClr val="accent6"/>
                </a:solidFill>
                <a:latin typeface="Mundial"/>
              </a:rPr>
              <a:t>Nie wolno zbyt szybko oczyścić nosa, by nie doszło do ponownego krwawienia</a:t>
            </a:r>
          </a:p>
          <a:p>
            <a:pPr marL="379413" indent="-285750">
              <a:spcBef>
                <a:spcPts val="0"/>
              </a:spcBef>
              <a:buFont typeface="Wingdings" panose="05000000000000000000" pitchFamily="2" charset="2"/>
              <a:buChar char="ü"/>
            </a:pPr>
            <a:endParaRPr lang="pl-PL" sz="1800" dirty="0">
              <a:solidFill>
                <a:schemeClr val="accent6"/>
              </a:solidFill>
              <a:latin typeface="Mundial"/>
            </a:endParaRPr>
          </a:p>
          <a:p>
            <a:pPr>
              <a:spcBef>
                <a:spcPts val="0"/>
              </a:spcBef>
            </a:pPr>
            <a:endParaRPr lang="pl-PL" sz="1800" dirty="0">
              <a:solidFill>
                <a:schemeClr val="accent6"/>
              </a:solidFill>
              <a:latin typeface="Mundial"/>
            </a:endParaRPr>
          </a:p>
          <a:p>
            <a:endParaRPr lang="pl-PL" sz="1800" dirty="0">
              <a:solidFill>
                <a:schemeClr val="accent6"/>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2A6BB55-5C0D-4B61-B918-26F8EE7A6B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10" name="Obraz 9">
            <a:extLst>
              <a:ext uri="{FF2B5EF4-FFF2-40B4-BE49-F238E27FC236}">
                <a16:creationId xmlns:a16="http://schemas.microsoft.com/office/drawing/2014/main" id="{CB9AE650-E92D-40E0-A690-46187B9DB221}"/>
              </a:ext>
            </a:extLst>
          </p:cNvPr>
          <p:cNvPicPr>
            <a:picLocks noChangeAspect="1"/>
          </p:cNvPicPr>
          <p:nvPr/>
        </p:nvPicPr>
        <p:blipFill>
          <a:blip r:embed="rId4"/>
          <a:stretch>
            <a:fillRect/>
          </a:stretch>
        </p:blipFill>
        <p:spPr>
          <a:xfrm>
            <a:off x="8800667" y="895479"/>
            <a:ext cx="3117426" cy="2058736"/>
          </a:xfrm>
          <a:prstGeom prst="rect">
            <a:avLst/>
          </a:prstGeom>
        </p:spPr>
      </p:pic>
    </p:spTree>
    <p:extLst>
      <p:ext uri="{BB962C8B-B14F-4D97-AF65-F5344CB8AC3E}">
        <p14:creationId xmlns:p14="http://schemas.microsoft.com/office/powerpoint/2010/main" val="51308433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88</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028869" y="820005"/>
            <a:ext cx="8720548" cy="5217989"/>
          </a:xfrm>
        </p:spPr>
        <p:txBody>
          <a:bodyPr numCol="1"/>
          <a:lstStyle/>
          <a:p>
            <a:pPr algn="ctr"/>
            <a:r>
              <a:rPr lang="pl-PL" sz="2400" b="1" i="0" u="none" strike="noStrike" baseline="0" dirty="0">
                <a:solidFill>
                  <a:srgbClr val="C00000"/>
                </a:solidFill>
                <a:latin typeface="Mundial"/>
              </a:rPr>
              <a:t>ZADŁAWIENIE I ZACHŁYŚNIĘCIE</a:t>
            </a:r>
          </a:p>
          <a:p>
            <a:pPr algn="ctr"/>
            <a:r>
              <a:rPr lang="pl-PL" sz="2000" b="1" dirty="0">
                <a:solidFill>
                  <a:srgbClr val="000000"/>
                </a:solidFill>
                <a:latin typeface="Mundial"/>
              </a:rPr>
              <a:t>To stan, w którym ciało obce dostaje się do krtani lub tchawicy zamiast do przełyku</a:t>
            </a:r>
            <a:endParaRPr lang="pl-PL" sz="2000" b="0" i="0" u="none" strike="noStrike" baseline="0" dirty="0">
              <a:solidFill>
                <a:srgbClr val="000000"/>
              </a:solidFill>
              <a:latin typeface="Mundial"/>
            </a:endParaRPr>
          </a:p>
          <a:p>
            <a:r>
              <a:rPr lang="pl-PL" sz="2000" b="1" u="sng" dirty="0">
                <a:solidFill>
                  <a:srgbClr val="000000"/>
                </a:solidFill>
                <a:latin typeface="Mundial"/>
              </a:rPr>
              <a:t>Najczęstsze przyczyny:</a:t>
            </a:r>
          </a:p>
          <a:p>
            <a:pPr marL="379413" indent="-285750">
              <a:spcBef>
                <a:spcPts val="0"/>
              </a:spcBef>
              <a:buFont typeface="Wingdings" panose="05000000000000000000" pitchFamily="2" charset="2"/>
              <a:buChar char="ü"/>
            </a:pPr>
            <a:r>
              <a:rPr lang="pl-PL" sz="2000" b="0" i="0" u="none" strike="noStrike" baseline="0" dirty="0">
                <a:solidFill>
                  <a:srgbClr val="000000"/>
                </a:solidFill>
                <a:latin typeface="Mundial"/>
              </a:rPr>
              <a:t>Spożywanie posiłków w pośpiechu</a:t>
            </a:r>
          </a:p>
          <a:p>
            <a:pPr marL="379413" indent="-285750">
              <a:spcBef>
                <a:spcPts val="0"/>
              </a:spcBef>
              <a:buFont typeface="Wingdings" panose="05000000000000000000" pitchFamily="2" charset="2"/>
              <a:buChar char="ü"/>
            </a:pPr>
            <a:r>
              <a:rPr lang="pl-PL" sz="2000" dirty="0">
                <a:solidFill>
                  <a:srgbClr val="C00000"/>
                </a:solidFill>
                <a:latin typeface="Mundial"/>
              </a:rPr>
              <a:t>Spożywanie dużych kawałków pokarmu</a:t>
            </a:r>
          </a:p>
          <a:p>
            <a:pPr marL="379413" indent="-285750">
              <a:spcBef>
                <a:spcPts val="0"/>
              </a:spcBef>
              <a:buFont typeface="Wingdings" panose="05000000000000000000" pitchFamily="2" charset="2"/>
              <a:buChar char="ü"/>
            </a:pPr>
            <a:r>
              <a:rPr lang="pl-PL" sz="2000" b="0" i="0" u="none" strike="noStrike" baseline="0" dirty="0">
                <a:solidFill>
                  <a:srgbClr val="000000"/>
                </a:solidFill>
                <a:latin typeface="Mundial"/>
              </a:rPr>
              <a:t>Wkładanie do ust przedmiotów nie nadających się do spożycia, np. nakrętk</a:t>
            </a:r>
            <a:r>
              <a:rPr lang="pl-PL" sz="2000" dirty="0">
                <a:solidFill>
                  <a:srgbClr val="000000"/>
                </a:solidFill>
                <a:latin typeface="Mundial"/>
              </a:rPr>
              <a:t>i od długopisów…</a:t>
            </a:r>
          </a:p>
          <a:p>
            <a:endParaRPr lang="pl-PL" sz="2000" b="1" i="0" u="sng" strike="noStrike" baseline="0" dirty="0">
              <a:solidFill>
                <a:srgbClr val="000000"/>
              </a:solidFill>
              <a:latin typeface="Mundial"/>
            </a:endParaRPr>
          </a:p>
          <a:p>
            <a:pPr>
              <a:spcBef>
                <a:spcPts val="0"/>
              </a:spcBef>
            </a:pPr>
            <a:r>
              <a:rPr lang="pl-PL" sz="2000" b="1" u="sng" dirty="0">
                <a:solidFill>
                  <a:srgbClr val="000000"/>
                </a:solidFill>
                <a:latin typeface="Mundial"/>
              </a:rPr>
              <a:t>Najczęstsze objawy:</a:t>
            </a:r>
          </a:p>
          <a:p>
            <a:pPr marL="379413" indent="-285750">
              <a:spcBef>
                <a:spcPts val="0"/>
              </a:spcBef>
              <a:buFont typeface="Wingdings" panose="05000000000000000000" pitchFamily="2" charset="2"/>
              <a:buChar char="ü"/>
            </a:pPr>
            <a:r>
              <a:rPr lang="pl-PL" sz="2000" dirty="0">
                <a:solidFill>
                  <a:srgbClr val="000000"/>
                </a:solidFill>
                <a:latin typeface="Mundial"/>
              </a:rPr>
              <a:t>Nagły atak duszenia się</a:t>
            </a:r>
          </a:p>
          <a:p>
            <a:pPr marL="379413" indent="-285750">
              <a:spcBef>
                <a:spcPts val="0"/>
              </a:spcBef>
              <a:buFont typeface="Wingdings" panose="05000000000000000000" pitchFamily="2" charset="2"/>
              <a:buChar char="ü"/>
            </a:pPr>
            <a:r>
              <a:rPr lang="pl-PL" sz="2000" b="0" i="0" u="none" strike="noStrike" baseline="0" dirty="0">
                <a:solidFill>
                  <a:srgbClr val="C00000"/>
                </a:solidFill>
                <a:latin typeface="Mundial"/>
              </a:rPr>
              <a:t>Utrudnienie w oddychaniu</a:t>
            </a:r>
          </a:p>
          <a:p>
            <a:pPr marL="379413" indent="-285750">
              <a:spcBef>
                <a:spcPts val="0"/>
              </a:spcBef>
              <a:buFont typeface="Wingdings" panose="05000000000000000000" pitchFamily="2" charset="2"/>
              <a:buChar char="ü"/>
            </a:pPr>
            <a:r>
              <a:rPr lang="pl-PL" sz="2000" dirty="0">
                <a:solidFill>
                  <a:srgbClr val="000000"/>
                </a:solidFill>
                <a:latin typeface="Mundial"/>
              </a:rPr>
              <a:t>Próba ratowania poprzez trzymanie się za gardło</a:t>
            </a:r>
            <a:endParaRPr lang="pl-PL" sz="2000" b="0" i="0" u="none" strike="noStrike" baseline="0" dirty="0">
              <a:solidFill>
                <a:srgbClr val="000000"/>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90A83399-1F44-409D-A50C-2A8743E9C6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81594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89</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028869" y="820005"/>
            <a:ext cx="8720548" cy="5217989"/>
          </a:xfrm>
        </p:spPr>
        <p:txBody>
          <a:bodyPr numCol="1"/>
          <a:lstStyle/>
          <a:p>
            <a:pPr algn="ctr"/>
            <a:r>
              <a:rPr lang="pl-PL" sz="2400" b="1" i="0" u="none" strike="noStrike" baseline="0" dirty="0">
                <a:solidFill>
                  <a:srgbClr val="C00000"/>
                </a:solidFill>
                <a:latin typeface="Mundial"/>
              </a:rPr>
              <a:t>ZADŁAWIENIE I ZACHŁYŚNIĘCIE</a:t>
            </a:r>
          </a:p>
          <a:p>
            <a:r>
              <a:rPr lang="pl-PL" sz="2000" b="1" u="sng" dirty="0">
                <a:solidFill>
                  <a:schemeClr val="accent6"/>
                </a:solidFill>
                <a:latin typeface="Mundial"/>
              </a:rPr>
              <a:t>Jak pomóc?  </a:t>
            </a:r>
          </a:p>
          <a:p>
            <a:r>
              <a:rPr lang="pl-PL" sz="2000" dirty="0">
                <a:solidFill>
                  <a:schemeClr val="accent6"/>
                </a:solidFill>
                <a:latin typeface="Mundial"/>
              </a:rPr>
              <a:t>Pochyl poszkodowanego do przodu i lekko ku dołowi a następnie poklep po plechach na wysokości łopatek</a:t>
            </a:r>
          </a:p>
          <a:p>
            <a:pPr algn="ctr"/>
            <a:r>
              <a:rPr lang="pl-PL" sz="2000" b="1" dirty="0">
                <a:solidFill>
                  <a:schemeClr val="accent6"/>
                </a:solidFill>
                <a:latin typeface="Mundial"/>
              </a:rPr>
              <a:t>Jeśli to nie pomaga - wykonaj tzw. chwyt (rękoczyn) </a:t>
            </a:r>
            <a:r>
              <a:rPr lang="pl-PL" sz="2000" b="1" dirty="0" err="1">
                <a:solidFill>
                  <a:schemeClr val="accent6"/>
                </a:solidFill>
                <a:latin typeface="Mundial"/>
              </a:rPr>
              <a:t>Heimlicha</a:t>
            </a:r>
            <a:endParaRPr lang="pl-PL" sz="2000" b="1" dirty="0">
              <a:solidFill>
                <a:schemeClr val="accent6"/>
              </a:solidFill>
              <a:latin typeface="Mundial"/>
            </a:endParaRPr>
          </a:p>
          <a:p>
            <a:pPr marL="436563" indent="-342900">
              <a:buAutoNum type="arabicPeriod"/>
            </a:pPr>
            <a:r>
              <a:rPr lang="pl-PL" sz="1800" dirty="0">
                <a:solidFill>
                  <a:srgbClr val="202124"/>
                </a:solidFill>
                <a:latin typeface="arial" panose="020B0604020202020204" pitchFamily="34" charset="0"/>
              </a:rPr>
              <a:t>stań</a:t>
            </a:r>
            <a:r>
              <a:rPr lang="pl-PL" sz="1800" b="0" i="0" dirty="0">
                <a:solidFill>
                  <a:srgbClr val="202124"/>
                </a:solidFill>
                <a:effectLst/>
                <a:latin typeface="arial" panose="020B0604020202020204" pitchFamily="34" charset="0"/>
              </a:rPr>
              <a:t> za osobą poszkodowaną i obejmij ją na wysokości pasa, jednocześnie lekko pochylając poszkodowanego</a:t>
            </a:r>
          </a:p>
          <a:p>
            <a:pPr marL="436563" indent="-342900">
              <a:buAutoNum type="arabicPeriod"/>
            </a:pPr>
            <a:r>
              <a:rPr lang="pl-PL" sz="1800" b="0" i="0" dirty="0">
                <a:solidFill>
                  <a:srgbClr val="202124"/>
                </a:solidFill>
                <a:effectLst/>
                <a:latin typeface="arial" panose="020B0604020202020204" pitchFamily="34" charset="0"/>
              </a:rPr>
              <a:t>następnie jedną dłoń zaciśnij w pięść i obejmij ją drugą dłonią – dłonie powinny być umiejscowione pomiędzy pępkiem a żebrami poszkodowanego</a:t>
            </a:r>
          </a:p>
          <a:p>
            <a:pPr marL="436563" indent="-342900">
              <a:buAutoNum type="arabicPeriod"/>
            </a:pPr>
            <a:r>
              <a:rPr lang="pl-PL" sz="1800" dirty="0">
                <a:solidFill>
                  <a:srgbClr val="202124"/>
                </a:solidFill>
                <a:latin typeface="arial" panose="020B0604020202020204" pitchFamily="34" charset="0"/>
              </a:rPr>
              <a:t>energicznym ruchem pociągnij ręce do siebie ku górze – ucisk przepony spowoduje możliwość wypchnięcia ciała obcego z dróg oddechowych</a:t>
            </a:r>
          </a:p>
          <a:p>
            <a:pPr marL="436563" indent="-342900">
              <a:buAutoNum type="arabicPeriod"/>
            </a:pPr>
            <a:r>
              <a:rPr lang="pl-PL" sz="1800" dirty="0">
                <a:solidFill>
                  <a:srgbClr val="202124"/>
                </a:solidFill>
                <a:latin typeface="arial" panose="020B0604020202020204" pitchFamily="34" charset="0"/>
              </a:rPr>
              <a:t>chwyt można powtórzyć jeśli nie przyniesie efektów za pierwszym razem</a:t>
            </a:r>
            <a:endParaRPr lang="pl-PL" sz="1800" dirty="0">
              <a:solidFill>
                <a:schemeClr val="accent6"/>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90A83399-1F44-409D-A50C-2A8743E9C6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59042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90</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3028869" y="820005"/>
            <a:ext cx="8720548" cy="5217989"/>
          </a:xfrm>
        </p:spPr>
        <p:txBody>
          <a:bodyPr numCol="1"/>
          <a:lstStyle/>
          <a:p>
            <a:pPr algn="ctr"/>
            <a:r>
              <a:rPr lang="pl-PL" sz="2400" b="1" i="0" u="none" strike="noStrike" baseline="0" dirty="0">
                <a:solidFill>
                  <a:srgbClr val="C00000"/>
                </a:solidFill>
                <a:latin typeface="Mundial"/>
              </a:rPr>
              <a:t>ZADŁAWIENIE I ZACHŁYŚNIĘCIE</a:t>
            </a:r>
          </a:p>
          <a:p>
            <a:r>
              <a:rPr lang="pl-PL" sz="2000" b="1" dirty="0">
                <a:solidFill>
                  <a:schemeClr val="accent6"/>
                </a:solidFill>
                <a:latin typeface="Mundial"/>
              </a:rPr>
              <a:t>U kogo </a:t>
            </a:r>
            <a:r>
              <a:rPr lang="pl-PL" sz="2000" b="1" u="sng" dirty="0">
                <a:solidFill>
                  <a:schemeClr val="accent6"/>
                </a:solidFill>
                <a:latin typeface="Mundial"/>
              </a:rPr>
              <a:t>nie wykonywać </a:t>
            </a:r>
            <a:r>
              <a:rPr lang="pl-PL" sz="2000" b="1" dirty="0">
                <a:solidFill>
                  <a:schemeClr val="accent6"/>
                </a:solidFill>
                <a:latin typeface="Mundial"/>
              </a:rPr>
              <a:t>chwytu (rękoczynu) </a:t>
            </a:r>
            <a:r>
              <a:rPr lang="pl-PL" sz="2000" b="1" dirty="0" err="1">
                <a:solidFill>
                  <a:schemeClr val="accent6"/>
                </a:solidFill>
                <a:latin typeface="Mundial"/>
              </a:rPr>
              <a:t>Heimlicha</a:t>
            </a:r>
            <a:r>
              <a:rPr lang="pl-PL" sz="2000" b="1" dirty="0">
                <a:solidFill>
                  <a:schemeClr val="accent6"/>
                </a:solidFill>
                <a:latin typeface="Mundial"/>
              </a:rPr>
              <a:t>:</a:t>
            </a:r>
          </a:p>
          <a:p>
            <a:pPr marL="436563" indent="-342900">
              <a:spcBef>
                <a:spcPts val="0"/>
              </a:spcBef>
              <a:buFont typeface="Wingdings" panose="05000000000000000000" pitchFamily="2" charset="2"/>
              <a:buChar char="ü"/>
            </a:pPr>
            <a:r>
              <a:rPr lang="pl-PL" sz="2000" b="1" dirty="0">
                <a:solidFill>
                  <a:schemeClr val="accent6"/>
                </a:solidFill>
                <a:latin typeface="Mundial"/>
              </a:rPr>
              <a:t>Dzieci do 1 roku życia</a:t>
            </a:r>
          </a:p>
          <a:p>
            <a:pPr marL="436563" indent="-342900">
              <a:spcBef>
                <a:spcPts val="0"/>
              </a:spcBef>
              <a:buFont typeface="Wingdings" panose="05000000000000000000" pitchFamily="2" charset="2"/>
              <a:buChar char="ü"/>
            </a:pPr>
            <a:r>
              <a:rPr lang="pl-PL" sz="2000" b="1" dirty="0">
                <a:solidFill>
                  <a:schemeClr val="accent6"/>
                </a:solidFill>
                <a:latin typeface="Mundial"/>
              </a:rPr>
              <a:t>Kobiety w ciąży</a:t>
            </a:r>
          </a:p>
          <a:p>
            <a:pPr marL="436563" indent="-342900">
              <a:spcBef>
                <a:spcPts val="0"/>
              </a:spcBef>
              <a:buFont typeface="Wingdings" panose="05000000000000000000" pitchFamily="2" charset="2"/>
              <a:buChar char="ü"/>
            </a:pPr>
            <a:r>
              <a:rPr lang="pl-PL" sz="2000" b="1" dirty="0">
                <a:solidFill>
                  <a:schemeClr val="accent6"/>
                </a:solidFill>
                <a:latin typeface="Mundial"/>
              </a:rPr>
              <a:t>Osoby ze znaczną nadwagą i otyłością</a:t>
            </a:r>
          </a:p>
          <a:p>
            <a:r>
              <a:rPr lang="pl-PL" sz="1800" dirty="0">
                <a:solidFill>
                  <a:schemeClr val="accent6"/>
                </a:solidFill>
                <a:latin typeface="Mundial"/>
              </a:rPr>
              <a:t>W takim przypadku należy pochylić poszkodowanego do przodu ku dołowi i poklepać go po plecach</a:t>
            </a: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90A83399-1F44-409D-A50C-2A8743E9C6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8" name="Obraz 7">
            <a:extLst>
              <a:ext uri="{FF2B5EF4-FFF2-40B4-BE49-F238E27FC236}">
                <a16:creationId xmlns:a16="http://schemas.microsoft.com/office/drawing/2014/main" id="{C19A073E-F8C6-47D0-98B4-0375F87B7FE2}"/>
              </a:ext>
            </a:extLst>
          </p:cNvPr>
          <p:cNvPicPr>
            <a:picLocks noChangeAspect="1"/>
          </p:cNvPicPr>
          <p:nvPr/>
        </p:nvPicPr>
        <p:blipFill>
          <a:blip r:embed="rId4"/>
          <a:stretch>
            <a:fillRect/>
          </a:stretch>
        </p:blipFill>
        <p:spPr>
          <a:xfrm>
            <a:off x="3648722" y="4219394"/>
            <a:ext cx="6917924" cy="2514318"/>
          </a:xfrm>
          <a:prstGeom prst="rect">
            <a:avLst/>
          </a:prstGeom>
        </p:spPr>
      </p:pic>
    </p:spTree>
    <p:extLst>
      <p:ext uri="{BB962C8B-B14F-4D97-AF65-F5344CB8AC3E}">
        <p14:creationId xmlns:p14="http://schemas.microsoft.com/office/powerpoint/2010/main" val="32821892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91</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93145"/>
            <a:ext cx="8720548" cy="5217989"/>
          </a:xfrm>
        </p:spPr>
        <p:txBody>
          <a:bodyPr numCol="1"/>
          <a:lstStyle/>
          <a:p>
            <a:pPr algn="ctr"/>
            <a:r>
              <a:rPr lang="pl-PL" sz="2400" b="1" i="0" u="none" strike="noStrike" baseline="0" dirty="0">
                <a:solidFill>
                  <a:srgbClr val="C00000"/>
                </a:solidFill>
                <a:latin typeface="Mundial"/>
              </a:rPr>
              <a:t>PORAŻENIE PRĄDEM</a:t>
            </a:r>
          </a:p>
          <a:p>
            <a:r>
              <a:rPr lang="pl-PL" sz="2000" b="1" dirty="0">
                <a:solidFill>
                  <a:srgbClr val="000000"/>
                </a:solidFill>
                <a:latin typeface="Mundial"/>
              </a:rPr>
              <a:t>s</a:t>
            </a:r>
            <a:r>
              <a:rPr lang="pl-PL" sz="2000" b="1" i="0" u="none" strike="noStrike" baseline="0" dirty="0">
                <a:solidFill>
                  <a:srgbClr val="000000"/>
                </a:solidFill>
                <a:latin typeface="Mundial"/>
              </a:rPr>
              <a:t>ytuacja, w której dochodzi do przepływu prądu elektrycznego przez ciało człowieka</a:t>
            </a:r>
          </a:p>
          <a:p>
            <a:r>
              <a:rPr lang="pl-PL" sz="1800" b="1" u="sng" dirty="0">
                <a:solidFill>
                  <a:srgbClr val="000000"/>
                </a:solidFill>
                <a:latin typeface="Mundial"/>
              </a:rPr>
              <a:t>Jak pomóc?</a:t>
            </a:r>
          </a:p>
          <a:p>
            <a:pPr marL="379413" indent="-285750">
              <a:buFont typeface="Wingdings" panose="05000000000000000000" pitchFamily="2" charset="2"/>
              <a:buChar char="ü"/>
            </a:pPr>
            <a:r>
              <a:rPr lang="pl-PL" sz="1800" b="0" i="0" u="none" strike="noStrike" baseline="0" dirty="0">
                <a:solidFill>
                  <a:srgbClr val="000000"/>
                </a:solidFill>
                <a:latin typeface="Mundial"/>
              </a:rPr>
              <a:t>Uwolnij niezwłocznie porażonego spod działania prądu elektrycznego (poprzez wyłączenie napięcia właściwego obwodu)</a:t>
            </a:r>
          </a:p>
          <a:p>
            <a:pPr marL="379413" indent="-285750">
              <a:buFont typeface="Wingdings" panose="05000000000000000000" pitchFamily="2" charset="2"/>
              <a:buChar char="ü"/>
            </a:pPr>
            <a:r>
              <a:rPr lang="pl-PL" sz="1800" b="1" dirty="0">
                <a:solidFill>
                  <a:srgbClr val="C00000"/>
                </a:solidFill>
                <a:latin typeface="Mundial"/>
              </a:rPr>
              <a:t>Wezwij pogotowie ratunkowe tel. 112 lub 999</a:t>
            </a:r>
          </a:p>
          <a:p>
            <a:pPr marL="379413" indent="-285750">
              <a:buFont typeface="Wingdings" panose="05000000000000000000" pitchFamily="2" charset="2"/>
              <a:buChar char="ü"/>
            </a:pPr>
            <a:r>
              <a:rPr lang="pl-PL" sz="1800" b="0" i="0" u="none" strike="noStrike" baseline="0" dirty="0">
                <a:solidFill>
                  <a:srgbClr val="000000"/>
                </a:solidFill>
                <a:latin typeface="Mundial"/>
              </a:rPr>
              <a:t>Oceń stan poszkodowanego:</a:t>
            </a:r>
          </a:p>
          <a:p>
            <a:pPr marL="971550" lvl="1" indent="-285750">
              <a:buFont typeface="Wingdings" panose="05000000000000000000" pitchFamily="2" charset="2"/>
              <a:buChar char="ü"/>
            </a:pPr>
            <a:r>
              <a:rPr lang="pl-PL" sz="1800" b="0" i="0" u="none" strike="noStrike" baseline="0" dirty="0">
                <a:solidFill>
                  <a:srgbClr val="000000"/>
                </a:solidFill>
                <a:latin typeface="Mundial"/>
              </a:rPr>
              <a:t>jeśli jest nieprzytomny, postępuj wg procedury zaprezentowanej na slajdzie „schemat postępowania z osobą poszkodowaną nieprzytomną” </a:t>
            </a:r>
          </a:p>
          <a:p>
            <a:pPr marL="971550" lvl="1" indent="-285750">
              <a:buFont typeface="Wingdings" panose="05000000000000000000" pitchFamily="2" charset="2"/>
              <a:buChar char="ü"/>
            </a:pPr>
            <a:r>
              <a:rPr lang="pl-PL" sz="1800" b="0" i="0" u="none" strike="noStrike" baseline="0" dirty="0">
                <a:solidFill>
                  <a:srgbClr val="000000"/>
                </a:solidFill>
                <a:latin typeface="Mundial"/>
              </a:rPr>
              <a:t>jeśli jest przytomny, pozostań przy poszkodowanym aż do momentu przyjazdu wykwalifikowanych służb</a:t>
            </a:r>
          </a:p>
          <a:p>
            <a:pPr algn="ctr"/>
            <a:r>
              <a:rPr lang="pl-PL" sz="2000" b="1" dirty="0">
                <a:solidFill>
                  <a:srgbClr val="C00000"/>
                </a:solidFill>
                <a:latin typeface="Mundial"/>
              </a:rPr>
              <a:t>PORAŻENIE PRĄDEM ELEKTRYCZNYM MOŻE WYWOŁAĆ BARDZO POWAŻNE OBRAŻENIA WEWNĘTRZE NIEWIDOCZNE GOŁYM OKIEM</a:t>
            </a:r>
            <a:endParaRPr lang="pl-PL" sz="2000" b="1" i="0" u="none" strike="noStrike" baseline="0" dirty="0">
              <a:solidFill>
                <a:srgbClr val="C00000"/>
              </a:solidFill>
              <a:latin typeface="Mundial"/>
            </a:endParaRPr>
          </a:p>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201D960A-02FC-4D5B-8BD2-AE94B77E3B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25054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92</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720548" cy="5217989"/>
          </a:xfrm>
        </p:spPr>
        <p:txBody>
          <a:bodyPr numCol="1"/>
          <a:lstStyle/>
          <a:p>
            <a:pPr algn="ctr"/>
            <a:r>
              <a:rPr lang="pl-PL" sz="2400" b="1" i="0" u="none" strike="noStrike" baseline="0" dirty="0">
                <a:solidFill>
                  <a:srgbClr val="C00000"/>
                </a:solidFill>
                <a:latin typeface="Mundial"/>
              </a:rPr>
              <a:t>OPARZENIE</a:t>
            </a:r>
          </a:p>
          <a:p>
            <a:r>
              <a:rPr lang="pl-PL" sz="2000" i="0" dirty="0">
                <a:solidFill>
                  <a:schemeClr val="accent6"/>
                </a:solidFill>
                <a:effectLst/>
                <a:latin typeface="Mundial"/>
              </a:rPr>
              <a:t>j</a:t>
            </a:r>
            <a:r>
              <a:rPr lang="pl-PL" sz="2000" b="0" i="0" dirty="0">
                <a:solidFill>
                  <a:srgbClr val="222222"/>
                </a:solidFill>
                <a:effectLst/>
                <a:latin typeface="Mundial"/>
              </a:rPr>
              <a:t>est uszkodzeniem skóry lub tkanek, które są położone głębiej. Dochodzi do niego na skutek wysokiej temperatury lub kontaktu z prądem elektrycznym oraz substancjami chemicznymi.</a:t>
            </a:r>
          </a:p>
          <a:p>
            <a:pPr algn="l">
              <a:spcBef>
                <a:spcPts val="0"/>
              </a:spcBef>
            </a:pPr>
            <a:endParaRPr lang="pl-PL" sz="1800" b="0" i="0" u="sng" dirty="0">
              <a:solidFill>
                <a:srgbClr val="222222"/>
              </a:solidFill>
              <a:effectLst/>
              <a:latin typeface="Mundial"/>
            </a:endParaRPr>
          </a:p>
          <a:p>
            <a:pPr algn="l">
              <a:spcBef>
                <a:spcPts val="0"/>
              </a:spcBef>
            </a:pPr>
            <a:r>
              <a:rPr lang="pl-PL" sz="1800" b="0" i="0" u="sng" dirty="0">
                <a:solidFill>
                  <a:srgbClr val="222222"/>
                </a:solidFill>
                <a:effectLst/>
                <a:latin typeface="Mundial"/>
              </a:rPr>
              <a:t>Rodzaje oparzeń:</a:t>
            </a:r>
          </a:p>
          <a:p>
            <a:pPr marL="436563" indent="-342900" algn="l">
              <a:spcBef>
                <a:spcPts val="0"/>
              </a:spcBef>
              <a:buFont typeface="Wingdings" panose="05000000000000000000" pitchFamily="2" charset="2"/>
              <a:buChar char="ü"/>
            </a:pPr>
            <a:r>
              <a:rPr lang="pl-PL" sz="1800" b="0" i="0" dirty="0">
                <a:solidFill>
                  <a:srgbClr val="222222"/>
                </a:solidFill>
                <a:effectLst/>
                <a:latin typeface="Mundial"/>
              </a:rPr>
              <a:t>termiczne</a:t>
            </a:r>
          </a:p>
          <a:p>
            <a:pPr marL="436563" indent="-342900" algn="l">
              <a:spcBef>
                <a:spcPts val="0"/>
              </a:spcBef>
              <a:buFont typeface="Wingdings" panose="05000000000000000000" pitchFamily="2" charset="2"/>
              <a:buChar char="ü"/>
            </a:pPr>
            <a:r>
              <a:rPr lang="pl-PL" sz="1800" b="0" i="0" dirty="0">
                <a:solidFill>
                  <a:srgbClr val="222222"/>
                </a:solidFill>
                <a:effectLst/>
                <a:latin typeface="Mundial"/>
              </a:rPr>
              <a:t>chemiczne</a:t>
            </a:r>
          </a:p>
          <a:p>
            <a:pPr marL="436563" indent="-342900" algn="l">
              <a:spcBef>
                <a:spcPts val="0"/>
              </a:spcBef>
              <a:buFont typeface="Wingdings" panose="05000000000000000000" pitchFamily="2" charset="2"/>
              <a:buChar char="ü"/>
            </a:pPr>
            <a:r>
              <a:rPr lang="pl-PL" sz="1800" b="0" i="0" dirty="0">
                <a:solidFill>
                  <a:srgbClr val="222222"/>
                </a:solidFill>
                <a:effectLst/>
                <a:latin typeface="Mundial"/>
              </a:rPr>
              <a:t>oparzenia prądem elektrycznym</a:t>
            </a:r>
          </a:p>
          <a:p>
            <a:endParaRPr lang="pl-PL" sz="14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D5EE7F66-031C-4724-801D-8C1C0304E0B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24919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93</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720548" cy="5217989"/>
          </a:xfrm>
        </p:spPr>
        <p:txBody>
          <a:bodyPr numCol="1"/>
          <a:lstStyle/>
          <a:p>
            <a:pPr algn="ctr"/>
            <a:r>
              <a:rPr lang="pl-PL" sz="2400" b="1" i="0" u="none" strike="noStrike" baseline="0" dirty="0">
                <a:solidFill>
                  <a:srgbClr val="C00000"/>
                </a:solidFill>
                <a:latin typeface="Mundial"/>
              </a:rPr>
              <a:t>OPARZENIE</a:t>
            </a:r>
          </a:p>
          <a:p>
            <a:pPr algn="l">
              <a:spcBef>
                <a:spcPts val="0"/>
              </a:spcBef>
            </a:pPr>
            <a:r>
              <a:rPr lang="pl-PL" sz="1800" b="1" i="0" dirty="0">
                <a:solidFill>
                  <a:srgbClr val="222222"/>
                </a:solidFill>
                <a:effectLst/>
                <a:latin typeface="Mundial"/>
              </a:rPr>
              <a:t>Oparzenia termiczne są spowodowane działaniem wysokich temperatur na skórę</a:t>
            </a:r>
            <a:r>
              <a:rPr lang="pl-PL" sz="1800" b="0" i="0" dirty="0">
                <a:solidFill>
                  <a:srgbClr val="222222"/>
                </a:solidFill>
                <a:effectLst/>
                <a:latin typeface="Mundial"/>
              </a:rPr>
              <a:t>. Do urazu może dojść na skutek dotknięcia rozgrzanego przedmiotu, oblania się gorącym płynem oraz kontaktu z parą wodną lub ogniem. Ten rodzaj jest jednym z najczęściej występujących. Każdego roku oparzenie tego typu zdarza się u kilkuset tysięcy osób.</a:t>
            </a:r>
          </a:p>
          <a:p>
            <a:pPr algn="l">
              <a:spcBef>
                <a:spcPts val="0"/>
              </a:spcBef>
            </a:pPr>
            <a:endParaRPr lang="pl-PL" sz="1800" b="0" i="0" dirty="0">
              <a:solidFill>
                <a:srgbClr val="222222"/>
              </a:solidFill>
              <a:effectLst/>
              <a:latin typeface="Mundial"/>
            </a:endParaRPr>
          </a:p>
          <a:p>
            <a:pPr algn="l">
              <a:spcBef>
                <a:spcPts val="0"/>
              </a:spcBef>
            </a:pPr>
            <a:r>
              <a:rPr lang="pl-PL" sz="1800" b="1" u="sng" dirty="0">
                <a:solidFill>
                  <a:srgbClr val="222222"/>
                </a:solidFill>
                <a:latin typeface="Mundial"/>
              </a:rPr>
              <a:t>Jak pomóc/ jak zareagować?</a:t>
            </a:r>
          </a:p>
          <a:p>
            <a:pPr algn="l">
              <a:spcBef>
                <a:spcPts val="0"/>
              </a:spcBef>
            </a:pPr>
            <a:r>
              <a:rPr lang="pl-PL" sz="1800" i="0" dirty="0">
                <a:solidFill>
                  <a:srgbClr val="222222"/>
                </a:solidFill>
                <a:effectLst/>
                <a:latin typeface="Mundial"/>
              </a:rPr>
              <a:t>Oparzone miejsce należy natychmiast </a:t>
            </a:r>
            <a:r>
              <a:rPr lang="pl-PL" sz="1800" b="1" i="0" dirty="0">
                <a:solidFill>
                  <a:srgbClr val="222222"/>
                </a:solidFill>
                <a:effectLst/>
                <a:latin typeface="Mundial"/>
              </a:rPr>
              <a:t>schłodzić</a:t>
            </a:r>
            <a:r>
              <a:rPr lang="pl-PL" sz="1800" b="0" i="0" dirty="0">
                <a:solidFill>
                  <a:srgbClr val="222222"/>
                </a:solidFill>
                <a:effectLst/>
                <a:latin typeface="Mundial"/>
              </a:rPr>
              <a:t>. Można polewać je </a:t>
            </a:r>
            <a:r>
              <a:rPr lang="pl-PL" sz="1800" b="1" i="0" dirty="0">
                <a:solidFill>
                  <a:srgbClr val="222222"/>
                </a:solidFill>
                <a:effectLst/>
                <a:latin typeface="Mundial"/>
              </a:rPr>
              <a:t>chłodną wodą</a:t>
            </a:r>
            <a:r>
              <a:rPr lang="pl-PL" sz="1800" b="0" i="0" dirty="0">
                <a:solidFill>
                  <a:srgbClr val="222222"/>
                </a:solidFill>
                <a:effectLst/>
                <a:latin typeface="Mundial"/>
              </a:rPr>
              <a:t> przez 15-20 minut. Po tym czasie uszkodzone miejsce należy zabezpieczyć sterylnym opatrunkiem. Zabronione jest stosowanie jakichkolwiek maści i leków. Nie można też ściągać ubrania, jeżeli uległo ono przyklejeniu do skóry. Osobę, która się pali, trzeba położyć na ziemi i ugasić ogień kocem. </a:t>
            </a:r>
            <a:r>
              <a:rPr lang="pl-PL" sz="1800" b="1" i="0" dirty="0">
                <a:solidFill>
                  <a:srgbClr val="222222"/>
                </a:solidFill>
                <a:effectLst/>
                <a:latin typeface="Mundial"/>
              </a:rPr>
              <a:t>Lekkie oparzenia</a:t>
            </a:r>
            <a:r>
              <a:rPr lang="pl-PL" sz="1800" b="0" i="0" dirty="0">
                <a:solidFill>
                  <a:srgbClr val="222222"/>
                </a:solidFill>
                <a:effectLst/>
                <a:latin typeface="Mundial"/>
              </a:rPr>
              <a:t> nie wymagają kontaktu z lekarzem – w każdym innym przypadku trzeba niezwłocznie zgłosić się na konsultację.</a:t>
            </a:r>
          </a:p>
          <a:p>
            <a:endParaRPr lang="pl-PL" sz="14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D5EE7F66-031C-4724-801D-8C1C0304E0B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5302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94</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720548" cy="5217989"/>
          </a:xfrm>
        </p:spPr>
        <p:txBody>
          <a:bodyPr numCol="1"/>
          <a:lstStyle/>
          <a:p>
            <a:pPr algn="ctr"/>
            <a:r>
              <a:rPr lang="pl-PL" sz="2400" b="1" i="0" u="none" strike="noStrike" baseline="0" dirty="0">
                <a:solidFill>
                  <a:srgbClr val="C00000"/>
                </a:solidFill>
                <a:latin typeface="Mundial"/>
              </a:rPr>
              <a:t>OPARZENIE</a:t>
            </a:r>
          </a:p>
          <a:p>
            <a:pPr algn="l"/>
            <a:r>
              <a:rPr lang="pl-PL" sz="1800" b="1" i="0" dirty="0">
                <a:solidFill>
                  <a:srgbClr val="222222"/>
                </a:solidFill>
                <a:effectLst/>
                <a:latin typeface="Mundial"/>
              </a:rPr>
              <a:t>Oparzenia chemiczne powstają w wyniku działania substancji żrących. Dochodzi do nich na skutek bezpośredniego kontaktu ze skórą i błonami śluzowymi</a:t>
            </a:r>
            <a:r>
              <a:rPr lang="pl-PL" sz="1800" b="0" i="0" dirty="0">
                <a:solidFill>
                  <a:srgbClr val="222222"/>
                </a:solidFill>
                <a:effectLst/>
                <a:latin typeface="Mundial"/>
              </a:rPr>
              <a:t>, ale niebezpieczne są także ich opary. Warto pamiętać, że tego typu urazy zdarzają się nie tylko u pracowników przemysłowych. Oparzenie chemiczne może powstać w domu, a jego źródłem </a:t>
            </a:r>
            <a:r>
              <a:rPr lang="pl-PL" sz="1800" dirty="0">
                <a:solidFill>
                  <a:srgbClr val="222222"/>
                </a:solidFill>
                <a:latin typeface="Mundial"/>
              </a:rPr>
              <a:t>mogą być</a:t>
            </a:r>
            <a:r>
              <a:rPr lang="pl-PL" sz="1800" b="0" i="0" dirty="0">
                <a:solidFill>
                  <a:srgbClr val="222222"/>
                </a:solidFill>
                <a:effectLst/>
                <a:latin typeface="Mundial"/>
              </a:rPr>
              <a:t> detergenty stosowane do sprzątania.</a:t>
            </a:r>
          </a:p>
          <a:p>
            <a:pPr>
              <a:spcBef>
                <a:spcPts val="0"/>
              </a:spcBef>
            </a:pPr>
            <a:endParaRPr lang="pl-PL" sz="1800" b="1" u="sng" dirty="0">
              <a:solidFill>
                <a:srgbClr val="222222"/>
              </a:solidFill>
              <a:latin typeface="Mundial"/>
            </a:endParaRPr>
          </a:p>
          <a:p>
            <a:pPr>
              <a:spcBef>
                <a:spcPts val="0"/>
              </a:spcBef>
            </a:pPr>
            <a:r>
              <a:rPr lang="pl-PL" sz="1800" b="1" u="sng" dirty="0">
                <a:solidFill>
                  <a:srgbClr val="222222"/>
                </a:solidFill>
                <a:latin typeface="Mundial"/>
              </a:rPr>
              <a:t>Jak pomóc/ jak zareagować?</a:t>
            </a:r>
          </a:p>
          <a:p>
            <a:pPr algn="l">
              <a:spcBef>
                <a:spcPts val="0"/>
              </a:spcBef>
            </a:pPr>
            <a:r>
              <a:rPr lang="pl-PL" sz="1800" i="0" dirty="0">
                <a:solidFill>
                  <a:srgbClr val="222222"/>
                </a:solidFill>
                <a:effectLst/>
                <a:latin typeface="Mundial"/>
              </a:rPr>
              <a:t>W przypadku oparzenia chemicznego konieczne jest </a:t>
            </a:r>
            <a:r>
              <a:rPr lang="pl-PL" sz="1800" b="1" i="0" dirty="0">
                <a:solidFill>
                  <a:srgbClr val="222222"/>
                </a:solidFill>
                <a:effectLst/>
                <a:latin typeface="Mundial"/>
              </a:rPr>
              <a:t>polewanie skóry lub błon śluzowych wodą przez 30 minut </a:t>
            </a:r>
            <a:r>
              <a:rPr lang="pl-PL" sz="1800" i="0" dirty="0">
                <a:solidFill>
                  <a:srgbClr val="222222"/>
                </a:solidFill>
                <a:effectLst/>
                <a:latin typeface="Mundial"/>
              </a:rPr>
              <a:t>(zabronione w przypadku tlenku wapnia). </a:t>
            </a:r>
            <a:r>
              <a:rPr lang="pl-PL" sz="1800" b="0" i="0" dirty="0">
                <a:solidFill>
                  <a:srgbClr val="222222"/>
                </a:solidFill>
                <a:effectLst/>
                <a:latin typeface="Mundial"/>
              </a:rPr>
              <a:t>Ranę należy zabezpieczyć opatrunkiem. Jeżeli pacjent wypił detergent, należy dać mu do picia dużą ilość wody. Zabronione jest prowokowanie wymiotów. Ratownikom medycznym i lekarzowi trzeba udzielić informacji dotyczących środka, który wywołał oparzenie.</a:t>
            </a:r>
          </a:p>
          <a:p>
            <a:endParaRPr lang="pl-PL" sz="14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D5EE7F66-031C-4724-801D-8C1C0304E0B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97273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95</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720548" cy="5217989"/>
          </a:xfrm>
        </p:spPr>
        <p:txBody>
          <a:bodyPr numCol="1"/>
          <a:lstStyle/>
          <a:p>
            <a:pPr algn="ctr"/>
            <a:r>
              <a:rPr lang="pl-PL" sz="2400" b="1" i="0" u="none" strike="noStrike" baseline="0" dirty="0">
                <a:solidFill>
                  <a:srgbClr val="C00000"/>
                </a:solidFill>
                <a:latin typeface="Mundial"/>
              </a:rPr>
              <a:t>OPARZENIE</a:t>
            </a:r>
          </a:p>
          <a:p>
            <a:pPr algn="l"/>
            <a:r>
              <a:rPr lang="pl-PL" sz="1800" b="1" i="0" dirty="0">
                <a:solidFill>
                  <a:srgbClr val="222222"/>
                </a:solidFill>
                <a:effectLst/>
                <a:latin typeface="Mundial"/>
              </a:rPr>
              <a:t>Oparzenie</a:t>
            </a:r>
            <a:r>
              <a:rPr lang="pl-PL" sz="1800" b="0" i="0" dirty="0">
                <a:solidFill>
                  <a:srgbClr val="222222"/>
                </a:solidFill>
                <a:effectLst/>
                <a:latin typeface="Mundial"/>
              </a:rPr>
              <a:t> </a:t>
            </a:r>
            <a:r>
              <a:rPr lang="pl-PL" sz="1800" b="1" i="0" dirty="0">
                <a:solidFill>
                  <a:srgbClr val="222222"/>
                </a:solidFill>
                <a:effectLst/>
                <a:latin typeface="Mundial"/>
              </a:rPr>
              <a:t>prądem</a:t>
            </a:r>
            <a:r>
              <a:rPr lang="pl-PL" sz="1800" b="0" i="0" dirty="0">
                <a:solidFill>
                  <a:srgbClr val="222222"/>
                </a:solidFill>
                <a:effectLst/>
                <a:latin typeface="Mundial"/>
              </a:rPr>
              <a:t> </a:t>
            </a:r>
            <a:r>
              <a:rPr lang="pl-PL" sz="1800" b="1" i="0" dirty="0">
                <a:solidFill>
                  <a:srgbClr val="222222"/>
                </a:solidFill>
                <a:effectLst/>
                <a:latin typeface="Mundial"/>
              </a:rPr>
              <a:t>na skutek porażenia wysokonapięciowego lub niskonapięciowego</a:t>
            </a:r>
            <a:r>
              <a:rPr lang="pl-PL" sz="1800" b="0" i="0" dirty="0">
                <a:solidFill>
                  <a:srgbClr val="222222"/>
                </a:solidFill>
                <a:effectLst/>
                <a:latin typeface="Mundial"/>
              </a:rPr>
              <a:t>. Ciało człowieka jest opornikiem, dlatego przy porażeniu wydzielana jest duża energia cieplna. Warto dodać, że może on współistnieć z oparzeniem termicznym, ponieważ niekiedy dochodzi do zapalenia się odzieży.</a:t>
            </a:r>
          </a:p>
          <a:p>
            <a:endParaRPr lang="pl-PL" sz="1800" b="1" u="sng" dirty="0">
              <a:solidFill>
                <a:srgbClr val="222222"/>
              </a:solidFill>
              <a:latin typeface="Mundial"/>
            </a:endParaRPr>
          </a:p>
          <a:p>
            <a:r>
              <a:rPr lang="pl-PL" sz="1800" b="1" u="sng" dirty="0">
                <a:solidFill>
                  <a:srgbClr val="222222"/>
                </a:solidFill>
                <a:latin typeface="Mundial"/>
              </a:rPr>
              <a:t>Jak pomóc/ jak zareagować?</a:t>
            </a:r>
          </a:p>
          <a:p>
            <a:r>
              <a:rPr lang="pl-PL" sz="1800" dirty="0">
                <a:solidFill>
                  <a:srgbClr val="222222"/>
                </a:solidFill>
                <a:latin typeface="Mundial"/>
              </a:rPr>
              <a:t>Działania</a:t>
            </a:r>
            <a:r>
              <a:rPr lang="pl-PL" sz="1800" b="1" dirty="0">
                <a:solidFill>
                  <a:srgbClr val="222222"/>
                </a:solidFill>
                <a:latin typeface="Mundial"/>
              </a:rPr>
              <a:t> trzeba zacząć od odcięcia źródła prądu</a:t>
            </a:r>
            <a:r>
              <a:rPr lang="pl-PL" sz="1800" dirty="0">
                <a:solidFill>
                  <a:srgbClr val="222222"/>
                </a:solidFill>
                <a:latin typeface="Mundial"/>
              </a:rPr>
              <a:t> – wcześniej nie można zbliżać się do poszkodowanego ani go dotykać. Następnie należy ocenić stan chorego i rozpocząć resuscytację krążeniowo-oddechową. Zawsze trzeba wezwać pogotowie.</a:t>
            </a:r>
          </a:p>
          <a:p>
            <a:pPr algn="l"/>
            <a:endParaRPr lang="pl-PL" sz="1800" dirty="0">
              <a:solidFill>
                <a:srgbClr val="222222"/>
              </a:solidFill>
              <a:latin typeface="Mundial"/>
            </a:endParaRPr>
          </a:p>
          <a:p>
            <a:pPr algn="l">
              <a:spcBef>
                <a:spcPts val="0"/>
              </a:spcBef>
            </a:pPr>
            <a:endParaRPr lang="pl-PL" sz="1800" b="0" i="0" dirty="0">
              <a:solidFill>
                <a:srgbClr val="222222"/>
              </a:solidFill>
              <a:effectLst/>
              <a:latin typeface="Mundial"/>
            </a:endParaRPr>
          </a:p>
          <a:p>
            <a:endParaRPr lang="pl-PL" sz="14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D5EE7F66-031C-4724-801D-8C1C0304E0B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270086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96</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720548" cy="5217989"/>
          </a:xfrm>
        </p:spPr>
        <p:txBody>
          <a:bodyPr numCol="1"/>
          <a:lstStyle/>
          <a:p>
            <a:pPr algn="ctr"/>
            <a:r>
              <a:rPr lang="pl-PL" sz="2400" b="1" i="0" u="none" strike="noStrike" baseline="0" dirty="0">
                <a:solidFill>
                  <a:srgbClr val="C00000"/>
                </a:solidFill>
                <a:latin typeface="Mundial"/>
              </a:rPr>
              <a:t>ZŁAMANIA</a:t>
            </a:r>
          </a:p>
          <a:p>
            <a:r>
              <a:rPr lang="pl-PL" sz="2000" b="1" dirty="0">
                <a:solidFill>
                  <a:schemeClr val="accent6"/>
                </a:solidFill>
                <a:latin typeface="Mundial"/>
              </a:rPr>
              <a:t>Złamanie t</a:t>
            </a:r>
            <a:r>
              <a:rPr lang="pl-PL" sz="2000" b="1" i="0" u="none" strike="noStrike" baseline="0" dirty="0">
                <a:solidFill>
                  <a:schemeClr val="accent6"/>
                </a:solidFill>
                <a:latin typeface="Mundial"/>
              </a:rPr>
              <a:t>o przerwanie ciągłości tkanki kostnej.</a:t>
            </a:r>
          </a:p>
          <a:p>
            <a:pPr>
              <a:spcBef>
                <a:spcPts val="0"/>
              </a:spcBef>
            </a:pPr>
            <a:endParaRPr lang="pl-PL" sz="1800" u="sng" dirty="0">
              <a:solidFill>
                <a:schemeClr val="accent6"/>
              </a:solidFill>
              <a:latin typeface="Mundial"/>
            </a:endParaRPr>
          </a:p>
          <a:p>
            <a:pPr>
              <a:spcBef>
                <a:spcPts val="0"/>
              </a:spcBef>
            </a:pPr>
            <a:r>
              <a:rPr lang="pl-PL" sz="1800" u="sng" dirty="0">
                <a:solidFill>
                  <a:schemeClr val="accent6"/>
                </a:solidFill>
                <a:latin typeface="Mundial"/>
              </a:rPr>
              <a:t>Złamania dzielimy na:</a:t>
            </a:r>
          </a:p>
          <a:p>
            <a:pPr marL="379413" indent="-285750">
              <a:spcBef>
                <a:spcPts val="0"/>
              </a:spcBef>
              <a:buFont typeface="Wingdings" panose="05000000000000000000" pitchFamily="2" charset="2"/>
              <a:buChar char="ü"/>
            </a:pPr>
            <a:r>
              <a:rPr lang="pl-PL" sz="1800" b="1" dirty="0">
                <a:solidFill>
                  <a:schemeClr val="accent6"/>
                </a:solidFill>
                <a:latin typeface="Mundial"/>
              </a:rPr>
              <a:t>otwarte </a:t>
            </a:r>
            <a:r>
              <a:rPr lang="pl-PL" sz="1800" dirty="0">
                <a:solidFill>
                  <a:schemeClr val="accent6"/>
                </a:solidFill>
                <a:latin typeface="Mundial"/>
              </a:rPr>
              <a:t>– gdy dochodzi do przerwania ciągłości skóry; kość może być narażona na zanieczyszczenie z zewnątrz</a:t>
            </a:r>
          </a:p>
          <a:p>
            <a:pPr marL="379413" indent="-285750">
              <a:spcBef>
                <a:spcPts val="0"/>
              </a:spcBef>
              <a:buFont typeface="Wingdings" panose="05000000000000000000" pitchFamily="2" charset="2"/>
              <a:buChar char="ü"/>
            </a:pPr>
            <a:r>
              <a:rPr lang="pl-PL" sz="1800" b="1" dirty="0">
                <a:solidFill>
                  <a:schemeClr val="accent6"/>
                </a:solidFill>
                <a:latin typeface="Mundial"/>
              </a:rPr>
              <a:t>z</a:t>
            </a:r>
            <a:r>
              <a:rPr lang="pl-PL" sz="1800" b="1" i="0" u="none" strike="noStrike" baseline="0" dirty="0">
                <a:solidFill>
                  <a:schemeClr val="accent6"/>
                </a:solidFill>
                <a:latin typeface="Mundial"/>
              </a:rPr>
              <a:t>amknięte</a:t>
            </a:r>
            <a:r>
              <a:rPr lang="pl-PL" sz="1800" i="0" u="none" strike="noStrike" baseline="0" dirty="0">
                <a:solidFill>
                  <a:schemeClr val="accent6"/>
                </a:solidFill>
                <a:latin typeface="Mundial"/>
              </a:rPr>
              <a:t> – gdy skóra dookoła złamania pozostaje nieprzerwana i nienaruszona</a:t>
            </a:r>
          </a:p>
          <a:p>
            <a:pPr>
              <a:spcBef>
                <a:spcPts val="0"/>
              </a:spcBef>
            </a:pPr>
            <a:endParaRPr lang="pl-PL" sz="1800" dirty="0">
              <a:solidFill>
                <a:schemeClr val="accent6"/>
              </a:solidFill>
              <a:latin typeface="Mundial"/>
            </a:endParaRPr>
          </a:p>
          <a:p>
            <a:pPr>
              <a:spcBef>
                <a:spcPts val="0"/>
              </a:spcBef>
            </a:pPr>
            <a:r>
              <a:rPr lang="pl-PL" sz="1800" u="sng" dirty="0">
                <a:solidFill>
                  <a:schemeClr val="accent6"/>
                </a:solidFill>
                <a:latin typeface="Mundial"/>
              </a:rPr>
              <a:t>Kiedy podejrzewać złamanie?</a:t>
            </a:r>
          </a:p>
          <a:p>
            <a:pPr marL="379413" indent="-285750">
              <a:spcBef>
                <a:spcPts val="0"/>
              </a:spcBef>
              <a:buFont typeface="Wingdings" panose="05000000000000000000" pitchFamily="2" charset="2"/>
              <a:buChar char="ü"/>
            </a:pPr>
            <a:r>
              <a:rPr lang="pl-PL" sz="1800" dirty="0">
                <a:solidFill>
                  <a:schemeClr val="accent6"/>
                </a:solidFill>
                <a:latin typeface="Mundial"/>
              </a:rPr>
              <a:t>p</a:t>
            </a:r>
            <a:r>
              <a:rPr lang="pl-PL" sz="1800" i="0" u="none" strike="noStrike" baseline="0" dirty="0">
                <a:solidFill>
                  <a:schemeClr val="accent6"/>
                </a:solidFill>
                <a:latin typeface="Mundial"/>
              </a:rPr>
              <a:t>oszkodowany nie może częściowo lub całkowicie poruszać uszkodzoną kończyną,</a:t>
            </a:r>
          </a:p>
          <a:p>
            <a:pPr marL="379413" indent="-285750">
              <a:spcBef>
                <a:spcPts val="0"/>
              </a:spcBef>
              <a:buFont typeface="Wingdings" panose="05000000000000000000" pitchFamily="2" charset="2"/>
              <a:buChar char="ü"/>
            </a:pPr>
            <a:r>
              <a:rPr lang="pl-PL" sz="1800" dirty="0">
                <a:solidFill>
                  <a:schemeClr val="accent6"/>
                </a:solidFill>
                <a:latin typeface="Mundial"/>
              </a:rPr>
              <a:t>występuje obrzęk i ból przy próbie poruszania kończyną,</a:t>
            </a:r>
          </a:p>
          <a:p>
            <a:pPr marL="379413" indent="-285750">
              <a:spcBef>
                <a:spcPts val="0"/>
              </a:spcBef>
              <a:buFont typeface="Wingdings" panose="05000000000000000000" pitchFamily="2" charset="2"/>
              <a:buChar char="ü"/>
            </a:pPr>
            <a:r>
              <a:rPr lang="pl-PL" sz="1800" dirty="0">
                <a:solidFill>
                  <a:schemeClr val="accent6"/>
                </a:solidFill>
                <a:latin typeface="Mundial"/>
              </a:rPr>
              <a:t>obserwujemy nieprawidłową ruchomość w miejscu naturalnie nieruchomym</a:t>
            </a:r>
          </a:p>
          <a:p>
            <a:pPr marL="379413" indent="-285750">
              <a:spcBef>
                <a:spcPts val="0"/>
              </a:spcBef>
              <a:buFont typeface="Wingdings" panose="05000000000000000000" pitchFamily="2" charset="2"/>
              <a:buChar char="ü"/>
            </a:pPr>
            <a:r>
              <a:rPr lang="pl-PL" sz="1800" dirty="0">
                <a:solidFill>
                  <a:schemeClr val="accent6"/>
                </a:solidFill>
                <a:latin typeface="Mundial"/>
              </a:rPr>
              <a:t>k</a:t>
            </a:r>
            <a:r>
              <a:rPr lang="pl-PL" sz="1800" i="0" u="none" strike="noStrike" baseline="0" dirty="0">
                <a:solidFill>
                  <a:schemeClr val="accent6"/>
                </a:solidFill>
                <a:latin typeface="Mundial"/>
              </a:rPr>
              <a:t>ończyna traci swój naturalny kształt</a:t>
            </a:r>
          </a:p>
          <a:p>
            <a:pPr marL="379413" indent="-285750">
              <a:spcBef>
                <a:spcPts val="0"/>
              </a:spcBef>
              <a:buFont typeface="Wingdings" panose="05000000000000000000" pitchFamily="2" charset="2"/>
              <a:buChar char="ü"/>
            </a:pPr>
            <a:r>
              <a:rPr lang="pl-PL" sz="1800" dirty="0">
                <a:solidFill>
                  <a:schemeClr val="accent6"/>
                </a:solidFill>
                <a:latin typeface="Mundial"/>
              </a:rPr>
              <a:t>widać kość (przy złamaniu otwartym)</a:t>
            </a:r>
            <a:endParaRPr lang="pl-PL" sz="1800" i="0" u="none" strike="noStrike" baseline="0" dirty="0">
              <a:solidFill>
                <a:schemeClr val="accent6"/>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6412F4A0-0212-4BDD-8613-B4521E39FD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8844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97</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720548" cy="5217989"/>
          </a:xfrm>
        </p:spPr>
        <p:txBody>
          <a:bodyPr numCol="1"/>
          <a:lstStyle/>
          <a:p>
            <a:pPr algn="ctr"/>
            <a:r>
              <a:rPr lang="pl-PL" sz="2400" b="1" i="0" u="none" strike="noStrike" baseline="0" dirty="0">
                <a:solidFill>
                  <a:srgbClr val="C00000"/>
                </a:solidFill>
                <a:latin typeface="Mundial"/>
              </a:rPr>
              <a:t>ZŁAMANIA</a:t>
            </a:r>
          </a:p>
          <a:p>
            <a:r>
              <a:rPr lang="pl-PL" sz="1800" b="1" u="sng" dirty="0">
                <a:solidFill>
                  <a:schemeClr val="accent6"/>
                </a:solidFill>
                <a:latin typeface="Mundial"/>
              </a:rPr>
              <a:t>Jak pomóc przy złamaniu kończyny?</a:t>
            </a:r>
          </a:p>
          <a:p>
            <a:pPr marL="379413" indent="-285750">
              <a:spcBef>
                <a:spcPts val="0"/>
              </a:spcBef>
              <a:buFont typeface="Wingdings" panose="05000000000000000000" pitchFamily="2" charset="2"/>
              <a:buChar char="ü"/>
            </a:pPr>
            <a:r>
              <a:rPr lang="pl-PL" sz="1800" dirty="0">
                <a:solidFill>
                  <a:schemeClr val="accent6"/>
                </a:solidFill>
                <a:latin typeface="Mundial"/>
              </a:rPr>
              <a:t>nie odsłaniamy uszkodzonej kończyny (wyjątek stanowi podejrzenie złamania otwartego)</a:t>
            </a:r>
          </a:p>
          <a:p>
            <a:pPr marL="379413" indent="-285750">
              <a:spcBef>
                <a:spcPts val="0"/>
              </a:spcBef>
              <a:buFont typeface="Wingdings" panose="05000000000000000000" pitchFamily="2" charset="2"/>
              <a:buChar char="ü"/>
            </a:pPr>
            <a:r>
              <a:rPr lang="pl-PL" sz="1800" dirty="0">
                <a:solidFill>
                  <a:schemeClr val="accent6"/>
                </a:solidFill>
                <a:latin typeface="Mundial"/>
              </a:rPr>
              <a:t>nie wykonujemy żadnych zbędnych ruchów uszkodzoną kończyną</a:t>
            </a:r>
          </a:p>
          <a:p>
            <a:pPr marL="379413" indent="-285750">
              <a:spcBef>
                <a:spcPts val="0"/>
              </a:spcBef>
              <a:buFont typeface="Wingdings" panose="05000000000000000000" pitchFamily="2" charset="2"/>
              <a:buChar char="ü"/>
            </a:pPr>
            <a:r>
              <a:rPr lang="pl-PL" sz="1800" dirty="0">
                <a:solidFill>
                  <a:schemeClr val="accent6"/>
                </a:solidFill>
                <a:latin typeface="Mundial"/>
              </a:rPr>
              <a:t>poszkodowanego usadzamy w pozycji bezpiecznej i uruchamiamy przynajmniej dwa sąsiednie stawy tzn. powyżej i poniżej miejsca złamania</a:t>
            </a:r>
          </a:p>
          <a:p>
            <a:pPr marL="379413" indent="-285750">
              <a:spcBef>
                <a:spcPts val="0"/>
              </a:spcBef>
              <a:buFont typeface="Wingdings" panose="05000000000000000000" pitchFamily="2" charset="2"/>
              <a:buChar char="ü"/>
            </a:pPr>
            <a:r>
              <a:rPr lang="pl-PL" sz="1800" dirty="0">
                <a:solidFill>
                  <a:schemeClr val="accent6"/>
                </a:solidFill>
                <a:latin typeface="Mundial"/>
              </a:rPr>
              <a:t>nie nastawiamy i nie poruszamy uszkodzoną kończyną</a:t>
            </a:r>
          </a:p>
          <a:p>
            <a:pPr marL="379413" indent="-285750">
              <a:spcBef>
                <a:spcPts val="0"/>
              </a:spcBef>
              <a:buFont typeface="Wingdings" panose="05000000000000000000" pitchFamily="2" charset="2"/>
              <a:buChar char="ü"/>
            </a:pPr>
            <a:r>
              <a:rPr lang="pl-PL" sz="1800" dirty="0">
                <a:solidFill>
                  <a:schemeClr val="accent6"/>
                </a:solidFill>
                <a:latin typeface="Mundial"/>
              </a:rPr>
              <a:t>przy złamaniu otwartym tamujemy ewentualne krwawienie, zakładamy jałowy opatrunek bezpośrednio na ranę</a:t>
            </a:r>
          </a:p>
          <a:p>
            <a:pPr marL="379413" indent="-285750">
              <a:spcBef>
                <a:spcPts val="0"/>
              </a:spcBef>
              <a:buFont typeface="Wingdings" panose="05000000000000000000" pitchFamily="2" charset="2"/>
              <a:buChar char="ü"/>
            </a:pPr>
            <a:r>
              <a:rPr lang="pl-PL" sz="1800" dirty="0">
                <a:solidFill>
                  <a:schemeClr val="accent6"/>
                </a:solidFill>
                <a:latin typeface="Mundial"/>
              </a:rPr>
              <a:t>nie „wciskamy” kości do wewnątrz</a:t>
            </a:r>
          </a:p>
          <a:p>
            <a:pPr marL="379413" indent="-285750">
              <a:spcBef>
                <a:spcPts val="0"/>
              </a:spcBef>
              <a:buFont typeface="Wingdings" panose="05000000000000000000" pitchFamily="2" charset="2"/>
              <a:buChar char="ü"/>
            </a:pPr>
            <a:r>
              <a:rPr lang="pl-PL" sz="1800" dirty="0">
                <a:solidFill>
                  <a:schemeClr val="accent6"/>
                </a:solidFill>
                <a:latin typeface="Mundial"/>
              </a:rPr>
              <a:t>nie podajemy płynów ani leków</a:t>
            </a:r>
          </a:p>
          <a:p>
            <a:pPr>
              <a:spcBef>
                <a:spcPts val="0"/>
              </a:spcBef>
            </a:pPr>
            <a:endParaRPr lang="pl-PL" sz="1100" dirty="0">
              <a:solidFill>
                <a:schemeClr val="accent6"/>
              </a:solidFill>
              <a:latin typeface="Mundial"/>
            </a:endParaRPr>
          </a:p>
          <a:p>
            <a:pPr algn="ctr">
              <a:spcBef>
                <a:spcPts val="0"/>
              </a:spcBef>
            </a:pPr>
            <a:r>
              <a:rPr lang="pl-PL" sz="1800" b="1" dirty="0">
                <a:solidFill>
                  <a:srgbClr val="C00000"/>
                </a:solidFill>
                <a:latin typeface="Mundial"/>
              </a:rPr>
              <a:t>Należy wezwać wykwalifikowane służby ratunkowe nr 999 lub 112</a:t>
            </a: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6412F4A0-0212-4BDD-8613-B4521E39FD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989457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t>
            </a:r>
            <a:r>
              <a:rPr lang="pl-PL" sz="2000" b="1" i="0" u="none" strike="noStrike" baseline="0" dirty="0">
                <a:latin typeface="Mundial"/>
              </a:rPr>
              <a:t>asady udzielania pomocy przedlekarskiej w razie wypadku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98</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720548" cy="5217989"/>
          </a:xfrm>
        </p:spPr>
        <p:txBody>
          <a:bodyPr numCol="1"/>
          <a:lstStyle/>
          <a:p>
            <a:pPr algn="ctr"/>
            <a:r>
              <a:rPr lang="pl-PL" sz="2400" b="1" i="0" u="none" strike="noStrike" baseline="0" dirty="0">
                <a:solidFill>
                  <a:srgbClr val="C00000"/>
                </a:solidFill>
                <a:latin typeface="Mundial"/>
              </a:rPr>
              <a:t>ZŁAMANIA</a:t>
            </a:r>
          </a:p>
          <a:p>
            <a:r>
              <a:rPr lang="pl-PL" sz="1800" b="1" u="sng" dirty="0">
                <a:solidFill>
                  <a:schemeClr val="accent6"/>
                </a:solidFill>
                <a:latin typeface="Mundial"/>
              </a:rPr>
              <a:t>Sposoby unieruchamiania kończyn</a:t>
            </a: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6412F4A0-0212-4BDD-8613-B4521E39FD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Zwichnięcia, skręcenia i złamania - Pierwsza pomoc - mp.pl">
            <a:extLst>
              <a:ext uri="{FF2B5EF4-FFF2-40B4-BE49-F238E27FC236}">
                <a16:creationId xmlns:a16="http://schemas.microsoft.com/office/drawing/2014/main" id="{CD209B3B-199B-92A6-043C-F1FB08C408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3874" y="2123342"/>
            <a:ext cx="4847126" cy="185606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Pierwsza pomoc w złamaniu, zwichnięciu, skręceniu - Herotrucker - Pierwsza  pomoc w wypadkach drogowych. Szkolenia z pierwszej pomocy dla kierowców  zawodowych.">
            <a:extLst>
              <a:ext uri="{FF2B5EF4-FFF2-40B4-BE49-F238E27FC236}">
                <a16:creationId xmlns:a16="http://schemas.microsoft.com/office/drawing/2014/main" id="{F0C8660B-32AF-152E-8803-0ED54F6EBD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5623" y="4255477"/>
            <a:ext cx="4052849" cy="2058590"/>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C7295F15-A95B-BC25-1A19-834D8FE01755}"/>
              </a:ext>
            </a:extLst>
          </p:cNvPr>
          <p:cNvSpPr txBox="1"/>
          <p:nvPr/>
        </p:nvSpPr>
        <p:spPr>
          <a:xfrm>
            <a:off x="8385378" y="2682041"/>
            <a:ext cx="1650003" cy="369332"/>
          </a:xfrm>
          <a:prstGeom prst="rect">
            <a:avLst/>
          </a:prstGeom>
          <a:noFill/>
        </p:spPr>
        <p:txBody>
          <a:bodyPr wrap="none" rtlCol="0">
            <a:spAutoFit/>
          </a:bodyPr>
          <a:lstStyle/>
          <a:p>
            <a:r>
              <a:rPr lang="pl-PL" dirty="0">
                <a:latin typeface="Mundial"/>
              </a:rPr>
              <a:t>Kończyna dolna</a:t>
            </a:r>
          </a:p>
        </p:txBody>
      </p:sp>
      <p:sp>
        <p:nvSpPr>
          <p:cNvPr id="8" name="pole tekstowe 7">
            <a:extLst>
              <a:ext uri="{FF2B5EF4-FFF2-40B4-BE49-F238E27FC236}">
                <a16:creationId xmlns:a16="http://schemas.microsoft.com/office/drawing/2014/main" id="{ABDC82FF-FFB6-DE30-ACCF-E065D566D1CB}"/>
              </a:ext>
            </a:extLst>
          </p:cNvPr>
          <p:cNvSpPr txBox="1"/>
          <p:nvPr/>
        </p:nvSpPr>
        <p:spPr>
          <a:xfrm>
            <a:off x="2569837" y="5743356"/>
            <a:ext cx="5340821" cy="646331"/>
          </a:xfrm>
          <a:prstGeom prst="rect">
            <a:avLst/>
          </a:prstGeom>
          <a:noFill/>
        </p:spPr>
        <p:txBody>
          <a:bodyPr wrap="none" rtlCol="0">
            <a:spAutoFit/>
          </a:bodyPr>
          <a:lstStyle/>
          <a:p>
            <a:r>
              <a:rPr lang="pl-PL" dirty="0">
                <a:latin typeface="Mundial"/>
              </a:rPr>
              <a:t>Kończyna górna</a:t>
            </a:r>
          </a:p>
          <a:p>
            <a:r>
              <a:rPr lang="pl-PL" dirty="0">
                <a:latin typeface="Mundial"/>
              </a:rPr>
              <a:t>Dwa sposoby – chusta trójkątna lub bandaż elastyczny</a:t>
            </a:r>
          </a:p>
        </p:txBody>
      </p:sp>
    </p:spTree>
    <p:extLst>
      <p:ext uri="{BB962C8B-B14F-4D97-AF65-F5344CB8AC3E}">
        <p14:creationId xmlns:p14="http://schemas.microsoft.com/office/powerpoint/2010/main" val="36258333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99</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790055" y="1253489"/>
            <a:ext cx="8959362" cy="5604511"/>
          </a:xfrm>
        </p:spPr>
        <p:txBody>
          <a:bodyPr/>
          <a:lstStyle/>
          <a:p>
            <a:pPr algn="ctr"/>
            <a:endParaRPr lang="pl-PL" sz="4000" b="1" i="0" u="none" strike="noStrike" baseline="0" dirty="0">
              <a:latin typeface="Mundial"/>
            </a:endParaRPr>
          </a:p>
          <a:p>
            <a:pPr algn="ctr"/>
            <a:r>
              <a:rPr lang="pl-PL" sz="4000" b="1" i="0" u="none" strike="noStrike" baseline="0" dirty="0">
                <a:latin typeface="Mundial"/>
              </a:rPr>
              <a:t>Podstawowe zasady ochrony przeciwpożarowej </a:t>
            </a:r>
          </a:p>
          <a:p>
            <a:pPr algn="ctr"/>
            <a:r>
              <a:rPr lang="pl-PL" sz="4000" b="1" i="0" u="none" strike="noStrike" baseline="0" dirty="0">
                <a:latin typeface="Mundial"/>
              </a:rPr>
              <a:t>oraz postępowania w razie pożaru/stanu zagrożenia</a:t>
            </a:r>
          </a:p>
        </p:txBody>
      </p:sp>
      <p:pic>
        <p:nvPicPr>
          <p:cNvPr id="1028" name="Picture 4">
            <a:extLst>
              <a:ext uri="{FF2B5EF4-FFF2-40B4-BE49-F238E27FC236}">
                <a16:creationId xmlns:a16="http://schemas.microsoft.com/office/drawing/2014/main" id="{558E1C67-8A38-5433-157B-3DEAA582D8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665955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b="1" dirty="0">
                <a:latin typeface="Mundial"/>
              </a:rPr>
              <a:t>P</a:t>
            </a:r>
            <a:r>
              <a:rPr lang="pl-PL" sz="2000" b="1" i="0" u="none" strike="noStrike" baseline="0" dirty="0">
                <a:latin typeface="Mundial"/>
              </a:rPr>
              <a:t>ostępowania w razie pożaru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100</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148478"/>
            <a:ext cx="8720548" cy="5217989"/>
          </a:xfrm>
        </p:spPr>
        <p:txBody>
          <a:bodyPr numCol="1"/>
          <a:lstStyle/>
          <a:p>
            <a:r>
              <a:rPr lang="pl-PL" sz="2400" b="1" i="0" u="none" strike="noStrike" baseline="0" dirty="0">
                <a:solidFill>
                  <a:srgbClr val="C00000"/>
                </a:solidFill>
                <a:latin typeface="Mundial"/>
              </a:rPr>
              <a:t>POTENCJALNE PRZYCZYNY POWSTAWANIA POŻARÓW:</a:t>
            </a:r>
          </a:p>
          <a:p>
            <a:pPr marL="436563" indent="-342900" algn="l">
              <a:buFont typeface="Wingdings" panose="05000000000000000000" pitchFamily="2" charset="2"/>
              <a:buChar char="ü"/>
            </a:pPr>
            <a:r>
              <a:rPr lang="pl-PL" sz="1800" dirty="0">
                <a:latin typeface="Mundial"/>
              </a:rPr>
              <a:t>n</a:t>
            </a:r>
            <a:r>
              <a:rPr lang="pl-PL" sz="1800" b="0" i="0" dirty="0">
                <a:effectLst/>
                <a:latin typeface="Mundial"/>
              </a:rPr>
              <a:t>iewłaściwe wykonanie oraz nieodpowiednia konserwacja i eksploatacja instalacji elektrycznych</a:t>
            </a:r>
          </a:p>
          <a:p>
            <a:pPr marL="436563" indent="-342900" algn="l">
              <a:buFont typeface="Wingdings" panose="05000000000000000000" pitchFamily="2" charset="2"/>
              <a:buChar char="ü"/>
            </a:pPr>
            <a:r>
              <a:rPr lang="pl-PL" sz="1800" dirty="0">
                <a:latin typeface="Mundial"/>
              </a:rPr>
              <a:t>n</a:t>
            </a:r>
            <a:r>
              <a:rPr lang="pl-PL" sz="1800" b="0" i="0" dirty="0">
                <a:effectLst/>
                <a:latin typeface="Mundial"/>
              </a:rPr>
              <a:t>ieostrożne używanie otwartego ognia (np. zapalniczka, świeczka, palniki</a:t>
            </a:r>
            <a:r>
              <a:rPr lang="pl-PL" sz="1800" dirty="0">
                <a:latin typeface="Mundial"/>
              </a:rPr>
              <a:t>)</a:t>
            </a:r>
            <a:endParaRPr lang="pl-PL" sz="1800" b="0" i="0" dirty="0">
              <a:effectLst/>
              <a:latin typeface="Mundial"/>
            </a:endParaRPr>
          </a:p>
          <a:p>
            <a:pPr marL="436563" indent="-342900" algn="l">
              <a:buFont typeface="Wingdings" panose="05000000000000000000" pitchFamily="2" charset="2"/>
              <a:buChar char="ü"/>
            </a:pPr>
            <a:r>
              <a:rPr lang="pl-PL" sz="1800" b="0" i="0" dirty="0">
                <a:effectLst/>
                <a:latin typeface="Mundial"/>
              </a:rPr>
              <a:t>palenie tytoniu w miejscach do tego niewyznaczonych </a:t>
            </a:r>
          </a:p>
          <a:p>
            <a:pPr marL="436563" indent="-342900" algn="l">
              <a:buFont typeface="Wingdings" panose="05000000000000000000" pitchFamily="2" charset="2"/>
              <a:buChar char="ü"/>
            </a:pPr>
            <a:r>
              <a:rPr lang="pl-PL" sz="1800" b="0" i="0" dirty="0">
                <a:effectLst/>
                <a:latin typeface="Mundial"/>
              </a:rPr>
              <a:t>używanie </a:t>
            </a:r>
            <a:r>
              <a:rPr lang="pl-PL" sz="1800" dirty="0">
                <a:latin typeface="Mundial"/>
              </a:rPr>
              <a:t>w czasie zajęć lub do prac konserwatorskich środków </a:t>
            </a:r>
            <a:r>
              <a:rPr lang="pl-PL" sz="1800" b="0" i="0" dirty="0">
                <a:effectLst/>
                <a:latin typeface="Mundial"/>
              </a:rPr>
              <a:t>łatwopalnych</a:t>
            </a:r>
          </a:p>
          <a:p>
            <a:pPr marL="436563" indent="-342900" algn="l">
              <a:buFont typeface="Wingdings" panose="05000000000000000000" pitchFamily="2" charset="2"/>
              <a:buChar char="ü"/>
            </a:pPr>
            <a:r>
              <a:rPr lang="pl-PL" sz="1800" dirty="0">
                <a:latin typeface="Mundial"/>
              </a:rPr>
              <a:t>n</a:t>
            </a:r>
            <a:r>
              <a:rPr lang="pl-PL" sz="1800" b="0" i="0" dirty="0">
                <a:effectLst/>
                <a:latin typeface="Mundial"/>
              </a:rPr>
              <a:t>aprawianie we własnym zakresie instalacji elektrycznej</a:t>
            </a:r>
          </a:p>
          <a:p>
            <a:pPr marL="436563" indent="-342900" algn="l">
              <a:buFont typeface="Wingdings" panose="05000000000000000000" pitchFamily="2" charset="2"/>
              <a:buChar char="ü"/>
            </a:pPr>
            <a:r>
              <a:rPr lang="pl-PL" sz="1800" dirty="0">
                <a:latin typeface="Mundial"/>
              </a:rPr>
              <a:t>jednoczesne podłączenie do sieci zbyt dużej ilości sprzętów</a:t>
            </a:r>
          </a:p>
          <a:p>
            <a:pPr marL="436563" indent="-342900" algn="l">
              <a:buFont typeface="Wingdings" panose="05000000000000000000" pitchFamily="2" charset="2"/>
              <a:buChar char="ü"/>
            </a:pPr>
            <a:r>
              <a:rPr lang="pl-PL" sz="1800" dirty="0">
                <a:latin typeface="Mundial"/>
              </a:rPr>
              <a:t>pozostawienie włączonych odbiorników energii elektrycznej po zakończeniu pracy</a:t>
            </a:r>
          </a:p>
          <a:p>
            <a:pPr marL="436563" indent="-342900" algn="l">
              <a:buFont typeface="Wingdings" panose="05000000000000000000" pitchFamily="2" charset="2"/>
              <a:buChar char="ü"/>
            </a:pPr>
            <a:r>
              <a:rPr lang="pl-PL" sz="1800" b="0" i="0" dirty="0">
                <a:effectLst/>
                <a:latin typeface="Mundial"/>
              </a:rPr>
              <a:t>brak prawidłowego zabezpieczenia przed skutkami wyładowań atmos</a:t>
            </a:r>
            <a:r>
              <a:rPr lang="pl-PL" sz="1800" dirty="0">
                <a:latin typeface="Mundial"/>
              </a:rPr>
              <a:t>ferycznych</a:t>
            </a:r>
          </a:p>
          <a:p>
            <a:pPr marL="436563" indent="-342900" algn="l">
              <a:buFont typeface="Wingdings" panose="05000000000000000000" pitchFamily="2" charset="2"/>
              <a:buChar char="ü"/>
            </a:pPr>
            <a:r>
              <a:rPr lang="pl-PL" sz="1800" dirty="0">
                <a:latin typeface="Mundial"/>
              </a:rPr>
              <a:t>c</a:t>
            </a:r>
            <a:r>
              <a:rPr lang="pl-PL" sz="1800" b="0" i="0" dirty="0">
                <a:effectLst/>
                <a:latin typeface="Mundial"/>
              </a:rPr>
              <a:t>elowe podpalenia</a:t>
            </a:r>
          </a:p>
          <a:p>
            <a:pPr algn="l"/>
            <a:endParaRPr lang="pl-PL" sz="1800" b="0" i="0" dirty="0">
              <a:effectLst/>
              <a:latin typeface="Mundial"/>
            </a:endParaRPr>
          </a:p>
          <a:p>
            <a:pPr algn="l"/>
            <a:endParaRPr lang="pl-PL" sz="2000" b="0" i="0" dirty="0">
              <a:effectLst/>
              <a:latin typeface="Mundial"/>
            </a:endParaRPr>
          </a:p>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1451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b="1" dirty="0">
                <a:latin typeface="Mundial"/>
              </a:rPr>
              <a:t>P</a:t>
            </a:r>
            <a:r>
              <a:rPr lang="pl-PL" sz="2000" b="1" i="0" u="none" strike="noStrike" baseline="0" dirty="0">
                <a:latin typeface="Mundial"/>
              </a:rPr>
              <a:t>ostępowania w razie pożaru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101</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274885"/>
            <a:ext cx="8720548" cy="5217989"/>
          </a:xfrm>
        </p:spPr>
        <p:txBody>
          <a:bodyPr numCol="1"/>
          <a:lstStyle/>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2EA8F202-4913-6536-01A4-D1123780C43D}"/>
              </a:ext>
            </a:extLst>
          </p:cNvPr>
          <p:cNvSpPr txBox="1"/>
          <p:nvPr/>
        </p:nvSpPr>
        <p:spPr>
          <a:xfrm>
            <a:off x="2954215" y="764775"/>
            <a:ext cx="8795202" cy="5799729"/>
          </a:xfrm>
          <a:prstGeom prst="rect">
            <a:avLst/>
          </a:prstGeom>
          <a:noFill/>
        </p:spPr>
        <p:txBody>
          <a:bodyPr wrap="square" rtlCol="0">
            <a:spAutoFit/>
          </a:bodyPr>
          <a:lstStyle/>
          <a:p>
            <a:pPr algn="ctr">
              <a:lnSpc>
                <a:spcPct val="107000"/>
              </a:lnSpc>
              <a:spcAft>
                <a:spcPts val="800"/>
              </a:spcAft>
            </a:pPr>
            <a:r>
              <a:rPr lang="pl-PL" sz="2000" b="1" dirty="0">
                <a:solidFill>
                  <a:srgbClr val="C00000"/>
                </a:solidFill>
                <a:effectLst/>
                <a:latin typeface="Mundial "/>
                <a:ea typeface="Calibri" panose="020F0502020204030204" pitchFamily="34" charset="0"/>
                <a:cs typeface="Times New Roman" panose="02020603050405020304" pitchFamily="18" charset="0"/>
              </a:rPr>
              <a:t>POSTĘPOWIANIE W RAZIE POŻARU – CO TRZEBA ZROBIĆ KROK PO KROKU</a:t>
            </a:r>
            <a:endParaRPr lang="pl-PL" sz="1400" dirty="0">
              <a:effectLst/>
              <a:latin typeface="Mundial "/>
              <a:ea typeface="Calibri" panose="020F0502020204030204" pitchFamily="34" charset="0"/>
              <a:cs typeface="Times New Roman" panose="02020603050405020304" pitchFamily="18" charset="0"/>
            </a:endParaRPr>
          </a:p>
          <a:p>
            <a:pPr>
              <a:lnSpc>
                <a:spcPct val="107000"/>
              </a:lnSpc>
              <a:spcAft>
                <a:spcPts val="800"/>
              </a:spcAft>
            </a:pPr>
            <a:r>
              <a:rPr lang="pl-PL" sz="1900" dirty="0">
                <a:effectLst/>
                <a:latin typeface="Mundial "/>
                <a:ea typeface="Calibri" panose="020F0502020204030204" pitchFamily="34" charset="0"/>
                <a:cs typeface="Times New Roman" panose="02020603050405020304" pitchFamily="18" charset="0"/>
              </a:rPr>
              <a:t>Każdy, kto zauważy pożar, w przypadku </a:t>
            </a:r>
            <a:r>
              <a:rPr lang="pl-PL" sz="1900" b="1" dirty="0">
                <a:effectLst/>
                <a:latin typeface="Mundial "/>
                <a:ea typeface="Calibri" panose="020F0502020204030204" pitchFamily="34" charset="0"/>
                <a:cs typeface="Times New Roman" panose="02020603050405020304" pitchFamily="18" charset="0"/>
              </a:rPr>
              <a:t>gdy nie działa system sygnalizacji pożarowej (SSP) </a:t>
            </a:r>
            <a:r>
              <a:rPr lang="pl-PL" sz="1900" dirty="0">
                <a:effectLst/>
                <a:latin typeface="Mundial "/>
                <a:ea typeface="Calibri" panose="020F0502020204030204" pitchFamily="34" charset="0"/>
                <a:cs typeface="Times New Roman" panose="02020603050405020304" pitchFamily="18" charset="0"/>
              </a:rPr>
              <a:t>zobowiązany jest niezwłocznie:</a:t>
            </a:r>
          </a:p>
          <a:p>
            <a:pPr marL="342900" lvl="0" indent="-342900">
              <a:lnSpc>
                <a:spcPct val="107000"/>
              </a:lnSpc>
              <a:buFont typeface="+mj-lt"/>
              <a:buAutoNum type="arabicPeriod"/>
            </a:pPr>
            <a:r>
              <a:rPr lang="pl-PL" sz="1900" dirty="0">
                <a:effectLst/>
                <a:latin typeface="Mundial "/>
                <a:ea typeface="Calibri" panose="020F0502020204030204" pitchFamily="34" charset="0"/>
                <a:cs typeface="Times New Roman" panose="02020603050405020304" pitchFamily="18" charset="0"/>
              </a:rPr>
              <a:t>Powiadomić o pożarze osoby znajdujące się bezpośrednio w strefie zagrożenia</a:t>
            </a:r>
          </a:p>
          <a:p>
            <a:pPr marL="342900" lvl="0" indent="-342900">
              <a:lnSpc>
                <a:spcPct val="107000"/>
              </a:lnSpc>
              <a:buFont typeface="+mj-lt"/>
              <a:buAutoNum type="arabicPeriod"/>
            </a:pPr>
            <a:r>
              <a:rPr lang="pl-PL" sz="1900" dirty="0">
                <a:effectLst/>
                <a:latin typeface="Mundial "/>
                <a:ea typeface="Calibri" panose="020F0502020204030204" pitchFamily="34" charset="0"/>
                <a:cs typeface="Times New Roman" panose="02020603050405020304" pitchFamily="18" charset="0"/>
              </a:rPr>
              <a:t>Telefonicznie lub w inny sposób </a:t>
            </a:r>
            <a:r>
              <a:rPr lang="pl-PL" sz="1900" b="1" dirty="0">
                <a:effectLst/>
                <a:latin typeface="Mundial "/>
                <a:ea typeface="Calibri" panose="020F0502020204030204" pitchFamily="34" charset="0"/>
                <a:cs typeface="Times New Roman" panose="02020603050405020304" pitchFamily="18" charset="0"/>
              </a:rPr>
              <a:t>zawiadomić Straż Pożarną </a:t>
            </a:r>
            <a:r>
              <a:rPr lang="pl-PL" sz="1900" dirty="0">
                <a:effectLst/>
                <a:latin typeface="Mundial "/>
                <a:ea typeface="Calibri" panose="020F0502020204030204" pitchFamily="34" charset="0"/>
                <a:cs typeface="Times New Roman" panose="02020603050405020304" pitchFamily="18" charset="0"/>
              </a:rPr>
              <a:t>podając:</a:t>
            </a:r>
          </a:p>
          <a:p>
            <a:pPr marL="742950" lvl="1" indent="-285750">
              <a:lnSpc>
                <a:spcPct val="107000"/>
              </a:lnSpc>
              <a:buFont typeface="+mj-lt"/>
              <a:buAutoNum type="alphaLcPeriod"/>
            </a:pPr>
            <a:r>
              <a:rPr lang="pl-PL" sz="1900" b="1" dirty="0">
                <a:effectLst/>
                <a:latin typeface="Mundial "/>
                <a:ea typeface="Calibri" panose="020F0502020204030204" pitchFamily="34" charset="0"/>
                <a:cs typeface="Times New Roman" panose="02020603050405020304" pitchFamily="18" charset="0"/>
              </a:rPr>
              <a:t>gdzie się pali</a:t>
            </a:r>
            <a:r>
              <a:rPr lang="pl-PL" sz="1900" dirty="0">
                <a:effectLst/>
                <a:latin typeface="Mundial "/>
                <a:ea typeface="Calibri" panose="020F0502020204030204" pitchFamily="34" charset="0"/>
                <a:cs typeface="Times New Roman" panose="02020603050405020304" pitchFamily="18" charset="0"/>
              </a:rPr>
              <a:t>: adres, nazwa obiektu, kondygnacja</a:t>
            </a:r>
          </a:p>
          <a:p>
            <a:pPr marL="742950" lvl="1" indent="-285750">
              <a:lnSpc>
                <a:spcPct val="107000"/>
              </a:lnSpc>
              <a:buFont typeface="+mj-lt"/>
              <a:buAutoNum type="alphaLcPeriod"/>
            </a:pPr>
            <a:r>
              <a:rPr lang="pl-PL" sz="1900" b="1" dirty="0">
                <a:effectLst/>
                <a:latin typeface="Mundial "/>
                <a:ea typeface="Calibri" panose="020F0502020204030204" pitchFamily="34" charset="0"/>
                <a:cs typeface="Times New Roman" panose="02020603050405020304" pitchFamily="18" charset="0"/>
              </a:rPr>
              <a:t>co się pali</a:t>
            </a:r>
            <a:r>
              <a:rPr lang="pl-PL" sz="1900" dirty="0">
                <a:effectLst/>
                <a:latin typeface="Mundial "/>
                <a:ea typeface="Calibri" panose="020F0502020204030204" pitchFamily="34" charset="0"/>
                <a:cs typeface="Times New Roman" panose="02020603050405020304" pitchFamily="18" charset="0"/>
              </a:rPr>
              <a:t>: sala wykładowa, stołówka, w korytarzu</a:t>
            </a:r>
          </a:p>
          <a:p>
            <a:pPr marL="742950" lvl="1" indent="-285750">
              <a:lnSpc>
                <a:spcPct val="107000"/>
              </a:lnSpc>
              <a:buFont typeface="+mj-lt"/>
              <a:buAutoNum type="alphaLcPeriod"/>
            </a:pPr>
            <a:r>
              <a:rPr lang="pl-PL" sz="1900" b="1" dirty="0">
                <a:effectLst/>
                <a:latin typeface="Mundial "/>
                <a:ea typeface="Calibri" panose="020F0502020204030204" pitchFamily="34" charset="0"/>
                <a:cs typeface="Times New Roman" panose="02020603050405020304" pitchFamily="18" charset="0"/>
              </a:rPr>
              <a:t>czy istnieje zagrożenie życia ludzi</a:t>
            </a:r>
            <a:endParaRPr lang="pl-PL" sz="1900" dirty="0">
              <a:effectLst/>
              <a:latin typeface="Mundial "/>
              <a:ea typeface="Calibri" panose="020F0502020204030204" pitchFamily="34" charset="0"/>
              <a:cs typeface="Times New Roman" panose="02020603050405020304" pitchFamily="18" charset="0"/>
            </a:endParaRPr>
          </a:p>
          <a:p>
            <a:pPr marL="742950" lvl="1" indent="-285750">
              <a:lnSpc>
                <a:spcPct val="107000"/>
              </a:lnSpc>
              <a:buFont typeface="+mj-lt"/>
              <a:buAutoNum type="alphaLcPeriod"/>
            </a:pPr>
            <a:r>
              <a:rPr lang="pl-PL" sz="1900" dirty="0">
                <a:effectLst/>
                <a:latin typeface="Mundial "/>
                <a:ea typeface="Calibri" panose="020F0502020204030204" pitchFamily="34" charset="0"/>
                <a:cs typeface="Times New Roman" panose="02020603050405020304" pitchFamily="18" charset="0"/>
              </a:rPr>
              <a:t>numer telefonu, z którego się dzwoni oraz swoje imię i nazwisko (rozłącz się dopiero, gdy dyspozytor przyjmie zgłoszenie, zaczekaj chwilę przy telefonie – być może dyspozytor będzie weryfikował zgłoszenie)</a:t>
            </a:r>
          </a:p>
          <a:p>
            <a:pPr marL="342900" lvl="0" indent="-342900">
              <a:lnSpc>
                <a:spcPct val="107000"/>
              </a:lnSpc>
              <a:buFont typeface="+mj-lt"/>
              <a:buAutoNum type="arabicPeriod"/>
            </a:pPr>
            <a:r>
              <a:rPr lang="pl-PL" sz="1900" dirty="0">
                <a:effectLst/>
                <a:latin typeface="Mundial "/>
                <a:ea typeface="Calibri" panose="020F0502020204030204" pitchFamily="34" charset="0"/>
                <a:cs typeface="Times New Roman" panose="02020603050405020304" pitchFamily="18" charset="0"/>
              </a:rPr>
              <a:t>Powiadomić o zdarzeniu  Dział Administracyjny</a:t>
            </a:r>
          </a:p>
          <a:p>
            <a:pPr marL="342900" lvl="0" indent="-342900">
              <a:lnSpc>
                <a:spcPct val="107000"/>
              </a:lnSpc>
              <a:buFont typeface="+mj-lt"/>
              <a:buAutoNum type="arabicPeriod"/>
            </a:pPr>
            <a:r>
              <a:rPr lang="pl-PL" sz="1900" dirty="0">
                <a:effectLst/>
                <a:latin typeface="Mundial "/>
                <a:ea typeface="Calibri" panose="020F0502020204030204" pitchFamily="34" charset="0"/>
                <a:cs typeface="Times New Roman" panose="02020603050405020304" pitchFamily="18" charset="0"/>
              </a:rPr>
              <a:t>Przystąpić do gaszenia pożaru przy pomocy gaśnic lub innego sprzętu gaśniczego będącego na wyposażeniu obiektu</a:t>
            </a:r>
          </a:p>
          <a:p>
            <a:pPr marL="342900" lvl="0" indent="-342900">
              <a:lnSpc>
                <a:spcPct val="107000"/>
              </a:lnSpc>
              <a:buFont typeface="+mj-lt"/>
              <a:buAutoNum type="arabicPeriod"/>
            </a:pPr>
            <a:r>
              <a:rPr lang="pl-PL" sz="1900" dirty="0">
                <a:effectLst/>
                <a:latin typeface="Mundial "/>
                <a:ea typeface="Calibri" panose="020F0502020204030204" pitchFamily="34" charset="0"/>
                <a:cs typeface="Times New Roman" panose="02020603050405020304" pitchFamily="18" charset="0"/>
              </a:rPr>
              <a:t>Udzielić pomocy osobom poszkodowanym lub zagrożonym</a:t>
            </a:r>
          </a:p>
          <a:p>
            <a:pPr marL="342900" lvl="0" indent="-342900">
              <a:lnSpc>
                <a:spcPct val="107000"/>
              </a:lnSpc>
              <a:spcAft>
                <a:spcPts val="800"/>
              </a:spcAft>
              <a:buFont typeface="+mj-lt"/>
              <a:buAutoNum type="arabicPeriod"/>
            </a:pPr>
            <a:r>
              <a:rPr lang="pl-PL" sz="1900" dirty="0">
                <a:effectLst/>
                <a:latin typeface="Mundial "/>
                <a:ea typeface="Calibri" panose="020F0502020204030204" pitchFamily="34" charset="0"/>
                <a:cs typeface="Times New Roman" panose="02020603050405020304" pitchFamily="18" charset="0"/>
              </a:rPr>
              <a:t>W miarę możliwości zabezpieczyć mienie</a:t>
            </a:r>
          </a:p>
          <a:p>
            <a:pPr algn="ctr">
              <a:lnSpc>
                <a:spcPct val="107000"/>
              </a:lnSpc>
              <a:spcAft>
                <a:spcPts val="800"/>
              </a:spcAft>
            </a:pPr>
            <a:r>
              <a:rPr lang="pl-PL" sz="2400" b="1" dirty="0">
                <a:solidFill>
                  <a:srgbClr val="C00000"/>
                </a:solidFill>
                <a:effectLst/>
                <a:latin typeface="Mundial "/>
                <a:ea typeface="Calibri" panose="020F0502020204030204" pitchFamily="34" charset="0"/>
                <a:cs typeface="Times New Roman" panose="02020603050405020304" pitchFamily="18" charset="0"/>
              </a:rPr>
              <a:t>Telefon alarmowy do Straży Pożarnej - 998</a:t>
            </a:r>
          </a:p>
        </p:txBody>
      </p:sp>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Newsy - Śląski Okręgowy Związek Pływacki">
            <a:extLst>
              <a:ext uri="{FF2B5EF4-FFF2-40B4-BE49-F238E27FC236}">
                <a16:creationId xmlns:a16="http://schemas.microsoft.com/office/drawing/2014/main" id="{895A0DB2-A8AD-7E34-C5D7-BD1BFCE4EF1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002418">
            <a:off x="10056207" y="2602480"/>
            <a:ext cx="1846606" cy="703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6945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b="1" dirty="0">
                <a:latin typeface="Mundial"/>
              </a:rPr>
              <a:t>P</a:t>
            </a:r>
            <a:r>
              <a:rPr lang="pl-PL" sz="2000" b="1" i="0" u="none" strike="noStrike" baseline="0" dirty="0">
                <a:latin typeface="Mundial"/>
              </a:rPr>
              <a:t>ostępowania w razie pożaru</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102</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274885"/>
            <a:ext cx="8720548" cy="5217989"/>
          </a:xfrm>
        </p:spPr>
        <p:txBody>
          <a:bodyPr numCol="1"/>
          <a:lstStyle/>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sp>
        <p:nvSpPr>
          <p:cNvPr id="6" name="pole tekstowe 5">
            <a:extLst>
              <a:ext uri="{FF2B5EF4-FFF2-40B4-BE49-F238E27FC236}">
                <a16:creationId xmlns:a16="http://schemas.microsoft.com/office/drawing/2014/main" id="{2EA8F202-4913-6536-01A4-D1123780C43D}"/>
              </a:ext>
            </a:extLst>
          </p:cNvPr>
          <p:cNvSpPr txBox="1"/>
          <p:nvPr/>
        </p:nvSpPr>
        <p:spPr>
          <a:xfrm>
            <a:off x="2954215" y="764775"/>
            <a:ext cx="6154616" cy="4473661"/>
          </a:xfrm>
          <a:prstGeom prst="rect">
            <a:avLst/>
          </a:prstGeom>
          <a:noFill/>
        </p:spPr>
        <p:txBody>
          <a:bodyPr wrap="square" rtlCol="0">
            <a:spAutoFit/>
          </a:bodyPr>
          <a:lstStyle/>
          <a:p>
            <a:pPr algn="ctr">
              <a:lnSpc>
                <a:spcPct val="107000"/>
              </a:lnSpc>
              <a:spcAft>
                <a:spcPts val="800"/>
              </a:spcAft>
            </a:pPr>
            <a:r>
              <a:rPr lang="pl-PL" sz="2400" b="1" dirty="0">
                <a:solidFill>
                  <a:srgbClr val="C00000"/>
                </a:solidFill>
                <a:effectLst/>
                <a:latin typeface="Mundial "/>
                <a:ea typeface="Calibri" panose="020F0502020204030204" pitchFamily="34" charset="0"/>
                <a:cs typeface="Times New Roman" panose="02020603050405020304" pitchFamily="18" charset="0"/>
              </a:rPr>
              <a:t>POSTĘPOWIANIE W RAZIE POŻARU </a:t>
            </a:r>
            <a:endParaRPr lang="pl-PL" sz="2400" b="1" dirty="0">
              <a:solidFill>
                <a:srgbClr val="C00000"/>
              </a:solidFill>
              <a:latin typeface="Mundial "/>
              <a:ea typeface="Calibri" panose="020F0502020204030204" pitchFamily="34" charset="0"/>
              <a:cs typeface="Times New Roman" panose="02020603050405020304" pitchFamily="18" charset="0"/>
            </a:endParaRPr>
          </a:p>
          <a:p>
            <a:pPr algn="ctr">
              <a:lnSpc>
                <a:spcPct val="107000"/>
              </a:lnSpc>
              <a:spcAft>
                <a:spcPts val="800"/>
              </a:spcAft>
            </a:pPr>
            <a:r>
              <a:rPr lang="pl-PL" sz="2400" b="1" dirty="0">
                <a:solidFill>
                  <a:srgbClr val="C00000"/>
                </a:solidFill>
                <a:latin typeface="Mundial "/>
                <a:ea typeface="Calibri" panose="020F0502020204030204" pitchFamily="34" charset="0"/>
                <a:cs typeface="Times New Roman" panose="02020603050405020304" pitchFamily="18" charset="0"/>
              </a:rPr>
              <a:t>SYSTEM SYGNALIZACJI POŻAROWEJ (SSP)</a:t>
            </a:r>
          </a:p>
          <a:p>
            <a:pPr algn="ctr">
              <a:lnSpc>
                <a:spcPct val="107000"/>
              </a:lnSpc>
              <a:spcAft>
                <a:spcPts val="800"/>
              </a:spcAft>
            </a:pPr>
            <a:endParaRPr lang="pl-PL" sz="2000" b="1" dirty="0">
              <a:solidFill>
                <a:srgbClr val="C00000"/>
              </a:solidFill>
              <a:effectLst/>
              <a:latin typeface="Mundial "/>
              <a:ea typeface="Calibri" panose="020F0502020204030204" pitchFamily="34" charset="0"/>
              <a:cs typeface="Times New Roman" panose="02020603050405020304" pitchFamily="18" charset="0"/>
            </a:endParaRPr>
          </a:p>
          <a:p>
            <a:pPr algn="ctr">
              <a:lnSpc>
                <a:spcPct val="107000"/>
              </a:lnSpc>
              <a:spcAft>
                <a:spcPts val="800"/>
              </a:spcAft>
            </a:pPr>
            <a:endParaRPr lang="pl-PL" sz="2400" dirty="0">
              <a:effectLst/>
              <a:latin typeface="Mundial "/>
              <a:ea typeface="Calibri" panose="020F0502020204030204" pitchFamily="34" charset="0"/>
              <a:cs typeface="Times New Roman" panose="02020603050405020304" pitchFamily="18" charset="0"/>
            </a:endParaRPr>
          </a:p>
          <a:p>
            <a:pPr algn="ctr">
              <a:lnSpc>
                <a:spcPct val="107000"/>
              </a:lnSpc>
              <a:spcAft>
                <a:spcPts val="800"/>
              </a:spcAft>
            </a:pPr>
            <a:r>
              <a:rPr lang="pl-PL" sz="2400" dirty="0">
                <a:effectLst/>
                <a:latin typeface="Mundial "/>
                <a:ea typeface="Calibri" panose="020F0502020204030204" pitchFamily="34" charset="0"/>
                <a:cs typeface="Times New Roman" panose="02020603050405020304" pitchFamily="18" charset="0"/>
              </a:rPr>
              <a:t>W budynkach A, B i H zainstalowany został </a:t>
            </a:r>
            <a:r>
              <a:rPr lang="pl-PL" sz="2400" b="1" dirty="0">
                <a:effectLst/>
                <a:latin typeface="Mundial "/>
                <a:ea typeface="Calibri" panose="020F0502020204030204" pitchFamily="34" charset="0"/>
                <a:cs typeface="Times New Roman" panose="02020603050405020304" pitchFamily="18" charset="0"/>
              </a:rPr>
              <a:t>automatyczny SYSTEM SYGNALIZACJI POŻAROWEJ </a:t>
            </a:r>
            <a:r>
              <a:rPr lang="pl-PL" sz="2400" dirty="0">
                <a:effectLst/>
                <a:latin typeface="Mundial "/>
                <a:ea typeface="Calibri" panose="020F0502020204030204" pitchFamily="34" charset="0"/>
                <a:cs typeface="Times New Roman" panose="02020603050405020304" pitchFamily="18" charset="0"/>
              </a:rPr>
              <a:t>(SSP).</a:t>
            </a:r>
          </a:p>
          <a:p>
            <a:pPr algn="ctr">
              <a:lnSpc>
                <a:spcPct val="107000"/>
              </a:lnSpc>
              <a:spcAft>
                <a:spcPts val="800"/>
              </a:spcAft>
            </a:pPr>
            <a:r>
              <a:rPr lang="pl-PL" sz="2400" dirty="0">
                <a:latin typeface="Mundial "/>
                <a:ea typeface="Calibri" panose="020F0502020204030204" pitchFamily="34" charset="0"/>
                <a:cs typeface="Times New Roman" panose="02020603050405020304" pitchFamily="18" charset="0"/>
              </a:rPr>
              <a:t>Po włączeniu się alarmu II stopnia wykwalifikowane służby tj. straż pożarna wzywana jest automatycznie.</a:t>
            </a:r>
            <a:endParaRPr lang="pl-PL" sz="2000" dirty="0">
              <a:effectLst/>
              <a:latin typeface="Mundial "/>
              <a:ea typeface="Calibri" panose="020F0502020204030204" pitchFamily="34" charset="0"/>
              <a:cs typeface="Times New Roman" panose="02020603050405020304" pitchFamily="18" charset="0"/>
            </a:endParaRPr>
          </a:p>
        </p:txBody>
      </p:sp>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ONA - Ochrona Przeciwpożarowa">
            <a:extLst>
              <a:ext uri="{FF2B5EF4-FFF2-40B4-BE49-F238E27FC236}">
                <a16:creationId xmlns:a16="http://schemas.microsoft.com/office/drawing/2014/main" id="{B06E9E01-C16D-6573-14C5-05E8C85B59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38838" y="2187740"/>
            <a:ext cx="2987664" cy="3949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54788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Zasady ochrony przeciwpożarowej</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103</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148478"/>
            <a:ext cx="8720548" cy="5217989"/>
          </a:xfrm>
        </p:spPr>
        <p:txBody>
          <a:bodyPr numCol="1"/>
          <a:lstStyle/>
          <a:p>
            <a:pPr algn="ctr"/>
            <a:r>
              <a:rPr lang="pl-PL" sz="2000" b="1" i="0" dirty="0">
                <a:solidFill>
                  <a:srgbClr val="C00000"/>
                </a:solidFill>
                <a:effectLst/>
                <a:latin typeface="Mundial"/>
              </a:rPr>
              <a:t>PODRĘCZNY SPRZĘT GAŚNICZY – ZASADY UŻYTKOWANIA</a:t>
            </a:r>
          </a:p>
          <a:p>
            <a:pPr algn="l"/>
            <a:r>
              <a:rPr lang="pl-PL" sz="1800" b="0" i="0" dirty="0">
                <a:solidFill>
                  <a:srgbClr val="202122"/>
                </a:solidFill>
                <a:effectLst/>
                <a:latin typeface="Mundial"/>
              </a:rPr>
              <a:t>jest przeznaczony do gaszenia </a:t>
            </a:r>
            <a:r>
              <a:rPr lang="pl-PL" sz="1800" b="0" i="0" u="sng" strike="noStrike" dirty="0">
                <a:solidFill>
                  <a:srgbClr val="0645AD"/>
                </a:solidFill>
                <a:effectLst/>
                <a:latin typeface="Mundial"/>
                <a:hlinkClick r:id="rId2" tooltip="Pożar"/>
              </a:rPr>
              <a:t>pożarów</a:t>
            </a:r>
            <a:r>
              <a:rPr lang="pl-PL" sz="1800" b="0" i="0" u="sng" dirty="0">
                <a:solidFill>
                  <a:srgbClr val="202122"/>
                </a:solidFill>
                <a:effectLst/>
                <a:latin typeface="Mundial"/>
              </a:rPr>
              <a:t> w zarodku, w pierwszej fazie jego powstania.</a:t>
            </a:r>
            <a:r>
              <a:rPr lang="pl-PL" sz="1800" b="0" i="0" dirty="0">
                <a:solidFill>
                  <a:srgbClr val="202122"/>
                </a:solidFill>
                <a:effectLst/>
                <a:latin typeface="Mundial"/>
              </a:rPr>
              <a:t> Charakteryzuje się małym ciężarem (do 20 kg) oraz prostotą obsługi, co umożliwia sprawną obsługę przez osoby dorosłe bez specjalistycznego przeszkolenia (sposób użycia jest przedstawiony na etykietach sprzętu). </a:t>
            </a:r>
          </a:p>
          <a:p>
            <a:pPr algn="l"/>
            <a:endParaRPr lang="pl-PL" sz="1800" b="1" dirty="0">
              <a:solidFill>
                <a:srgbClr val="202122"/>
              </a:solidFill>
              <a:latin typeface="Mundial"/>
            </a:endParaRPr>
          </a:p>
          <a:p>
            <a:pPr algn="l"/>
            <a:r>
              <a:rPr lang="pl-PL" sz="1800" b="1" dirty="0">
                <a:solidFill>
                  <a:srgbClr val="202122"/>
                </a:solidFill>
                <a:latin typeface="Mundial"/>
              </a:rPr>
              <a:t>Do podręcznego sprzętu gaśniczego zaliczamy:</a:t>
            </a:r>
          </a:p>
          <a:p>
            <a:pPr marL="379413" indent="-285750" algn="l">
              <a:spcBef>
                <a:spcPts val="0"/>
              </a:spcBef>
              <a:buFont typeface="Wingdings" panose="05000000000000000000" pitchFamily="2" charset="2"/>
              <a:buChar char="ü"/>
            </a:pPr>
            <a:r>
              <a:rPr lang="pl-PL" sz="1800" i="0" dirty="0">
                <a:solidFill>
                  <a:srgbClr val="202122"/>
                </a:solidFill>
                <a:effectLst/>
                <a:latin typeface="Mundial"/>
              </a:rPr>
              <a:t>Gaśnice</a:t>
            </a:r>
          </a:p>
          <a:p>
            <a:pPr marL="379413" indent="-285750" algn="l">
              <a:spcBef>
                <a:spcPts val="0"/>
              </a:spcBef>
              <a:buFont typeface="Wingdings" panose="05000000000000000000" pitchFamily="2" charset="2"/>
              <a:buChar char="ü"/>
            </a:pPr>
            <a:r>
              <a:rPr lang="pl-PL" sz="1800" dirty="0">
                <a:solidFill>
                  <a:srgbClr val="202122"/>
                </a:solidFill>
                <a:latin typeface="Mundial"/>
              </a:rPr>
              <a:t>Koce gaśnicze</a:t>
            </a:r>
          </a:p>
          <a:p>
            <a:pPr marL="379413" indent="-285750" algn="l">
              <a:spcBef>
                <a:spcPts val="0"/>
              </a:spcBef>
              <a:buFont typeface="Wingdings" panose="05000000000000000000" pitchFamily="2" charset="2"/>
              <a:buChar char="ü"/>
            </a:pPr>
            <a:r>
              <a:rPr lang="pl-PL" sz="1800" dirty="0">
                <a:solidFill>
                  <a:srgbClr val="202122"/>
                </a:solidFill>
                <a:latin typeface="Mundial"/>
              </a:rPr>
              <a:t>Hydrant wewnętrzny</a:t>
            </a:r>
          </a:p>
          <a:p>
            <a:pPr algn="l"/>
            <a:endParaRPr lang="pl-PL" sz="1800" b="1" i="0" dirty="0">
              <a:solidFill>
                <a:srgbClr val="C00000"/>
              </a:solidFill>
              <a:effectLst/>
              <a:latin typeface="Mundial"/>
            </a:endParaRPr>
          </a:p>
          <a:p>
            <a:pPr algn="l"/>
            <a:endParaRPr lang="pl-PL" sz="1800" b="0" i="0" dirty="0">
              <a:effectLst/>
              <a:latin typeface="Mundial"/>
            </a:endParaRPr>
          </a:p>
          <a:p>
            <a:pPr algn="l"/>
            <a:endParaRPr lang="pl-PL" sz="2000" b="0" i="0" dirty="0">
              <a:effectLst/>
              <a:latin typeface="Mundial"/>
            </a:endParaRPr>
          </a:p>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015163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Zasady ochrony przeciwpożarowej</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104</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148478"/>
            <a:ext cx="6690947" cy="5217989"/>
          </a:xfrm>
        </p:spPr>
        <p:txBody>
          <a:bodyPr numCol="1"/>
          <a:lstStyle/>
          <a:p>
            <a:pPr algn="ctr"/>
            <a:r>
              <a:rPr lang="pl-PL" sz="2000" b="1" i="0" dirty="0">
                <a:solidFill>
                  <a:srgbClr val="C00000"/>
                </a:solidFill>
                <a:effectLst/>
                <a:latin typeface="Mundial"/>
              </a:rPr>
              <a:t>PODRĘCZNY SPRZĘT GAŚNICZY – ZASADY UŻYTKOWANIA</a:t>
            </a:r>
          </a:p>
          <a:p>
            <a:pPr algn="l"/>
            <a:r>
              <a:rPr lang="pl-PL" sz="1800" b="1" i="0" dirty="0">
                <a:effectLst/>
                <a:latin typeface="Mundial"/>
              </a:rPr>
              <a:t>GAŚNICA WODNO-PIANOWA </a:t>
            </a:r>
          </a:p>
          <a:p>
            <a:pPr algn="l"/>
            <a:r>
              <a:rPr lang="pl-PL" sz="1800" b="0" i="0" dirty="0">
                <a:solidFill>
                  <a:srgbClr val="1B1B1B"/>
                </a:solidFill>
                <a:effectLst/>
                <a:latin typeface="Mundial"/>
              </a:rPr>
              <a:t>To zbiornik cylindryczny, w którym znajduje się wodny roztwór środka pianotwórczego oraz zbiornik z gazem napędowym zaopatrzony w zbijak, wężyk zakończony </a:t>
            </a:r>
            <a:r>
              <a:rPr lang="pl-PL" sz="1800" b="0" i="0" dirty="0" err="1">
                <a:solidFill>
                  <a:srgbClr val="1B1B1B"/>
                </a:solidFill>
                <a:effectLst/>
                <a:latin typeface="Mundial"/>
              </a:rPr>
              <a:t>prądowniczką</a:t>
            </a:r>
            <a:r>
              <a:rPr lang="pl-PL" sz="1800" b="0" i="0" dirty="0">
                <a:solidFill>
                  <a:srgbClr val="1B1B1B"/>
                </a:solidFill>
                <a:effectLst/>
                <a:latin typeface="Mundial"/>
              </a:rPr>
              <a:t> zamykaną. </a:t>
            </a:r>
          </a:p>
          <a:p>
            <a:pPr algn="l"/>
            <a:r>
              <a:rPr lang="pl-PL" sz="1800" b="0" i="0" dirty="0">
                <a:solidFill>
                  <a:srgbClr val="1B1B1B"/>
                </a:solidFill>
                <a:effectLst/>
                <a:latin typeface="Mundial"/>
              </a:rPr>
              <a:t>Po dostarczeniu gaśnicy w pobliże pożaru </a:t>
            </a:r>
            <a:r>
              <a:rPr lang="pl-PL" sz="1800" b="1" i="0" dirty="0">
                <a:solidFill>
                  <a:srgbClr val="1B1B1B"/>
                </a:solidFill>
                <a:effectLst/>
                <a:latin typeface="Mundial"/>
              </a:rPr>
              <a:t>zrywamy plombę zabezpieczającą</a:t>
            </a:r>
            <a:r>
              <a:rPr lang="pl-PL" sz="1800" b="0" i="0" dirty="0">
                <a:solidFill>
                  <a:srgbClr val="1B1B1B"/>
                </a:solidFill>
                <a:effectLst/>
                <a:latin typeface="Mundial"/>
              </a:rPr>
              <a:t>, </a:t>
            </a:r>
            <a:r>
              <a:rPr lang="pl-PL" sz="1800" b="1" i="0" dirty="0">
                <a:solidFill>
                  <a:srgbClr val="1B1B1B"/>
                </a:solidFill>
                <a:effectLst/>
                <a:latin typeface="Mundial"/>
              </a:rPr>
              <a:t>wciskamy zbijak</a:t>
            </a:r>
            <a:r>
              <a:rPr lang="pl-PL" sz="1800" b="0" i="0" dirty="0">
                <a:solidFill>
                  <a:srgbClr val="1B1B1B"/>
                </a:solidFill>
                <a:effectLst/>
                <a:latin typeface="Mundial"/>
              </a:rPr>
              <a:t> (gaz napędzający wypełnia zbiornik gaśnicy), kierujemy strumień piany w ognisko pożaru. Działanie gaśnicy można w każdej chwili przerwać przez       zwolnienie dźwigni </a:t>
            </a:r>
            <a:r>
              <a:rPr lang="pl-PL" sz="1800" b="0" i="0" dirty="0" err="1">
                <a:solidFill>
                  <a:srgbClr val="1B1B1B"/>
                </a:solidFill>
                <a:effectLst/>
                <a:latin typeface="Mundial"/>
              </a:rPr>
              <a:t>prądowniczki</a:t>
            </a:r>
            <a:r>
              <a:rPr lang="pl-PL" sz="1800" b="0" i="0" dirty="0">
                <a:solidFill>
                  <a:srgbClr val="1B1B1B"/>
                </a:solidFill>
                <a:effectLst/>
                <a:latin typeface="Mundial"/>
              </a:rPr>
              <a:t>. Ze względu na swoją budowę syfonową gaśnica prawidłowo pracuje tylko w pozycji pionowej.</a:t>
            </a:r>
            <a:endParaRPr lang="pl-PL" sz="1800" b="1" i="0" dirty="0">
              <a:solidFill>
                <a:srgbClr val="C00000"/>
              </a:solidFill>
              <a:effectLst/>
              <a:latin typeface="Mundial"/>
            </a:endParaRPr>
          </a:p>
          <a:p>
            <a:pPr algn="l"/>
            <a:endParaRPr lang="pl-PL" sz="1800" b="0" i="0" dirty="0">
              <a:effectLst/>
              <a:latin typeface="Mundial"/>
            </a:endParaRPr>
          </a:p>
          <a:p>
            <a:pPr algn="l"/>
            <a:endParaRPr lang="pl-PL" sz="2000" b="0" i="0" dirty="0">
              <a:effectLst/>
              <a:latin typeface="Mundial"/>
            </a:endParaRPr>
          </a:p>
          <a:p>
            <a:endParaRPr lang="pl-PL" sz="1800" b="0" i="0" u="none" strike="noStrike" baseline="0" dirty="0">
              <a:solidFill>
                <a:srgbClr val="000000"/>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5C868879-B0CE-C3BD-119A-CCF68E2A5FCB}"/>
              </a:ext>
            </a:extLst>
          </p:cNvPr>
          <p:cNvPicPr>
            <a:picLocks noChangeAspect="1"/>
          </p:cNvPicPr>
          <p:nvPr/>
        </p:nvPicPr>
        <p:blipFill>
          <a:blip r:embed="rId4"/>
          <a:stretch>
            <a:fillRect/>
          </a:stretch>
        </p:blipFill>
        <p:spPr>
          <a:xfrm>
            <a:off x="9237785" y="3151801"/>
            <a:ext cx="2891294" cy="3042752"/>
          </a:xfrm>
          <a:prstGeom prst="rect">
            <a:avLst/>
          </a:prstGeom>
        </p:spPr>
      </p:pic>
    </p:spTree>
    <p:extLst>
      <p:ext uri="{BB962C8B-B14F-4D97-AF65-F5344CB8AC3E}">
        <p14:creationId xmlns:p14="http://schemas.microsoft.com/office/powerpoint/2010/main" val="91200590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Zasady ochrony przeciwpożarowej</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105</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148478"/>
            <a:ext cx="6690947" cy="5217989"/>
          </a:xfrm>
        </p:spPr>
        <p:txBody>
          <a:bodyPr numCol="1"/>
          <a:lstStyle/>
          <a:p>
            <a:pPr algn="ctr"/>
            <a:r>
              <a:rPr lang="pl-PL" sz="2000" b="1" i="0" dirty="0">
                <a:solidFill>
                  <a:srgbClr val="C00000"/>
                </a:solidFill>
                <a:effectLst/>
                <a:latin typeface="Mundial"/>
              </a:rPr>
              <a:t>PODRĘCZNY SPRZĘT GAŚNICZY – ZASADY UŻYTKOWANIA</a:t>
            </a:r>
          </a:p>
          <a:p>
            <a:pPr algn="l"/>
            <a:r>
              <a:rPr lang="pl-PL" sz="1800" b="1" i="0" dirty="0">
                <a:effectLst/>
                <a:latin typeface="Mundial"/>
              </a:rPr>
              <a:t>GAŚNICA PROSZKOWA</a:t>
            </a:r>
          </a:p>
          <a:p>
            <a:pPr algn="l"/>
            <a:r>
              <a:rPr lang="pl-PL" sz="1800" b="0" i="0" dirty="0">
                <a:solidFill>
                  <a:srgbClr val="1B1B1B"/>
                </a:solidFill>
                <a:effectLst/>
                <a:latin typeface="Mundial"/>
              </a:rPr>
              <a:t>to cylindryczny zbiornik zaopatrzony w dźwignię uruchamiającą zawór lub zbijak z gazem napędowym. Środek gaśniczy (proszek) wyrzucany jest przez dyszę lub wężyk zakończony </a:t>
            </a:r>
            <a:r>
              <a:rPr lang="pl-PL" sz="1800" b="0" i="0" dirty="0" err="1">
                <a:solidFill>
                  <a:srgbClr val="1B1B1B"/>
                </a:solidFill>
                <a:effectLst/>
                <a:latin typeface="Mundial"/>
              </a:rPr>
              <a:t>prądowniczką</a:t>
            </a:r>
            <a:r>
              <a:rPr lang="pl-PL" sz="1800" b="0" i="0" dirty="0">
                <a:solidFill>
                  <a:srgbClr val="1B1B1B"/>
                </a:solidFill>
                <a:effectLst/>
                <a:latin typeface="Mundial"/>
              </a:rPr>
              <a:t> przy pomocy gazu obojętnego (azot lub dwutlenek węgla). </a:t>
            </a:r>
          </a:p>
          <a:p>
            <a:pPr algn="l"/>
            <a:r>
              <a:rPr lang="pl-PL" sz="1800" b="0" i="0" dirty="0">
                <a:solidFill>
                  <a:srgbClr val="1B1B1B"/>
                </a:solidFill>
                <a:effectLst/>
                <a:latin typeface="Mundial"/>
              </a:rPr>
              <a:t>Po dostarczeniu gaśnicy w miejsce pożaru </a:t>
            </a:r>
            <a:r>
              <a:rPr lang="pl-PL" sz="1800" b="1" i="0" dirty="0">
                <a:solidFill>
                  <a:srgbClr val="1B1B1B"/>
                </a:solidFill>
                <a:effectLst/>
                <a:latin typeface="Mundial"/>
              </a:rPr>
              <a:t>zrywamy plombę i zawleczkę blokującą, uruchamiamy dźwignię lub zbijak i kierujemy strumień proszku w ognisko pożaru</a:t>
            </a:r>
            <a:r>
              <a:rPr lang="pl-PL" sz="1800" b="0" i="0" dirty="0">
                <a:solidFill>
                  <a:srgbClr val="1B1B1B"/>
                </a:solidFill>
                <a:effectLst/>
                <a:latin typeface="Mundial"/>
              </a:rPr>
              <a:t>. Działanie gaśnicy można w każdej chwili przerwać przez zwolnienie dźwigni uruchamiającej lub dźwigni </a:t>
            </a:r>
            <a:r>
              <a:rPr lang="pl-PL" sz="1800" b="0" i="0" dirty="0" err="1">
                <a:solidFill>
                  <a:srgbClr val="1B1B1B"/>
                </a:solidFill>
                <a:effectLst/>
                <a:latin typeface="Mundial"/>
              </a:rPr>
              <a:t>prądowniczki</a:t>
            </a:r>
            <a:r>
              <a:rPr lang="pl-PL" sz="1800" b="0" i="0" dirty="0">
                <a:solidFill>
                  <a:srgbClr val="1B1B1B"/>
                </a:solidFill>
                <a:effectLst/>
                <a:latin typeface="Mundial"/>
              </a:rPr>
              <a:t>. Ze względu na swoją budowę syfonową gaśnica prawidłowo pracuje tylko w pozycji pionowej.</a:t>
            </a:r>
            <a:endParaRPr lang="pl-PL" sz="1800" b="0" i="0" dirty="0">
              <a:effectLst/>
              <a:latin typeface="Mundial"/>
            </a:endParaRPr>
          </a:p>
          <a:p>
            <a:pPr algn="l"/>
            <a:endParaRPr lang="pl-PL" sz="2000" b="0" i="0" dirty="0">
              <a:effectLst/>
              <a:latin typeface="Mundial"/>
            </a:endParaRPr>
          </a:p>
          <a:p>
            <a:endParaRPr lang="pl-PL" sz="1800" b="0" i="0" u="none" strike="noStrike" baseline="0" dirty="0">
              <a:solidFill>
                <a:srgbClr val="000000"/>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9" name="Obraz 8">
            <a:extLst>
              <a:ext uri="{FF2B5EF4-FFF2-40B4-BE49-F238E27FC236}">
                <a16:creationId xmlns:a16="http://schemas.microsoft.com/office/drawing/2014/main" id="{0E4C921C-E0D2-A3C6-3B70-1A8AC6EF4C0B}"/>
              </a:ext>
            </a:extLst>
          </p:cNvPr>
          <p:cNvPicPr>
            <a:picLocks noChangeAspect="1"/>
          </p:cNvPicPr>
          <p:nvPr/>
        </p:nvPicPr>
        <p:blipFill>
          <a:blip r:embed="rId4"/>
          <a:stretch>
            <a:fillRect/>
          </a:stretch>
        </p:blipFill>
        <p:spPr>
          <a:xfrm>
            <a:off x="9645162" y="1821309"/>
            <a:ext cx="2302210" cy="4417755"/>
          </a:xfrm>
          <a:prstGeom prst="rect">
            <a:avLst/>
          </a:prstGeom>
        </p:spPr>
      </p:pic>
    </p:spTree>
    <p:extLst>
      <p:ext uri="{BB962C8B-B14F-4D97-AF65-F5344CB8AC3E}">
        <p14:creationId xmlns:p14="http://schemas.microsoft.com/office/powerpoint/2010/main" val="63876544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Zasady ochrony przeciwpożarowej</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106</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148478"/>
            <a:ext cx="6690947" cy="5217989"/>
          </a:xfrm>
        </p:spPr>
        <p:txBody>
          <a:bodyPr numCol="1"/>
          <a:lstStyle/>
          <a:p>
            <a:pPr algn="ctr"/>
            <a:r>
              <a:rPr lang="pl-PL" sz="2000" b="1" i="0" dirty="0">
                <a:solidFill>
                  <a:srgbClr val="C00000"/>
                </a:solidFill>
                <a:effectLst/>
                <a:latin typeface="Mundial"/>
              </a:rPr>
              <a:t>PODRĘCZNY SPRZĘT GAŚNICZY – ZASADY UŻYTKOWANIA</a:t>
            </a:r>
          </a:p>
          <a:p>
            <a:pPr algn="l"/>
            <a:r>
              <a:rPr lang="pl-PL" sz="1800" b="1" i="0" dirty="0">
                <a:effectLst/>
                <a:latin typeface="Mundial"/>
              </a:rPr>
              <a:t>GAŚNICA ŚNIEGOWA </a:t>
            </a:r>
          </a:p>
          <a:p>
            <a:pPr algn="l"/>
            <a:r>
              <a:rPr lang="pl-PL" sz="1600" b="0" i="0" dirty="0">
                <a:solidFill>
                  <a:srgbClr val="1B1B1B"/>
                </a:solidFill>
                <a:effectLst/>
                <a:latin typeface="Mundial"/>
              </a:rPr>
              <a:t>to cylindryczny zbiornik zaopatrzony w zawór i wężyk zakończony dyszą wylotową lub w gaśnicach mniejszych króćcem obrotowym z dyszą. Wewnątrz gaśnicy znajduje się skroplony dwutlenek węgla, który po uruchomieniu pod własnym ciśnieniem wydostaje się na zewnątrz oziębiając się do temperatury ok. - 80 </a:t>
            </a:r>
            <a:r>
              <a:rPr lang="pl-PL" sz="1600" b="0" i="0" dirty="0" err="1">
                <a:solidFill>
                  <a:srgbClr val="1B1B1B"/>
                </a:solidFill>
                <a:effectLst/>
                <a:latin typeface="Mundial"/>
              </a:rPr>
              <a:t>st.C</a:t>
            </a:r>
            <a:r>
              <a:rPr lang="pl-PL" sz="1600" b="0" i="0" dirty="0">
                <a:solidFill>
                  <a:srgbClr val="1B1B1B"/>
                </a:solidFill>
                <a:effectLst/>
                <a:latin typeface="Mundial"/>
              </a:rPr>
              <a:t>. </a:t>
            </a:r>
          </a:p>
          <a:p>
            <a:pPr algn="l"/>
            <a:r>
              <a:rPr lang="pl-PL" sz="1600" b="0" i="0" dirty="0">
                <a:solidFill>
                  <a:srgbClr val="1B1B1B"/>
                </a:solidFill>
                <a:effectLst/>
                <a:latin typeface="Mundial"/>
              </a:rPr>
              <a:t>Po dostarczeniu gaśnicy w pobliże </a:t>
            </a:r>
            <a:r>
              <a:rPr lang="pl-PL" sz="1600" b="1" i="0" dirty="0">
                <a:solidFill>
                  <a:srgbClr val="1B1B1B"/>
                </a:solidFill>
                <a:effectLst/>
                <a:latin typeface="Mundial"/>
              </a:rPr>
              <a:t>pożaru zrywamy plombę zabezpieczającą uruchamiamy zawór i kierujemy strumień dwutlenku węgla na ognisko pożaru.</a:t>
            </a:r>
            <a:r>
              <a:rPr lang="pl-PL" sz="1600" b="0" i="0" dirty="0">
                <a:solidFill>
                  <a:srgbClr val="1B1B1B"/>
                </a:solidFill>
                <a:effectLst/>
                <a:latin typeface="Mundial"/>
              </a:rPr>
              <a:t> Działanie gaśnicze można w każdej chwili przerwać zamykając zawór.</a:t>
            </a:r>
            <a:br>
              <a:rPr lang="pl-PL" sz="1800" dirty="0">
                <a:latin typeface="Mundial"/>
              </a:rPr>
            </a:br>
            <a:r>
              <a:rPr lang="pl-PL" sz="1800" b="0" i="0" dirty="0">
                <a:solidFill>
                  <a:srgbClr val="1B1B1B"/>
                </a:solidFill>
                <a:effectLst/>
                <a:latin typeface="Mundial"/>
              </a:rPr>
              <a:t>Należy pamiętać o tym że:</a:t>
            </a:r>
            <a:br>
              <a:rPr lang="pl-PL" sz="1800" dirty="0">
                <a:latin typeface="Mundial"/>
              </a:rPr>
            </a:br>
            <a:r>
              <a:rPr lang="pl-PL" sz="1800" b="0" i="0" dirty="0">
                <a:solidFill>
                  <a:srgbClr val="1B1B1B"/>
                </a:solidFill>
                <a:effectLst/>
                <a:latin typeface="Mundial"/>
              </a:rPr>
              <a:t>- w czasie działania gaśnicy trzymać ją tylko za uchwyty,</a:t>
            </a:r>
            <a:br>
              <a:rPr lang="pl-PL" sz="1800" dirty="0">
                <a:latin typeface="Mundial"/>
              </a:rPr>
            </a:br>
            <a:r>
              <a:rPr lang="pl-PL" sz="1800" b="0" i="0" dirty="0">
                <a:solidFill>
                  <a:srgbClr val="1B1B1B"/>
                </a:solidFill>
                <a:effectLst/>
                <a:latin typeface="Mundial"/>
              </a:rPr>
              <a:t>- </a:t>
            </a:r>
            <a:r>
              <a:rPr lang="pl-PL" sz="1800" b="0" i="0" u="sng" dirty="0">
                <a:solidFill>
                  <a:srgbClr val="1B1B1B"/>
                </a:solidFill>
                <a:effectLst/>
                <a:latin typeface="Mundial"/>
              </a:rPr>
              <a:t>nie wolno używać tych gaśnic do gaszenia ludzi.</a:t>
            </a:r>
            <a:br>
              <a:rPr lang="pl-PL" sz="1800" dirty="0">
                <a:latin typeface="Mundial"/>
              </a:rPr>
            </a:br>
            <a:r>
              <a:rPr lang="pl-PL" sz="1800" b="0" i="0" dirty="0">
                <a:solidFill>
                  <a:srgbClr val="1B1B1B"/>
                </a:solidFill>
                <a:effectLst/>
                <a:latin typeface="Mundial"/>
              </a:rPr>
              <a:t>Ze względu na swoją budowę syfonową gaśnica prawidłowo pracuje tylko w pozycji pionowej.</a:t>
            </a:r>
            <a:endParaRPr lang="pl-PL" sz="1800" b="0" i="0" dirty="0">
              <a:effectLst/>
              <a:latin typeface="Mundial"/>
            </a:endParaRPr>
          </a:p>
          <a:p>
            <a:pPr algn="l"/>
            <a:endParaRPr lang="pl-PL" sz="2000" b="0" i="0" dirty="0">
              <a:effectLst/>
              <a:latin typeface="Mundial"/>
            </a:endParaRPr>
          </a:p>
          <a:p>
            <a:endParaRPr lang="pl-PL" sz="1800" b="0" i="0" u="none" strike="noStrike" baseline="0" dirty="0">
              <a:solidFill>
                <a:srgbClr val="000000"/>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9" name="Obraz 8">
            <a:extLst>
              <a:ext uri="{FF2B5EF4-FFF2-40B4-BE49-F238E27FC236}">
                <a16:creationId xmlns:a16="http://schemas.microsoft.com/office/drawing/2014/main" id="{3259B178-7735-E47E-3441-D66E124DA942}"/>
              </a:ext>
            </a:extLst>
          </p:cNvPr>
          <p:cNvPicPr>
            <a:picLocks noChangeAspect="1"/>
          </p:cNvPicPr>
          <p:nvPr/>
        </p:nvPicPr>
        <p:blipFill>
          <a:blip r:embed="rId4"/>
          <a:stretch>
            <a:fillRect/>
          </a:stretch>
        </p:blipFill>
        <p:spPr>
          <a:xfrm>
            <a:off x="9645162" y="1685256"/>
            <a:ext cx="1988732" cy="4093537"/>
          </a:xfrm>
          <a:prstGeom prst="rect">
            <a:avLst/>
          </a:prstGeom>
        </p:spPr>
      </p:pic>
    </p:spTree>
    <p:extLst>
      <p:ext uri="{BB962C8B-B14F-4D97-AF65-F5344CB8AC3E}">
        <p14:creationId xmlns:p14="http://schemas.microsoft.com/office/powerpoint/2010/main" val="25243467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Zasady ochrony przeciwpożarowej</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107</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148478"/>
            <a:ext cx="6690947" cy="5217989"/>
          </a:xfrm>
        </p:spPr>
        <p:txBody>
          <a:bodyPr numCol="1"/>
          <a:lstStyle/>
          <a:p>
            <a:pPr algn="ctr"/>
            <a:r>
              <a:rPr lang="pl-PL" sz="2000" b="1" i="0" dirty="0">
                <a:solidFill>
                  <a:srgbClr val="C00000"/>
                </a:solidFill>
                <a:effectLst/>
                <a:latin typeface="Mundial"/>
              </a:rPr>
              <a:t>PODRĘCZNY SPRZĘT GAŚNICZY – ZASADY UŻYTKOWANIA</a:t>
            </a:r>
          </a:p>
          <a:p>
            <a:pPr algn="l"/>
            <a:r>
              <a:rPr lang="pl-PL" sz="1800" b="1" i="0" dirty="0">
                <a:effectLst/>
                <a:latin typeface="Mundial"/>
              </a:rPr>
              <a:t>KOC GAŚNICZY</a:t>
            </a:r>
          </a:p>
          <a:p>
            <a:pPr algn="l"/>
            <a:r>
              <a:rPr lang="pl-PL" sz="1800" b="0" i="0" dirty="0">
                <a:solidFill>
                  <a:srgbClr val="1B1B1B"/>
                </a:solidFill>
                <a:effectLst/>
                <a:latin typeface="Mundial"/>
              </a:rPr>
              <a:t>to płachta z tkaniny całkowicie niepalnej (włókna szklanego) o powierzchni około 2 m</a:t>
            </a:r>
            <a:r>
              <a:rPr lang="pl-PL" sz="1800" b="0" i="0" baseline="30000" dirty="0">
                <a:solidFill>
                  <a:srgbClr val="1B1B1B"/>
                </a:solidFill>
                <a:effectLst/>
                <a:latin typeface="Mundial"/>
              </a:rPr>
              <a:t>2</a:t>
            </a:r>
            <a:r>
              <a:rPr lang="pl-PL" sz="1800" b="0" i="0" dirty="0">
                <a:solidFill>
                  <a:srgbClr val="1B1B1B"/>
                </a:solidFill>
                <a:effectLst/>
                <a:latin typeface="Mundial"/>
              </a:rPr>
              <a:t>. Przechowywany jest w specjalnym futerale. Służy do tłumienia pożaru w zarodku przez odcięcie dopływu powietrza do palącego się przedmiotu.</a:t>
            </a:r>
            <a:br>
              <a:rPr lang="pl-PL" sz="1800" dirty="0">
                <a:latin typeface="Mundial"/>
              </a:rPr>
            </a:br>
            <a:r>
              <a:rPr lang="pl-PL" sz="1800" b="1" i="0" dirty="0">
                <a:solidFill>
                  <a:srgbClr val="1B1B1B"/>
                </a:solidFill>
                <a:effectLst/>
                <a:latin typeface="Mundial"/>
              </a:rPr>
              <a:t>Sposób użycia:</a:t>
            </a:r>
            <a:br>
              <a:rPr lang="pl-PL" sz="1800" dirty="0">
                <a:latin typeface="Mundial"/>
              </a:rPr>
            </a:br>
            <a:r>
              <a:rPr lang="pl-PL" sz="1800" b="0" i="0" dirty="0">
                <a:solidFill>
                  <a:srgbClr val="1B1B1B"/>
                </a:solidFill>
                <a:effectLst/>
                <a:latin typeface="Mundial"/>
              </a:rPr>
              <a:t>- wyjąć koc z futerału,</a:t>
            </a:r>
            <a:br>
              <a:rPr lang="pl-PL" sz="1800" dirty="0">
                <a:latin typeface="Mundial"/>
              </a:rPr>
            </a:br>
            <a:r>
              <a:rPr lang="pl-PL" sz="1800" b="0" i="0" dirty="0">
                <a:solidFill>
                  <a:srgbClr val="1B1B1B"/>
                </a:solidFill>
                <a:effectLst/>
                <a:latin typeface="Mundial"/>
              </a:rPr>
              <a:t>- rozłożyć i szczelnie przykryć palący się przedmiot.</a:t>
            </a:r>
            <a:br>
              <a:rPr lang="pl-PL" sz="1800" dirty="0">
                <a:latin typeface="Mundial"/>
              </a:rPr>
            </a:br>
            <a:r>
              <a:rPr lang="pl-PL" sz="1800" b="0" i="0" u="sng" dirty="0">
                <a:solidFill>
                  <a:srgbClr val="1B1B1B"/>
                </a:solidFill>
                <a:effectLst/>
                <a:latin typeface="Mundial"/>
              </a:rPr>
              <a:t>W przypadku gaszenia ludzi należy osobę przewrócić i przykryć ją szczelnie kocem. </a:t>
            </a:r>
          </a:p>
          <a:p>
            <a:pPr algn="l"/>
            <a:r>
              <a:rPr lang="pl-PL" sz="1800" b="0" i="0" dirty="0">
                <a:solidFill>
                  <a:srgbClr val="1B1B1B"/>
                </a:solidFill>
                <a:effectLst/>
                <a:latin typeface="Mundial"/>
              </a:rPr>
              <a:t>Koce gaśnicze można wykorzystywać do przenoszenia ewakuowanego mienia.</a:t>
            </a:r>
            <a:endParaRPr lang="pl-PL" sz="1800" b="0" i="0" dirty="0">
              <a:effectLst/>
              <a:latin typeface="Mundial"/>
            </a:endParaRPr>
          </a:p>
          <a:p>
            <a:pPr algn="l"/>
            <a:endParaRPr lang="pl-PL" sz="2000" b="0" i="0" dirty="0">
              <a:effectLst/>
              <a:latin typeface="Mundial"/>
            </a:endParaRPr>
          </a:p>
          <a:p>
            <a:endParaRPr lang="pl-PL" sz="1800" b="0" i="0" u="none" strike="noStrike" baseline="0" dirty="0">
              <a:solidFill>
                <a:srgbClr val="000000"/>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9" name="Obraz 8">
            <a:extLst>
              <a:ext uri="{FF2B5EF4-FFF2-40B4-BE49-F238E27FC236}">
                <a16:creationId xmlns:a16="http://schemas.microsoft.com/office/drawing/2014/main" id="{E610954D-4993-9F6B-E7C3-46B7DB29B4B7}"/>
              </a:ext>
            </a:extLst>
          </p:cNvPr>
          <p:cNvPicPr>
            <a:picLocks noChangeAspect="1"/>
          </p:cNvPicPr>
          <p:nvPr/>
        </p:nvPicPr>
        <p:blipFill>
          <a:blip r:embed="rId4"/>
          <a:stretch>
            <a:fillRect/>
          </a:stretch>
        </p:blipFill>
        <p:spPr>
          <a:xfrm>
            <a:off x="9560501" y="654776"/>
            <a:ext cx="2160021" cy="3792594"/>
          </a:xfrm>
          <a:prstGeom prst="rect">
            <a:avLst/>
          </a:prstGeom>
        </p:spPr>
      </p:pic>
      <p:pic>
        <p:nvPicPr>
          <p:cNvPr id="11" name="Obraz 10">
            <a:extLst>
              <a:ext uri="{FF2B5EF4-FFF2-40B4-BE49-F238E27FC236}">
                <a16:creationId xmlns:a16="http://schemas.microsoft.com/office/drawing/2014/main" id="{C4CDCB5F-E3DF-4057-45FB-4A698E93B6FE}"/>
              </a:ext>
            </a:extLst>
          </p:cNvPr>
          <p:cNvPicPr>
            <a:picLocks noChangeAspect="1"/>
          </p:cNvPicPr>
          <p:nvPr/>
        </p:nvPicPr>
        <p:blipFill>
          <a:blip r:embed="rId5"/>
          <a:stretch>
            <a:fillRect/>
          </a:stretch>
        </p:blipFill>
        <p:spPr>
          <a:xfrm>
            <a:off x="9889917" y="4576640"/>
            <a:ext cx="1585849" cy="1916234"/>
          </a:xfrm>
          <a:prstGeom prst="rect">
            <a:avLst/>
          </a:prstGeom>
        </p:spPr>
      </p:pic>
    </p:spTree>
    <p:extLst>
      <p:ext uri="{BB962C8B-B14F-4D97-AF65-F5344CB8AC3E}">
        <p14:creationId xmlns:p14="http://schemas.microsoft.com/office/powerpoint/2010/main" val="379459036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Zasady ochrony przeciwpożarowej</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108</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148478"/>
            <a:ext cx="6690947" cy="5217989"/>
          </a:xfrm>
        </p:spPr>
        <p:txBody>
          <a:bodyPr numCol="1"/>
          <a:lstStyle/>
          <a:p>
            <a:pPr algn="ctr"/>
            <a:r>
              <a:rPr lang="pl-PL" sz="2000" b="1" i="0" dirty="0">
                <a:solidFill>
                  <a:srgbClr val="C00000"/>
                </a:solidFill>
                <a:effectLst/>
                <a:latin typeface="Mundial"/>
              </a:rPr>
              <a:t>PODRĘCZNY SPRZĘT GAŚNICZY – ZASADY UŻYTKOWANIA</a:t>
            </a:r>
          </a:p>
          <a:p>
            <a:pPr algn="l"/>
            <a:r>
              <a:rPr lang="pl-PL" sz="1800" b="1" i="0" dirty="0">
                <a:effectLst/>
                <a:latin typeface="Mundial"/>
              </a:rPr>
              <a:t>HYDRANT WEWNĘTRZNY</a:t>
            </a:r>
          </a:p>
          <a:p>
            <a:pPr algn="l">
              <a:spcBef>
                <a:spcPts val="0"/>
              </a:spcBef>
            </a:pPr>
            <a:r>
              <a:rPr lang="pl-PL" sz="1600" b="0" i="0" dirty="0">
                <a:solidFill>
                  <a:srgbClr val="1B1B1B"/>
                </a:solidFill>
                <a:effectLst/>
                <a:latin typeface="Mundial"/>
              </a:rPr>
              <a:t>to zawór zainstalowany na specjalnej sieci wodociągowej obudowany szafką i wyposażony w wąż pożarniczy i prądownicę. Ma on zastosowanie do </a:t>
            </a:r>
            <a:r>
              <a:rPr lang="pl-PL" sz="1600" dirty="0">
                <a:solidFill>
                  <a:srgbClr val="1B1B1B"/>
                </a:solidFill>
                <a:latin typeface="Mundial"/>
              </a:rPr>
              <a:t>gaszenia </a:t>
            </a:r>
            <a:r>
              <a:rPr lang="pl-PL" sz="1600" b="0" i="0" dirty="0">
                <a:solidFill>
                  <a:srgbClr val="1B1B1B"/>
                </a:solidFill>
                <a:effectLst/>
                <a:latin typeface="Mundial"/>
              </a:rPr>
              <a:t>pożarów w zarodku wszędzie tam, gdzie jako środek gaśniczy stosuje się wodę.</a:t>
            </a:r>
            <a:br>
              <a:rPr lang="pl-PL" sz="1600" dirty="0">
                <a:latin typeface="Mundial"/>
              </a:rPr>
            </a:br>
            <a:r>
              <a:rPr lang="pl-PL" sz="1600" b="1" i="0" dirty="0">
                <a:solidFill>
                  <a:srgbClr val="1B1B1B"/>
                </a:solidFill>
                <a:effectLst/>
                <a:latin typeface="Mundial"/>
              </a:rPr>
              <a:t>Sposób użycia:</a:t>
            </a:r>
            <a:br>
              <a:rPr lang="pl-PL" sz="1600" dirty="0">
                <a:latin typeface="Mundial"/>
              </a:rPr>
            </a:br>
            <a:r>
              <a:rPr lang="pl-PL" sz="1600" b="0" i="0" dirty="0">
                <a:solidFill>
                  <a:srgbClr val="1B1B1B"/>
                </a:solidFill>
                <a:effectLst/>
                <a:latin typeface="Mundial"/>
              </a:rPr>
              <a:t>- otworzyć drzwiczki szafki, sprawdzić czy podłączony jest wąż i prądownica,</a:t>
            </a:r>
            <a:br>
              <a:rPr lang="pl-PL" sz="1600" dirty="0">
                <a:latin typeface="Mundial"/>
              </a:rPr>
            </a:br>
            <a:r>
              <a:rPr lang="pl-PL" sz="1600" b="0" i="0" dirty="0">
                <a:solidFill>
                  <a:srgbClr val="1B1B1B"/>
                </a:solidFill>
                <a:effectLst/>
                <a:latin typeface="Mundial"/>
              </a:rPr>
              <a:t>- rozwinąć odcinek węża w całości unikając zagięć i załamań,</a:t>
            </a:r>
            <a:br>
              <a:rPr lang="pl-PL" sz="1600" dirty="0">
                <a:latin typeface="Mundial"/>
              </a:rPr>
            </a:br>
            <a:r>
              <a:rPr lang="pl-PL" sz="1600" b="0" i="0" dirty="0">
                <a:solidFill>
                  <a:srgbClr val="1B1B1B"/>
                </a:solidFill>
                <a:effectLst/>
                <a:latin typeface="Mundial"/>
              </a:rPr>
              <a:t>- skierować strumień wody na miejsce pożaru.</a:t>
            </a:r>
            <a:br>
              <a:rPr lang="pl-PL" sz="1600" dirty="0">
                <a:latin typeface="Mundial"/>
              </a:rPr>
            </a:br>
            <a:br>
              <a:rPr lang="pl-PL" sz="1600" dirty="0">
                <a:latin typeface="Mundial"/>
              </a:rPr>
            </a:br>
            <a:r>
              <a:rPr lang="pl-PL" sz="1600" b="0" i="0" dirty="0">
                <a:solidFill>
                  <a:srgbClr val="1B1B1B"/>
                </a:solidFill>
                <a:effectLst/>
                <a:latin typeface="Mundial"/>
              </a:rPr>
              <a:t>Obsługę hydrantu powinny stanowić </a:t>
            </a:r>
            <a:r>
              <a:rPr lang="pl-PL" sz="1600" b="1" i="0" dirty="0">
                <a:solidFill>
                  <a:srgbClr val="1B1B1B"/>
                </a:solidFill>
                <a:effectLst/>
                <a:latin typeface="Mundial"/>
              </a:rPr>
              <a:t>dwie osoby, </a:t>
            </a:r>
            <a:r>
              <a:rPr lang="pl-PL" sz="1600" b="0" i="0" dirty="0">
                <a:solidFill>
                  <a:srgbClr val="1B1B1B"/>
                </a:solidFill>
                <a:effectLst/>
                <a:latin typeface="Mundial"/>
              </a:rPr>
              <a:t>jedna obsługuje prądownicę, a druga obsługuje zawór hydrantowy dawkując ilość wody. </a:t>
            </a:r>
          </a:p>
          <a:p>
            <a:pPr algn="ctr">
              <a:spcBef>
                <a:spcPts val="0"/>
              </a:spcBef>
            </a:pPr>
            <a:endParaRPr lang="pl-PL" sz="1600" b="1" i="0" dirty="0">
              <a:solidFill>
                <a:srgbClr val="C00000"/>
              </a:solidFill>
              <a:effectLst/>
              <a:latin typeface="Mundial"/>
            </a:endParaRPr>
          </a:p>
          <a:p>
            <a:pPr algn="ctr">
              <a:spcBef>
                <a:spcPts val="0"/>
              </a:spcBef>
            </a:pPr>
            <a:r>
              <a:rPr lang="pl-PL" sz="1600" b="1" i="0" dirty="0">
                <a:solidFill>
                  <a:srgbClr val="C00000"/>
                </a:solidFill>
                <a:effectLst/>
                <a:latin typeface="Mundial"/>
              </a:rPr>
              <a:t>Wodą nie gasimy urządzeń pod napięciem elektrycznym oraz w ich obrębie jak również innych substancji, które z wodą tworzą gazy palne np. karbid.</a:t>
            </a:r>
          </a:p>
          <a:p>
            <a:pPr algn="l"/>
            <a:endParaRPr lang="pl-PL" sz="2000" b="0" i="0" dirty="0">
              <a:effectLst/>
              <a:latin typeface="Mundial"/>
            </a:endParaRPr>
          </a:p>
          <a:p>
            <a:endParaRPr lang="pl-PL" sz="1800" b="0" i="0" u="none" strike="noStrike" baseline="0" dirty="0">
              <a:solidFill>
                <a:srgbClr val="000000"/>
              </a:solidFill>
              <a:latin typeface="Mundial"/>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ydrant wewnętrzny o stałej wydajności DN25 z miejscem na gaśnicę - SUPRON 3">
            <a:extLst>
              <a:ext uri="{FF2B5EF4-FFF2-40B4-BE49-F238E27FC236}">
                <a16:creationId xmlns:a16="http://schemas.microsoft.com/office/drawing/2014/main" id="{879BE402-3A8F-2C5D-3474-1FFEA2A1BF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56845" y="1421266"/>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ras Hydrant wewnętrzny HW-25W-30, podtynkowy, 75x70cm, wąż 30m, biały, z szybką kod HW-25W-30-UNBPS">
            <a:extLst>
              <a:ext uri="{FF2B5EF4-FFF2-40B4-BE49-F238E27FC236}">
                <a16:creationId xmlns:a16="http://schemas.microsoft.com/office/drawing/2014/main" id="{E6281270-92E2-40A9-4F1F-DE99CDCCF6B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22917" y="3982914"/>
            <a:ext cx="2303585" cy="2303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99754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Zasady ochrony przeciwpożarowej</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109</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148478"/>
            <a:ext cx="8720548" cy="5217989"/>
          </a:xfrm>
        </p:spPr>
        <p:txBody>
          <a:bodyPr numCol="1"/>
          <a:lstStyle/>
          <a:p>
            <a:pPr algn="ctr"/>
            <a:r>
              <a:rPr lang="pl-PL" sz="2000" b="1" dirty="0">
                <a:solidFill>
                  <a:srgbClr val="C00000"/>
                </a:solidFill>
                <a:latin typeface="Mundial"/>
              </a:rPr>
              <a:t>ŚRODKI OCHRONY PRZECIWPOŻAROWEJ – ZNAKOWANIE PUNKTOWE</a:t>
            </a:r>
          </a:p>
          <a:p>
            <a:pPr algn="l"/>
            <a:endParaRPr lang="pl-PL" sz="2000" b="1" i="0" dirty="0">
              <a:solidFill>
                <a:srgbClr val="C00000"/>
              </a:solidFill>
              <a:effectLst/>
              <a:latin typeface="Mundial"/>
            </a:endParaRPr>
          </a:p>
          <a:p>
            <a:pPr algn="l"/>
            <a:endParaRPr lang="pl-PL" sz="1800" b="0" i="0" dirty="0">
              <a:effectLst/>
              <a:latin typeface="Mundial"/>
            </a:endParaRPr>
          </a:p>
          <a:p>
            <a:pPr algn="l"/>
            <a:endParaRPr lang="pl-PL" sz="2000" b="0" i="0" dirty="0">
              <a:effectLst/>
              <a:latin typeface="Mundial"/>
            </a:endParaRPr>
          </a:p>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7" name="Obraz 6">
            <a:extLst>
              <a:ext uri="{FF2B5EF4-FFF2-40B4-BE49-F238E27FC236}">
                <a16:creationId xmlns:a16="http://schemas.microsoft.com/office/drawing/2014/main" id="{8609D878-0D46-632D-D9D1-BE23AB035524}"/>
              </a:ext>
            </a:extLst>
          </p:cNvPr>
          <p:cNvPicPr>
            <a:picLocks noChangeAspect="1"/>
          </p:cNvPicPr>
          <p:nvPr/>
        </p:nvPicPr>
        <p:blipFill>
          <a:blip r:embed="rId4"/>
          <a:stretch>
            <a:fillRect/>
          </a:stretch>
        </p:blipFill>
        <p:spPr>
          <a:xfrm>
            <a:off x="3182856" y="2347545"/>
            <a:ext cx="8566561" cy="3658433"/>
          </a:xfrm>
          <a:prstGeom prst="rect">
            <a:avLst/>
          </a:prstGeom>
        </p:spPr>
      </p:pic>
    </p:spTree>
    <p:extLst>
      <p:ext uri="{BB962C8B-B14F-4D97-AF65-F5344CB8AC3E}">
        <p14:creationId xmlns:p14="http://schemas.microsoft.com/office/powerpoint/2010/main" val="33110705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Ewakuacja</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110</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558562" y="820005"/>
            <a:ext cx="9190855" cy="5217989"/>
          </a:xfrm>
        </p:spPr>
        <p:txBody>
          <a:bodyPr numCol="1"/>
          <a:lstStyle/>
          <a:p>
            <a:pPr algn="ctr"/>
            <a:r>
              <a:rPr lang="pl-PL" sz="2400" b="1" i="0" dirty="0">
                <a:solidFill>
                  <a:srgbClr val="C00000"/>
                </a:solidFill>
                <a:effectLst/>
                <a:latin typeface="Mundial"/>
              </a:rPr>
              <a:t>ZASADY EWAKUACJI</a:t>
            </a:r>
          </a:p>
          <a:p>
            <a:pPr algn="ctr"/>
            <a:r>
              <a:rPr lang="pl-PL" sz="2000" b="1" dirty="0">
                <a:latin typeface="Mundial"/>
              </a:rPr>
              <a:t>Ewakuacja to szybkie i bezpieczne opuszczenie przez Studentów i pracowników pomieszczeń zagrożonych drogami wyznaczonymi i wyjściami do stref bezpiecznych</a:t>
            </a:r>
            <a:endParaRPr lang="pl-PL" sz="2000" b="1" i="0" dirty="0">
              <a:effectLst/>
              <a:latin typeface="Mundial"/>
            </a:endParaRPr>
          </a:p>
          <a:p>
            <a:pPr>
              <a:lnSpc>
                <a:spcPct val="107000"/>
              </a:lnSpc>
              <a:spcAft>
                <a:spcPts val="800"/>
              </a:spcAft>
            </a:pPr>
            <a:r>
              <a:rPr lang="pl-PL" sz="1800" dirty="0">
                <a:effectLst/>
                <a:latin typeface="Mundial"/>
                <a:ea typeface="Calibri" panose="020F0502020204030204" pitchFamily="34" charset="0"/>
                <a:cs typeface="Times New Roman" panose="02020603050405020304" pitchFamily="18" charset="0"/>
              </a:rPr>
              <a:t>Ewakuacja może nastąpić samorzutnie po wykryciu pożaru/zagrożenia lub po zarządzeniu ewakuacji</a:t>
            </a:r>
            <a:r>
              <a:rPr lang="pl-PL" sz="1800" dirty="0">
                <a:latin typeface="Mundial"/>
                <a:ea typeface="Calibri" panose="020F0502020204030204" pitchFamily="34" charset="0"/>
                <a:cs typeface="Times New Roman" panose="02020603050405020304" pitchFamily="18" charset="0"/>
              </a:rPr>
              <a:t>. Osobą odpowiedzialną za kierowanie ewakuacją jest </a:t>
            </a:r>
            <a:r>
              <a:rPr lang="pl-PL" sz="1800" dirty="0">
                <a:effectLst/>
                <a:latin typeface="Mundial"/>
                <a:ea typeface="Calibri" panose="020F0502020204030204" pitchFamily="34" charset="0"/>
                <a:cs typeface="Times New Roman" panose="02020603050405020304" pitchFamily="18" charset="0"/>
              </a:rPr>
              <a:t>Dyrektor Administracyjny.</a:t>
            </a:r>
            <a:endParaRPr lang="pl-PL" sz="1100" dirty="0">
              <a:latin typeface="Mundial"/>
              <a:ea typeface="Calibri" panose="020F0502020204030204" pitchFamily="34" charset="0"/>
              <a:cs typeface="Times New Roman" panose="02020603050405020304" pitchFamily="18" charset="0"/>
            </a:endParaRPr>
          </a:p>
          <a:p>
            <a:pPr>
              <a:lnSpc>
                <a:spcPct val="107000"/>
              </a:lnSpc>
              <a:spcAft>
                <a:spcPts val="800"/>
              </a:spcAft>
            </a:pPr>
            <a:r>
              <a:rPr lang="pl-PL" sz="1800" dirty="0">
                <a:latin typeface="Mundial"/>
                <a:ea typeface="Calibri" panose="020F0502020204030204" pitchFamily="34" charset="0"/>
                <a:cs typeface="Times New Roman" panose="02020603050405020304" pitchFamily="18" charset="0"/>
              </a:rPr>
              <a:t>Środki i sposoby ogłaszania alarmu o niebezpieczeństwie:</a:t>
            </a:r>
          </a:p>
          <a:p>
            <a:pPr marL="379413" indent="-285750">
              <a:lnSpc>
                <a:spcPct val="107000"/>
              </a:lnSpc>
              <a:spcBef>
                <a:spcPts val="0"/>
              </a:spcBef>
              <a:buFont typeface="Wingdings" panose="05000000000000000000" pitchFamily="2" charset="2"/>
              <a:buChar char="ü"/>
            </a:pPr>
            <a:r>
              <a:rPr lang="pl-PL" sz="1800" dirty="0">
                <a:effectLst/>
                <a:latin typeface="Mundial"/>
                <a:ea typeface="Calibri" panose="020F0502020204030204" pitchFamily="34" charset="0"/>
                <a:cs typeface="Times New Roman" panose="02020603050405020304" pitchFamily="18" charset="0"/>
              </a:rPr>
              <a:t>telefony,</a:t>
            </a:r>
          </a:p>
          <a:p>
            <a:pPr marL="379413" indent="-285750">
              <a:lnSpc>
                <a:spcPct val="107000"/>
              </a:lnSpc>
              <a:spcBef>
                <a:spcPts val="0"/>
              </a:spcBef>
              <a:buFont typeface="Wingdings" panose="05000000000000000000" pitchFamily="2" charset="2"/>
              <a:buChar char="ü"/>
            </a:pPr>
            <a:r>
              <a:rPr lang="pl-PL" sz="1800" dirty="0">
                <a:latin typeface="Mundial"/>
                <a:ea typeface="Calibri" panose="020F0502020204030204" pitchFamily="34" charset="0"/>
                <a:cs typeface="Times New Roman" panose="02020603050405020304" pitchFamily="18" charset="0"/>
              </a:rPr>
              <a:t>bezpośrednie powiadomienia głosem przez pracowników</a:t>
            </a:r>
          </a:p>
          <a:p>
            <a:pPr>
              <a:lnSpc>
                <a:spcPct val="107000"/>
              </a:lnSpc>
              <a:spcAft>
                <a:spcPts val="800"/>
              </a:spcAft>
            </a:pPr>
            <a:endParaRPr lang="pl-PL" sz="2000" u="sng" dirty="0">
              <a:effectLst/>
              <a:latin typeface="Mundial"/>
              <a:ea typeface="Calibri" panose="020F0502020204030204" pitchFamily="34" charset="0"/>
              <a:cs typeface="Times New Roman" panose="02020603050405020304" pitchFamily="18" charset="0"/>
            </a:endParaRPr>
          </a:p>
          <a:p>
            <a:pPr>
              <a:lnSpc>
                <a:spcPct val="107000"/>
              </a:lnSpc>
              <a:spcAft>
                <a:spcPts val="800"/>
              </a:spcAft>
            </a:pPr>
            <a:r>
              <a:rPr lang="pl-PL" sz="2000" u="sng" dirty="0">
                <a:effectLst/>
                <a:latin typeface="Mundial"/>
                <a:ea typeface="Calibri" panose="020F0502020204030204" pitchFamily="34" charset="0"/>
                <a:cs typeface="Times New Roman" panose="02020603050405020304" pitchFamily="18" charset="0"/>
              </a:rPr>
              <a:t>Przykładowy komunikat wzywający do natychmiastowej ewakuacji: </a:t>
            </a:r>
          </a:p>
          <a:p>
            <a:pPr algn="ctr">
              <a:lnSpc>
                <a:spcPct val="107000"/>
              </a:lnSpc>
              <a:spcAft>
                <a:spcPts val="800"/>
              </a:spcAft>
            </a:pPr>
            <a:r>
              <a:rPr lang="pl-PL" sz="2400" b="1" dirty="0">
                <a:solidFill>
                  <a:srgbClr val="C00000"/>
                </a:solidFill>
                <a:latin typeface="Mundial"/>
                <a:ea typeface="Calibri" panose="020F0502020204030204" pitchFamily="34" charset="0"/>
                <a:cs typeface="Times New Roman" panose="02020603050405020304" pitchFamily="18" charset="0"/>
              </a:rPr>
              <a:t>ALARM POŻAROWY – NATYCHMIAST NALEŻY OPUŚCIĆ BUDYNEK!</a:t>
            </a:r>
            <a:endParaRPr lang="pl-PL" sz="2400" b="1" dirty="0">
              <a:solidFill>
                <a:srgbClr val="C00000"/>
              </a:solidFill>
              <a:effectLst/>
              <a:latin typeface="Mundial"/>
              <a:ea typeface="Calibri" panose="020F0502020204030204" pitchFamily="34" charset="0"/>
              <a:cs typeface="Times New Roman" panose="02020603050405020304" pitchFamily="18" charset="0"/>
            </a:endParaRPr>
          </a:p>
          <a:p>
            <a:pPr algn="ctr">
              <a:lnSpc>
                <a:spcPct val="107000"/>
              </a:lnSpc>
              <a:spcAft>
                <a:spcPts val="800"/>
              </a:spcAft>
            </a:pPr>
            <a:endParaRPr lang="pl-PL" sz="2000" b="1" dirty="0">
              <a:effectLst/>
              <a:latin typeface="Mundial"/>
              <a:ea typeface="Calibri" panose="020F0502020204030204" pitchFamily="34" charset="0"/>
              <a:cs typeface="Times New Roman" panose="02020603050405020304" pitchFamily="18" charset="0"/>
            </a:endParaRPr>
          </a:p>
          <a:p>
            <a:pPr algn="l"/>
            <a:endParaRPr lang="pl-PL" sz="1800" b="0" i="0" dirty="0">
              <a:effectLst/>
              <a:latin typeface="Mundial"/>
            </a:endParaRPr>
          </a:p>
          <a:p>
            <a:pPr algn="l"/>
            <a:endParaRPr lang="pl-PL" sz="2000" b="0" i="0" dirty="0">
              <a:effectLst/>
              <a:latin typeface="Mundial"/>
            </a:endParaRPr>
          </a:p>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548278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Ewakuacja</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111</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720548" cy="5217989"/>
          </a:xfrm>
        </p:spPr>
        <p:txBody>
          <a:bodyPr numCol="1"/>
          <a:lstStyle/>
          <a:p>
            <a:pPr algn="ctr"/>
            <a:r>
              <a:rPr lang="pl-PL" sz="2400" b="1" i="0" dirty="0">
                <a:solidFill>
                  <a:srgbClr val="C00000"/>
                </a:solidFill>
                <a:effectLst/>
                <a:latin typeface="Mundial"/>
              </a:rPr>
              <a:t>ZASADY EWAKUACJI</a:t>
            </a:r>
          </a:p>
          <a:p>
            <a:pPr>
              <a:lnSpc>
                <a:spcPct val="107000"/>
              </a:lnSpc>
              <a:spcAft>
                <a:spcPts val="800"/>
              </a:spcAft>
            </a:pPr>
            <a:r>
              <a:rPr lang="pl-PL" sz="2000" b="1" dirty="0">
                <a:effectLst/>
                <a:latin typeface="Mundial"/>
                <a:ea typeface="Calibri" panose="020F0502020204030204" pitchFamily="34" charset="0"/>
                <a:cs typeface="Times New Roman" panose="02020603050405020304" pitchFamily="18" charset="0"/>
              </a:rPr>
              <a:t>Po ogłoszeniu komunikatu należy natychmiast:</a:t>
            </a:r>
            <a:r>
              <a:rPr lang="pl-PL" sz="2000" dirty="0">
                <a:effectLst/>
                <a:latin typeface="Mundial"/>
                <a:ea typeface="Calibri" panose="020F0502020204030204" pitchFamily="34" charset="0"/>
                <a:cs typeface="Times New Roman" panose="02020603050405020304" pitchFamily="18" charset="0"/>
              </a:rPr>
              <a:t> </a:t>
            </a:r>
          </a:p>
          <a:p>
            <a:pPr marL="379413" indent="-285750">
              <a:lnSpc>
                <a:spcPct val="107000"/>
              </a:lnSpc>
              <a:spcBef>
                <a:spcPts val="0"/>
              </a:spcBef>
              <a:buFont typeface="Wingdings" panose="05000000000000000000" pitchFamily="2" charset="2"/>
              <a:buChar char="ü"/>
            </a:pPr>
            <a:r>
              <a:rPr lang="pl-PL" sz="2000" dirty="0">
                <a:effectLst/>
                <a:latin typeface="Mundial"/>
                <a:ea typeface="Calibri" panose="020F0502020204030204" pitchFamily="34" charset="0"/>
                <a:cs typeface="Times New Roman" panose="02020603050405020304" pitchFamily="18" charset="0"/>
              </a:rPr>
              <a:t>przerwać wykonywane czynności</a:t>
            </a:r>
          </a:p>
          <a:p>
            <a:pPr marL="379413" indent="-285750">
              <a:lnSpc>
                <a:spcPct val="107000"/>
              </a:lnSpc>
              <a:spcBef>
                <a:spcPts val="0"/>
              </a:spcBef>
              <a:buFont typeface="Wingdings" panose="05000000000000000000" pitchFamily="2" charset="2"/>
              <a:buChar char="ü"/>
            </a:pPr>
            <a:r>
              <a:rPr lang="pl-PL" sz="2000" dirty="0">
                <a:effectLst/>
                <a:latin typeface="Mundial"/>
                <a:ea typeface="Calibri" panose="020F0502020204030204" pitchFamily="34" charset="0"/>
                <a:cs typeface="Times New Roman" panose="02020603050405020304" pitchFamily="18" charset="0"/>
              </a:rPr>
              <a:t>wyłączyć w pomieszczeniu urządzenia elektryczne (ważne np. w pracownikach komputerowych)</a:t>
            </a:r>
          </a:p>
          <a:p>
            <a:pPr marL="379413" indent="-285750">
              <a:lnSpc>
                <a:spcPct val="107000"/>
              </a:lnSpc>
              <a:spcBef>
                <a:spcPts val="0"/>
              </a:spcBef>
              <a:buFont typeface="Wingdings" panose="05000000000000000000" pitchFamily="2" charset="2"/>
              <a:buChar char="ü"/>
            </a:pPr>
            <a:r>
              <a:rPr lang="pl-PL" sz="2000" dirty="0">
                <a:effectLst/>
                <a:latin typeface="Mundial"/>
                <a:ea typeface="Calibri" panose="020F0502020204030204" pitchFamily="34" charset="0"/>
                <a:cs typeface="Times New Roman" panose="02020603050405020304" pitchFamily="18" charset="0"/>
              </a:rPr>
              <a:t>zamknąć okna, odcinając dopływ tlenu w pomieszczeniu</a:t>
            </a:r>
          </a:p>
          <a:p>
            <a:pPr marL="379413" indent="-285750">
              <a:lnSpc>
                <a:spcPct val="107000"/>
              </a:lnSpc>
              <a:spcBef>
                <a:spcPts val="0"/>
              </a:spcBef>
              <a:buFont typeface="Wingdings" panose="05000000000000000000" pitchFamily="2" charset="2"/>
              <a:buChar char="ü"/>
            </a:pPr>
            <a:r>
              <a:rPr lang="pl-PL" sz="2000" dirty="0">
                <a:latin typeface="Mundial"/>
                <a:ea typeface="Calibri" panose="020F0502020204030204" pitchFamily="34" charset="0"/>
                <a:cs typeface="Times New Roman" panose="02020603050405020304" pitchFamily="18" charset="0"/>
              </a:rPr>
              <a:t>s</a:t>
            </a:r>
            <a:r>
              <a:rPr lang="pl-PL" sz="2000" dirty="0">
                <a:effectLst/>
                <a:latin typeface="Mundial"/>
                <a:ea typeface="Calibri" panose="020F0502020204030204" pitchFamily="34" charset="0"/>
                <a:cs typeface="Times New Roman" panose="02020603050405020304" pitchFamily="18" charset="0"/>
              </a:rPr>
              <a:t>pokojnie opuścić pomieszczenie i udać się w oznakowane miejsce zbiórki ewakuacyjnej</a:t>
            </a:r>
          </a:p>
          <a:p>
            <a:pPr algn="ctr">
              <a:lnSpc>
                <a:spcPct val="107000"/>
              </a:lnSpc>
              <a:spcBef>
                <a:spcPts val="0"/>
              </a:spcBef>
            </a:pPr>
            <a:r>
              <a:rPr lang="pl-PL" sz="2400" b="1" dirty="0">
                <a:solidFill>
                  <a:srgbClr val="C00000"/>
                </a:solidFill>
                <a:latin typeface="Mundial"/>
                <a:ea typeface="Calibri" panose="020F0502020204030204" pitchFamily="34" charset="0"/>
                <a:cs typeface="Times New Roman" panose="02020603050405020304" pitchFamily="18" charset="0"/>
              </a:rPr>
              <a:t>Zachować spokój i unikać paniki</a:t>
            </a:r>
            <a:endParaRPr lang="pl-PL" sz="2400" b="1" dirty="0">
              <a:solidFill>
                <a:srgbClr val="C00000"/>
              </a:solidFill>
              <a:effectLst/>
              <a:latin typeface="Mundial"/>
              <a:ea typeface="Calibri" panose="020F0502020204030204" pitchFamily="34" charset="0"/>
              <a:cs typeface="Times New Roman" panose="02020603050405020304" pitchFamily="18" charset="0"/>
            </a:endParaRPr>
          </a:p>
          <a:p>
            <a:r>
              <a:rPr lang="pl-PL" sz="1800" dirty="0">
                <a:solidFill>
                  <a:schemeClr val="accent6"/>
                </a:solidFill>
                <a:effectLst/>
                <a:latin typeface="Mundial"/>
                <a:ea typeface="Calibri" panose="020F0502020204030204" pitchFamily="34" charset="0"/>
                <a:cs typeface="Times New Roman" panose="02020603050405020304" pitchFamily="18" charset="0"/>
              </a:rPr>
              <a:t>Należy przemieszczać się korytarzami w kierunku do wyjść oraz klatkami schodowymi zgodnie z planszami ewakuacyjnymi (oznaczenia za pomocą fotoluminescencyjnych tabl</a:t>
            </a:r>
            <a:r>
              <a:rPr lang="pl-PL" sz="1800" dirty="0">
                <a:solidFill>
                  <a:schemeClr val="accent6"/>
                </a:solidFill>
                <a:latin typeface="Mundial"/>
                <a:ea typeface="Calibri" panose="020F0502020204030204" pitchFamily="34" charset="0"/>
                <a:cs typeface="Times New Roman" panose="02020603050405020304" pitchFamily="18" charset="0"/>
              </a:rPr>
              <a:t>iczek z piktogramami)</a:t>
            </a:r>
            <a:endParaRPr lang="pl-PL" sz="1800" i="0" dirty="0">
              <a:effectLst/>
              <a:latin typeface="Mundial"/>
            </a:endParaRPr>
          </a:p>
          <a:p>
            <a:r>
              <a:rPr lang="pl-PL" sz="1800" dirty="0">
                <a:solidFill>
                  <a:schemeClr val="accent6"/>
                </a:solidFill>
                <a:effectLst/>
                <a:latin typeface="Mundial"/>
                <a:ea typeface="Calibri" panose="020F0502020204030204" pitchFamily="34" charset="0"/>
                <a:cs typeface="Times New Roman" panose="02020603050405020304" pitchFamily="18" charset="0"/>
              </a:rPr>
              <a:t>Osoby niepełnosprawne lub niemogące poruszać się samodzielnie należy ewakuować przez co najmniej dwie inne osoby sprawne</a:t>
            </a:r>
          </a:p>
          <a:p>
            <a:pPr algn="l"/>
            <a:endParaRPr lang="pl-PL" sz="2000" b="0" i="0" dirty="0">
              <a:effectLst/>
              <a:latin typeface="Mundial"/>
            </a:endParaRPr>
          </a:p>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47811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Ewakuacja</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112</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820005"/>
            <a:ext cx="8720548" cy="5217989"/>
          </a:xfrm>
        </p:spPr>
        <p:txBody>
          <a:bodyPr numCol="1"/>
          <a:lstStyle/>
          <a:p>
            <a:pPr algn="ctr"/>
            <a:r>
              <a:rPr lang="pl-PL" sz="2400" b="1" i="0" dirty="0">
                <a:solidFill>
                  <a:srgbClr val="C00000"/>
                </a:solidFill>
                <a:effectLst/>
                <a:latin typeface="Mundial"/>
              </a:rPr>
              <a:t>ZASADY EWAKUACJI</a:t>
            </a:r>
          </a:p>
          <a:p>
            <a:pPr algn="ctr"/>
            <a:r>
              <a:rPr lang="pl-PL" sz="2000" dirty="0">
                <a:latin typeface="Mundial"/>
              </a:rPr>
              <a:t>Miejsce zbiórki ewakuacyjnej to np.</a:t>
            </a:r>
          </a:p>
          <a:p>
            <a:pPr algn="ctr"/>
            <a:r>
              <a:rPr lang="pl-PL" sz="2000" b="1" dirty="0">
                <a:latin typeface="Mundial"/>
              </a:rPr>
              <a:t>park przed budynkiem głównym od strony pl. Starynkiewicza</a:t>
            </a:r>
          </a:p>
          <a:p>
            <a:pPr algn="l"/>
            <a:r>
              <a:rPr lang="pl-PL" sz="1800" b="1" i="0" dirty="0">
                <a:effectLst/>
                <a:latin typeface="Mundial"/>
              </a:rPr>
              <a:t>Oznakowanie miejsca zbiórki w czasie ewakuacji</a:t>
            </a:r>
          </a:p>
          <a:p>
            <a:pPr algn="l"/>
            <a:endParaRPr lang="pl-PL" sz="2000" b="0" i="0" dirty="0">
              <a:effectLst/>
              <a:latin typeface="Mundial"/>
            </a:endParaRPr>
          </a:p>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Znak ratownictwa Punkt zborny, ISO 7010, folia, długo fosforyzująca, samoprzylepna, 400 x 400 mm">
            <a:extLst>
              <a:ext uri="{FF2B5EF4-FFF2-40B4-BE49-F238E27FC236}">
                <a16:creationId xmlns:a16="http://schemas.microsoft.com/office/drawing/2014/main" id="{202F4950-AF53-5B2A-D95D-7A7FEA4853F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8662" y="3104720"/>
            <a:ext cx="3261747" cy="326174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ZNAK MIEJSCE ZBIÓRKI DO EWAKUACJI 40x60 cm 5mm (MIEJSCE ZBIÓRKI DO  EWAKUACJI 40x60) • Cena, Opinie • Tablice ostrzegawcze 7078707240 • Allegro">
            <a:extLst>
              <a:ext uri="{FF2B5EF4-FFF2-40B4-BE49-F238E27FC236}">
                <a16:creationId xmlns:a16="http://schemas.microsoft.com/office/drawing/2014/main" id="{09873F5F-989F-0CC7-DA0A-64D129DFB4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20206" y="2567613"/>
            <a:ext cx="2991160" cy="3990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65417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Ewakuacja</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113</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148478"/>
            <a:ext cx="8720548" cy="5217989"/>
          </a:xfrm>
        </p:spPr>
        <p:txBody>
          <a:bodyPr numCol="1"/>
          <a:lstStyle/>
          <a:p>
            <a:pPr algn="ctr"/>
            <a:r>
              <a:rPr lang="pl-PL" sz="2400" b="1" i="0" dirty="0">
                <a:solidFill>
                  <a:srgbClr val="C00000"/>
                </a:solidFill>
                <a:effectLst/>
                <a:latin typeface="Mundial"/>
              </a:rPr>
              <a:t>ZASADY EWAKUACJI</a:t>
            </a:r>
          </a:p>
          <a:p>
            <a:pPr>
              <a:lnSpc>
                <a:spcPct val="107000"/>
              </a:lnSpc>
              <a:spcAft>
                <a:spcPts val="800"/>
              </a:spcAft>
            </a:pPr>
            <a:r>
              <a:rPr lang="pl-PL" sz="2000" dirty="0">
                <a:effectLst/>
                <a:latin typeface="Mundial"/>
                <a:ea typeface="Calibri" panose="020F0502020204030204" pitchFamily="34" charset="0"/>
                <a:cs typeface="Times New Roman" panose="02020603050405020304" pitchFamily="18" charset="0"/>
              </a:rPr>
              <a:t>Po ewakuacji należy zamknąć drzwi, ale NIE NA KLUCZ, by umożliwić wyjście osobom, które mogły znaleźć się nadal w strefie zagrożenia</a:t>
            </a:r>
          </a:p>
          <a:p>
            <a:pPr>
              <a:lnSpc>
                <a:spcPct val="107000"/>
              </a:lnSpc>
              <a:spcAft>
                <a:spcPts val="800"/>
              </a:spcAft>
            </a:pPr>
            <a:r>
              <a:rPr lang="pl-PL" sz="2000" dirty="0">
                <a:effectLst/>
                <a:latin typeface="Mundial"/>
                <a:ea typeface="Calibri" panose="020F0502020204030204" pitchFamily="34" charset="0"/>
                <a:cs typeface="Times New Roman" panose="02020603050405020304" pitchFamily="18" charset="0"/>
              </a:rPr>
              <a:t>Gdy w pomieszczeniu pojawił się dym, należy poruszać się blisko podłogi</a:t>
            </a:r>
          </a:p>
          <a:p>
            <a:pPr>
              <a:lnSpc>
                <a:spcPct val="107000"/>
              </a:lnSpc>
              <a:spcAft>
                <a:spcPts val="800"/>
              </a:spcAft>
            </a:pPr>
            <a:r>
              <a:rPr lang="pl-PL" sz="2000" dirty="0">
                <a:effectLst/>
                <a:latin typeface="Mundial"/>
                <a:ea typeface="Calibri" panose="020F0502020204030204" pitchFamily="34" charset="0"/>
                <a:cs typeface="Times New Roman" panose="02020603050405020304" pitchFamily="18" charset="0"/>
              </a:rPr>
              <a:t>Osobom poszkodowanym po przetransportowaniu w bezpieczne miejsce należy udzielić pierwszej pomocy przedmedycznej</a:t>
            </a:r>
          </a:p>
          <a:p>
            <a:pPr>
              <a:lnSpc>
                <a:spcPct val="107000"/>
              </a:lnSpc>
              <a:spcAft>
                <a:spcPts val="800"/>
              </a:spcAft>
            </a:pPr>
            <a:r>
              <a:rPr lang="pl-PL" sz="2000" b="1" dirty="0">
                <a:solidFill>
                  <a:srgbClr val="C00000"/>
                </a:solidFill>
                <a:effectLst/>
                <a:latin typeface="Mundial"/>
                <a:ea typeface="Calibri" panose="020F0502020204030204" pitchFamily="34" charset="0"/>
                <a:cs typeface="Times New Roman" panose="02020603050405020304" pitchFamily="18" charset="0"/>
              </a:rPr>
              <a:t>Wezwać służby ratownicze tel. 998 lub 112</a:t>
            </a:r>
          </a:p>
          <a:p>
            <a:pPr>
              <a:lnSpc>
                <a:spcPct val="107000"/>
              </a:lnSpc>
              <a:spcAft>
                <a:spcPts val="800"/>
              </a:spcAft>
            </a:pPr>
            <a:r>
              <a:rPr lang="pl-PL" sz="2000" dirty="0">
                <a:effectLst/>
                <a:latin typeface="Mundial"/>
                <a:ea typeface="Calibri" panose="020F0502020204030204" pitchFamily="34" charset="0"/>
                <a:cs typeface="Times New Roman" panose="02020603050405020304" pitchFamily="18" charset="0"/>
              </a:rPr>
              <a:t>Osoba kierująca ewakuacją wydaje dyspozycję, czy osoby nieposzkodowane mogą rozejść się (np. do domów), czy mają zostać w miejscu bezpiecznym aż do wydania takiego komunikatu</a:t>
            </a:r>
          </a:p>
          <a:p>
            <a:pPr algn="l"/>
            <a:endParaRPr lang="pl-PL" sz="1800" b="0" i="0" dirty="0">
              <a:effectLst/>
              <a:latin typeface="Mundial"/>
            </a:endParaRPr>
          </a:p>
          <a:p>
            <a:pPr algn="l"/>
            <a:endParaRPr lang="pl-PL" sz="2000" b="0" i="0" dirty="0">
              <a:effectLst/>
              <a:latin typeface="Mundial"/>
            </a:endParaRPr>
          </a:p>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057391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b="1" dirty="0">
                <a:latin typeface="Mundial"/>
              </a:rPr>
              <a:t>Ewakuacja</a:t>
            </a:r>
            <a:endParaRPr lang="pl-PL" sz="2000" b="1" dirty="0">
              <a:latin typeface="Mundial"/>
            </a:endParaRP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114</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148478"/>
            <a:ext cx="8720548" cy="5217989"/>
          </a:xfrm>
        </p:spPr>
        <p:txBody>
          <a:bodyPr numCol="1"/>
          <a:lstStyle/>
          <a:p>
            <a:pPr algn="ctr"/>
            <a:r>
              <a:rPr lang="pl-PL" sz="2000" b="1" dirty="0">
                <a:solidFill>
                  <a:srgbClr val="C00000"/>
                </a:solidFill>
                <a:latin typeface="Mundial"/>
              </a:rPr>
              <a:t>OZNAKOWANIE DRÓG EWAKUACYJNYCH – ZNAKOWANIE PUNKTOWE</a:t>
            </a:r>
          </a:p>
          <a:p>
            <a:pPr algn="l"/>
            <a:endParaRPr lang="pl-PL" sz="2000" b="1" i="0" dirty="0">
              <a:solidFill>
                <a:srgbClr val="C00000"/>
              </a:solidFill>
              <a:effectLst/>
              <a:latin typeface="Mundial"/>
            </a:endParaRPr>
          </a:p>
          <a:p>
            <a:pPr algn="l"/>
            <a:endParaRPr lang="pl-PL" sz="1800" b="0" i="0" dirty="0">
              <a:effectLst/>
              <a:latin typeface="Mundial"/>
            </a:endParaRPr>
          </a:p>
          <a:p>
            <a:pPr algn="l"/>
            <a:endParaRPr lang="pl-PL" sz="2000" b="0" i="0" dirty="0">
              <a:effectLst/>
              <a:latin typeface="Mundial"/>
            </a:endParaRPr>
          </a:p>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9" name="Obraz 8">
            <a:extLst>
              <a:ext uri="{FF2B5EF4-FFF2-40B4-BE49-F238E27FC236}">
                <a16:creationId xmlns:a16="http://schemas.microsoft.com/office/drawing/2014/main" id="{673D7FCC-FFCA-FB27-93ED-2F9FD6DD207F}"/>
              </a:ext>
            </a:extLst>
          </p:cNvPr>
          <p:cNvPicPr>
            <a:picLocks noChangeAspect="1"/>
          </p:cNvPicPr>
          <p:nvPr/>
        </p:nvPicPr>
        <p:blipFill>
          <a:blip r:embed="rId4"/>
          <a:stretch>
            <a:fillRect/>
          </a:stretch>
        </p:blipFill>
        <p:spPr>
          <a:xfrm>
            <a:off x="3668171" y="2288542"/>
            <a:ext cx="7804162" cy="2937860"/>
          </a:xfrm>
          <a:prstGeom prst="rect">
            <a:avLst/>
          </a:prstGeom>
        </p:spPr>
      </p:pic>
    </p:spTree>
    <p:extLst>
      <p:ext uri="{BB962C8B-B14F-4D97-AF65-F5344CB8AC3E}">
        <p14:creationId xmlns:p14="http://schemas.microsoft.com/office/powerpoint/2010/main" val="100616103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26FD64-D232-F26D-6F0E-01828742B7F1}"/>
              </a:ext>
            </a:extLst>
          </p:cNvPr>
          <p:cNvSpPr>
            <a:spLocks noGrp="1"/>
          </p:cNvSpPr>
          <p:nvPr>
            <p:ph type="title"/>
          </p:nvPr>
        </p:nvSpPr>
        <p:spPr>
          <a:xfrm>
            <a:off x="699407" y="1421266"/>
            <a:ext cx="2254808" cy="1532949"/>
          </a:xfrm>
        </p:spPr>
        <p:txBody>
          <a:bodyPr>
            <a:normAutofit/>
          </a:bodyPr>
          <a:lstStyle/>
          <a:p>
            <a:r>
              <a:rPr lang="pl-PL" sz="2000" b="1" dirty="0">
                <a:latin typeface="Mundial"/>
              </a:rPr>
              <a:t>Ewakuacja</a:t>
            </a:r>
          </a:p>
        </p:txBody>
      </p:sp>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115</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148478"/>
            <a:ext cx="8720548" cy="5217989"/>
          </a:xfrm>
        </p:spPr>
        <p:txBody>
          <a:bodyPr numCol="1"/>
          <a:lstStyle/>
          <a:p>
            <a:pPr algn="ctr"/>
            <a:r>
              <a:rPr lang="pl-PL" sz="2000" b="1" dirty="0">
                <a:solidFill>
                  <a:srgbClr val="C00000"/>
                </a:solidFill>
                <a:latin typeface="Mundial"/>
              </a:rPr>
              <a:t>OZNAKOWANIE DRÓG EWAKUACYJNYCH – ZNAKOWANIE PUNKTOWE</a:t>
            </a:r>
          </a:p>
          <a:p>
            <a:pPr algn="l"/>
            <a:endParaRPr lang="pl-PL" sz="2000" b="1" i="0" dirty="0">
              <a:solidFill>
                <a:srgbClr val="C00000"/>
              </a:solidFill>
              <a:effectLst/>
              <a:latin typeface="Mundial"/>
            </a:endParaRPr>
          </a:p>
          <a:p>
            <a:pPr algn="l"/>
            <a:endParaRPr lang="pl-PL" sz="1800" b="0" i="0" dirty="0">
              <a:effectLst/>
              <a:latin typeface="Mundial"/>
            </a:endParaRPr>
          </a:p>
          <a:p>
            <a:pPr algn="l"/>
            <a:endParaRPr lang="pl-PL" sz="2000" b="0" i="0" dirty="0">
              <a:effectLst/>
              <a:latin typeface="Mundial"/>
            </a:endParaRPr>
          </a:p>
          <a:p>
            <a:endParaRPr lang="pl-PL" sz="1800" b="0" i="0" u="none" strike="noStrike" baseline="0" dirty="0">
              <a:solidFill>
                <a:srgbClr val="000000"/>
              </a:solidFill>
              <a:latin typeface="Calibri" panose="020F0502020204030204" pitchFamily="34" charset="0"/>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051246"/>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CA31FD00-09ED-4291-8F79-3EDD99FEC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pic>
        <p:nvPicPr>
          <p:cNvPr id="11" name="Obraz 10">
            <a:extLst>
              <a:ext uri="{FF2B5EF4-FFF2-40B4-BE49-F238E27FC236}">
                <a16:creationId xmlns:a16="http://schemas.microsoft.com/office/drawing/2014/main" id="{A27C576A-D280-4A0F-57F7-EF3C6703259A}"/>
              </a:ext>
            </a:extLst>
          </p:cNvPr>
          <p:cNvPicPr>
            <a:picLocks noChangeAspect="1"/>
          </p:cNvPicPr>
          <p:nvPr/>
        </p:nvPicPr>
        <p:blipFill>
          <a:blip r:embed="rId4"/>
          <a:stretch>
            <a:fillRect/>
          </a:stretch>
        </p:blipFill>
        <p:spPr>
          <a:xfrm>
            <a:off x="3641975" y="1943725"/>
            <a:ext cx="7762456" cy="4257860"/>
          </a:xfrm>
          <a:prstGeom prst="rect">
            <a:avLst/>
          </a:prstGeom>
        </p:spPr>
      </p:pic>
    </p:spTree>
    <p:extLst>
      <p:ext uri="{BB962C8B-B14F-4D97-AF65-F5344CB8AC3E}">
        <p14:creationId xmlns:p14="http://schemas.microsoft.com/office/powerpoint/2010/main" val="49445686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stopki 2">
            <a:extLst>
              <a:ext uri="{FF2B5EF4-FFF2-40B4-BE49-F238E27FC236}">
                <a16:creationId xmlns:a16="http://schemas.microsoft.com/office/drawing/2014/main" id="{76DD1286-0A4E-AB7E-4856-E967EC004FDC}"/>
              </a:ext>
            </a:extLst>
          </p:cNvPr>
          <p:cNvSpPr>
            <a:spLocks noGrp="1"/>
          </p:cNvSpPr>
          <p:nvPr>
            <p:ph type="ftr" sz="quarter" idx="11"/>
          </p:nvPr>
        </p:nvSpPr>
        <p:spPr>
          <a:xfrm>
            <a:off x="3722916" y="365126"/>
            <a:ext cx="3933430" cy="289650"/>
          </a:xfrm>
        </p:spPr>
        <p:txBody>
          <a:bodyPr/>
          <a:lstStyle/>
          <a:p>
            <a:r>
              <a:rPr lang="pl-PL" dirty="0"/>
              <a:t>Polsko-Japońska Akademia Technik Komputerowych </a:t>
            </a:r>
            <a:endParaRPr lang="en-US" dirty="0"/>
          </a:p>
        </p:txBody>
      </p:sp>
      <p:sp>
        <p:nvSpPr>
          <p:cNvPr id="4" name="Symbol zastępczy numeru slajdu 3">
            <a:extLst>
              <a:ext uri="{FF2B5EF4-FFF2-40B4-BE49-F238E27FC236}">
                <a16:creationId xmlns:a16="http://schemas.microsoft.com/office/drawing/2014/main" id="{18461A60-1E2E-4DF9-3DA1-2F26E25DADF8}"/>
              </a:ext>
            </a:extLst>
          </p:cNvPr>
          <p:cNvSpPr>
            <a:spLocks noGrp="1"/>
          </p:cNvSpPr>
          <p:nvPr>
            <p:ph type="sldNum" sz="quarter" idx="12"/>
          </p:nvPr>
        </p:nvSpPr>
        <p:spPr/>
        <p:txBody>
          <a:bodyPr/>
          <a:lstStyle/>
          <a:p>
            <a:fld id="{439CBD9F-C91E-49DF-B625-7C7E2E3EE5C8}" type="slidenum">
              <a:rPr lang="en-US" smtClean="0"/>
              <a:t>116</a:t>
            </a:fld>
            <a:endParaRPr lang="en-US"/>
          </a:p>
        </p:txBody>
      </p:sp>
      <p:sp>
        <p:nvSpPr>
          <p:cNvPr id="5" name="Symbol zastępczy tekstu 4">
            <a:extLst>
              <a:ext uri="{FF2B5EF4-FFF2-40B4-BE49-F238E27FC236}">
                <a16:creationId xmlns:a16="http://schemas.microsoft.com/office/drawing/2014/main" id="{1C88C6F8-A8E3-0708-E853-FF135500345A}"/>
              </a:ext>
            </a:extLst>
          </p:cNvPr>
          <p:cNvSpPr>
            <a:spLocks noGrp="1"/>
          </p:cNvSpPr>
          <p:nvPr>
            <p:ph type="body" sz="quarter" idx="13"/>
          </p:nvPr>
        </p:nvSpPr>
        <p:spPr>
          <a:xfrm>
            <a:off x="2954215" y="1274885"/>
            <a:ext cx="8720548" cy="5217989"/>
          </a:xfrm>
        </p:spPr>
        <p:txBody>
          <a:bodyPr numCol="1"/>
          <a:lstStyle/>
          <a:p>
            <a:pPr algn="ctr"/>
            <a:endParaRPr lang="pl-PL" sz="1600" b="1" i="0" u="none" strike="noStrike" baseline="0" dirty="0">
              <a:solidFill>
                <a:srgbClr val="000000"/>
              </a:solidFill>
              <a:latin typeface="Mundial "/>
            </a:endParaRPr>
          </a:p>
          <a:p>
            <a:pPr algn="ctr"/>
            <a:r>
              <a:rPr lang="pl-PL" sz="3600" b="1" i="0" u="none" strike="noStrike" baseline="0" dirty="0">
                <a:solidFill>
                  <a:srgbClr val="000000"/>
                </a:solidFill>
                <a:latin typeface="Mundial "/>
              </a:rPr>
              <a:t>DZIĘKUJEMY </a:t>
            </a:r>
          </a:p>
          <a:p>
            <a:pPr algn="ctr"/>
            <a:r>
              <a:rPr lang="pl-PL" sz="3600" b="1" i="0" u="none" strike="noStrike" baseline="0" dirty="0">
                <a:solidFill>
                  <a:srgbClr val="000000"/>
                </a:solidFill>
                <a:latin typeface="Mundial "/>
              </a:rPr>
              <a:t>ZA </a:t>
            </a:r>
          </a:p>
          <a:p>
            <a:pPr algn="ctr"/>
            <a:r>
              <a:rPr lang="pl-PL" sz="3600" b="1" i="0" u="none" strike="noStrike" baseline="0" dirty="0">
                <a:solidFill>
                  <a:srgbClr val="000000"/>
                </a:solidFill>
                <a:latin typeface="Mundial "/>
              </a:rPr>
              <a:t>UKOŃCZENIE SZKOLENIA</a:t>
            </a:r>
          </a:p>
          <a:p>
            <a:pPr algn="ctr"/>
            <a:endParaRPr lang="pl-PL" sz="1600" dirty="0">
              <a:solidFill>
                <a:srgbClr val="000000"/>
              </a:solidFill>
              <a:latin typeface="Mundial "/>
            </a:endParaRPr>
          </a:p>
          <a:p>
            <a:pPr algn="ctr"/>
            <a:endParaRPr lang="pl-PL" sz="1600" dirty="0">
              <a:solidFill>
                <a:srgbClr val="000000"/>
              </a:solidFill>
              <a:latin typeface="Mundial "/>
            </a:endParaRPr>
          </a:p>
          <a:p>
            <a:pPr algn="ctr">
              <a:spcBef>
                <a:spcPts val="0"/>
              </a:spcBef>
            </a:pPr>
            <a:r>
              <a:rPr lang="pl-PL" b="1" dirty="0">
                <a:solidFill>
                  <a:srgbClr val="000000"/>
                </a:solidFill>
                <a:latin typeface="Mundial "/>
              </a:rPr>
              <a:t>Polsko-Japońska Akademia Technik Komputerowych</a:t>
            </a:r>
          </a:p>
          <a:p>
            <a:pPr algn="ctr">
              <a:spcBef>
                <a:spcPts val="0"/>
              </a:spcBef>
            </a:pPr>
            <a:r>
              <a:rPr lang="pl-PL" b="1" dirty="0">
                <a:solidFill>
                  <a:srgbClr val="000000"/>
                </a:solidFill>
                <a:latin typeface="Mundial "/>
              </a:rPr>
              <a:t>Ul. Koszykowa 86; 02-008 Warszawa</a:t>
            </a:r>
          </a:p>
          <a:p>
            <a:pPr algn="ctr"/>
            <a:r>
              <a:rPr lang="pl-PL" sz="1600" dirty="0">
                <a:solidFill>
                  <a:srgbClr val="000000"/>
                </a:solidFill>
                <a:latin typeface="Mundial "/>
              </a:rPr>
              <a:t>---------------------------------------------------------------------------------</a:t>
            </a:r>
          </a:p>
          <a:p>
            <a:pPr algn="ctr">
              <a:spcBef>
                <a:spcPts val="0"/>
              </a:spcBef>
            </a:pPr>
            <a:r>
              <a:rPr lang="pl-PL" sz="1050" dirty="0">
                <a:solidFill>
                  <a:srgbClr val="000000"/>
                </a:solidFill>
                <a:latin typeface="Mundial "/>
              </a:rPr>
              <a:t>Opracowanie i dobór materiałów: </a:t>
            </a:r>
            <a:r>
              <a:rPr lang="pl-PL" sz="1050" b="1" dirty="0">
                <a:solidFill>
                  <a:srgbClr val="000000"/>
                </a:solidFill>
                <a:latin typeface="Mundial "/>
              </a:rPr>
              <a:t>Aleksandra Bąbel – starszy inspektor ds. BHP</a:t>
            </a:r>
          </a:p>
          <a:p>
            <a:pPr algn="ctr">
              <a:spcBef>
                <a:spcPts val="0"/>
              </a:spcBef>
            </a:pPr>
            <a:r>
              <a:rPr lang="pl-PL" sz="1050" i="0" u="none" strike="noStrike" baseline="0" dirty="0">
                <a:solidFill>
                  <a:srgbClr val="000000"/>
                </a:solidFill>
                <a:latin typeface="Mundial "/>
              </a:rPr>
              <a:t>Konsultacja me</a:t>
            </a:r>
            <a:r>
              <a:rPr lang="pl-PL" sz="1050" dirty="0">
                <a:solidFill>
                  <a:srgbClr val="000000"/>
                </a:solidFill>
                <a:latin typeface="Mundial "/>
              </a:rPr>
              <a:t>rytoryczna: </a:t>
            </a:r>
            <a:r>
              <a:rPr lang="pl-PL" sz="1050" b="1" dirty="0">
                <a:solidFill>
                  <a:srgbClr val="000000"/>
                </a:solidFill>
                <a:latin typeface="Mundial "/>
              </a:rPr>
              <a:t>Jan Jedliński – Dyrektor Administracyjny PJATK</a:t>
            </a:r>
            <a:endParaRPr lang="pl-PL" sz="1050" b="1" i="0" u="none" strike="noStrike" baseline="0" dirty="0">
              <a:solidFill>
                <a:srgbClr val="000000"/>
              </a:solidFill>
              <a:latin typeface="Mundial "/>
            </a:endParaRPr>
          </a:p>
          <a:p>
            <a:endParaRPr lang="pl-PL" sz="1800" dirty="0">
              <a:solidFill>
                <a:schemeClr val="accent6"/>
              </a:solidFill>
              <a:latin typeface="Mundial"/>
            </a:endParaRPr>
          </a:p>
        </p:txBody>
      </p:sp>
      <p:pic>
        <p:nvPicPr>
          <p:cNvPr id="1026" name="Picture 2" descr="Home page | PJAIT Enrollment">
            <a:extLst>
              <a:ext uri="{FF2B5EF4-FFF2-40B4-BE49-F238E27FC236}">
                <a16:creationId xmlns:a16="http://schemas.microsoft.com/office/drawing/2014/main" id="{6F35DD5E-D334-3541-C67B-DA293898A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237" y="5112452"/>
            <a:ext cx="1441628" cy="14416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6412F4A0-0212-4BDD-8613-B4521E39FD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583" y="5064713"/>
            <a:ext cx="1428161" cy="142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1998216"/>
      </p:ext>
    </p:extLst>
  </p:cSld>
  <p:clrMapOvr>
    <a:masterClrMapping/>
  </p:clrMapOvr>
</p:sld>
</file>

<file path=ppt/theme/theme1.xml><?xml version="1.0" encoding="utf-8"?>
<a:theme xmlns:a="http://schemas.openxmlformats.org/drawingml/2006/main" name="Motyw pakietu Office">
  <a:themeElements>
    <a:clrScheme name="Custom 4">
      <a:dk1>
        <a:srgbClr val="000000"/>
      </a:dk1>
      <a:lt1>
        <a:sysClr val="window" lastClr="FFFFFF"/>
      </a:lt1>
      <a:dk2>
        <a:srgbClr val="E83F3A"/>
      </a:dk2>
      <a:lt2>
        <a:srgbClr val="FFFFFF"/>
      </a:lt2>
      <a:accent1>
        <a:srgbClr val="E83F3A"/>
      </a:accent1>
      <a:accent2>
        <a:srgbClr val="DADADA"/>
      </a:accent2>
      <a:accent3>
        <a:srgbClr val="E83F3A"/>
      </a:accent3>
      <a:accent4>
        <a:srgbClr val="FFFFFF"/>
      </a:accent4>
      <a:accent5>
        <a:srgbClr val="FFFFFF"/>
      </a:accent5>
      <a:accent6>
        <a:srgbClr val="1C1C1C"/>
      </a:accent6>
      <a:hlink>
        <a:srgbClr val="1C1C1C"/>
      </a:hlink>
      <a:folHlink>
        <a:srgbClr val="1C1C1C"/>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F907CB22-10C6-4325-984A-9B329051D3CE}" vid="{88EB4CEF-5D83-4D8F-BE17-2DA87F1284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 Szablon_PJATK (1)</Template>
  <TotalTime>4322</TotalTime>
  <Words>7439</Words>
  <Application>Microsoft Office PowerPoint</Application>
  <PresentationFormat>Panoramiczny</PresentationFormat>
  <Paragraphs>970</Paragraphs>
  <Slides>116</Slides>
  <Notes>0</Notes>
  <HiddenSlides>0</HiddenSlides>
  <MMClips>0</MMClips>
  <ScaleCrop>false</ScaleCrop>
  <HeadingPairs>
    <vt:vector size="6" baseType="variant">
      <vt:variant>
        <vt:lpstr>Używane czcionki</vt:lpstr>
      </vt:variant>
      <vt:variant>
        <vt:i4>12</vt:i4>
      </vt:variant>
      <vt:variant>
        <vt:lpstr>Motyw</vt:lpstr>
      </vt:variant>
      <vt:variant>
        <vt:i4>1</vt:i4>
      </vt:variant>
      <vt:variant>
        <vt:lpstr>Tytuły slajdów</vt:lpstr>
      </vt:variant>
      <vt:variant>
        <vt:i4>116</vt:i4>
      </vt:variant>
    </vt:vector>
  </HeadingPairs>
  <TitlesOfParts>
    <vt:vector size="129" baseType="lpstr">
      <vt:lpstr>Arial</vt:lpstr>
      <vt:lpstr>Arial</vt:lpstr>
      <vt:lpstr>Calibri</vt:lpstr>
      <vt:lpstr>Helvetica Neue</vt:lpstr>
      <vt:lpstr>Mundial</vt:lpstr>
      <vt:lpstr>Mundial </vt:lpstr>
      <vt:lpstr>Mundial Black</vt:lpstr>
      <vt:lpstr>Mundial Light</vt:lpstr>
      <vt:lpstr>OCRpolski</vt:lpstr>
      <vt:lpstr>Tahoma</vt:lpstr>
      <vt:lpstr>Times New Roman</vt:lpstr>
      <vt:lpstr>Wingdings</vt:lpstr>
      <vt:lpstr>Motyw pakietu Office</vt:lpstr>
      <vt:lpstr>Szkolenie wstępne z zakresu bezpieczeństwa i higieny pracy dla Studentów rozpoczynających naukę w PJATK </vt:lpstr>
      <vt:lpstr>Prezentacja programu PowerPoint</vt:lpstr>
      <vt:lpstr>Zagadnienia poruszane na szkoleniu wstępnym z zakresu BHP</vt:lpstr>
      <vt:lpstr>Zagadnienia poruszane na szkoleniu wstępnym z zakresu BHP</vt:lpstr>
      <vt:lpstr>Prezentacja programu PowerPoint</vt:lpstr>
      <vt:lpstr>Zasady zaliczenia szkolenia z zakresu BHP</vt:lpstr>
      <vt:lpstr>Zasady zaliczenia szkolenia z zakresu BHP</vt:lpstr>
      <vt:lpstr>Prezentacja programu PowerPoint</vt:lpstr>
      <vt:lpstr>Istota bezpieczeństwa i higieny w odniesieniu do procesu kształcenia w Uczelni</vt:lpstr>
      <vt:lpstr>Akty prawne</vt:lpstr>
      <vt:lpstr>Prezentacja programu PowerPoint</vt:lpstr>
      <vt:lpstr>Podstawowe obowiązki władz Uczelni oraz Studentów w zakresie BHP</vt:lpstr>
      <vt:lpstr>Podstawowe obowiązki władz Uczelni oraz Studentów w zakresie BHP</vt:lpstr>
      <vt:lpstr>Podstawowe obowiązki władz Uczelni oraz Studentów w zakresie BHP</vt:lpstr>
      <vt:lpstr>Podstawowe obowiązki władz Uczelni oraz Studentów w zakresie BHP</vt:lpstr>
      <vt:lpstr>Podstawowe obowiązki władz Uczelni oraz Studentów w zakresie BHP</vt:lpstr>
      <vt:lpstr>Prezentacja programu PowerPoint</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Zasady poruszania się po terenie campusu PJATK</vt:lpstr>
      <vt:lpstr>Prezentacja programu PowerPoint</vt:lpstr>
      <vt:lpstr>Zasady poruszania się po terenie campusu PJATK</vt:lpstr>
      <vt:lpstr>Zasady poruszania się po terenie campusu PJATK</vt:lpstr>
      <vt:lpstr>Zasady poruszania się po terenie campusu PJATK</vt:lpstr>
      <vt:lpstr>Zasady poruszania się po terenie campusu PJATK</vt:lpstr>
      <vt:lpstr>Prezentacja programu PowerPoint</vt:lpstr>
      <vt:lpstr>Zagrożenia dla zdrowia i wypadkowe występujące w PJATK</vt:lpstr>
      <vt:lpstr>Zagrożenia dla zdrowia i wypadkowe występujące w PJATK</vt:lpstr>
      <vt:lpstr>Identyfikacja zagrożeń wypadkowych na campusie PJATK</vt:lpstr>
      <vt:lpstr>Identyfikacja zagrożeń wypadkowych na campusie PJATK</vt:lpstr>
      <vt:lpstr>Identyfikacja zagrożeń wypadkowych na campusie PJATK</vt:lpstr>
      <vt:lpstr>Identyfikacja zagrożeń wypadkowych na campusie PJATK</vt:lpstr>
      <vt:lpstr>Identyfikacja zagrożeń wypadkowych na campusie PJATK</vt:lpstr>
      <vt:lpstr>Identyfikacja zagrożeń wypadkowych na campusie PJATK</vt:lpstr>
      <vt:lpstr>Identyfikacja zagrożeń dla zdrowia na campusie PJATK</vt:lpstr>
      <vt:lpstr>Zagrożenia dla zdrowia i wypadkowe występujące w PJATK</vt:lpstr>
      <vt:lpstr>Zagrożenia dla zdrowia i wypadkowe występujące w PJATK</vt:lpstr>
      <vt:lpstr>Zagrożenia dla zdrowia i wypadkowe występujące w PJATK</vt:lpstr>
      <vt:lpstr>Zagrożenia dla zdrowia i wypadkowe występujące w PJATK</vt:lpstr>
      <vt:lpstr>Zagrożenia dla zdrowia i wypadkowe występujące w PJATK</vt:lpstr>
      <vt:lpstr>Zagrożenia dla zdrowia i wypadkowe występujące w PJATK</vt:lpstr>
      <vt:lpstr>Prezentacja programu PowerPoint</vt:lpstr>
      <vt:lpstr>Ubezpieczenie NNW i OC</vt:lpstr>
      <vt:lpstr>Prezentacja programu PowerPoint</vt:lpstr>
      <vt:lpstr>Podstawowe zasady ergonomii podczas nauki</vt:lpstr>
      <vt:lpstr>Podstawowe zasady ergonomii podczas nauki</vt:lpstr>
      <vt:lpstr>Podstawowe zasady ergonomii podczas nauki</vt:lpstr>
      <vt:lpstr>Podstawowe zasady ergonomii podczas nauki</vt:lpstr>
      <vt:lpstr>Podstawowe zasady ergonomii podczas nauki</vt:lpstr>
      <vt:lpstr>Prezentacja programu PowerPoint</vt:lpstr>
      <vt:lpstr>Zasady udzielania pomocy przedlekarskiej w razie wypadku</vt:lpstr>
      <vt:lpstr>Zasady udzielania pomocy przedlekarskiej w razie wypadku</vt:lpstr>
      <vt:lpstr>Zasady udzielania pomocy przedlekarskiej w razie wypadku</vt:lpstr>
      <vt:lpstr>Telefony alarmowe</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Zasady udzielania pomocy przedlekarskiej w razie wypadku</vt:lpstr>
      <vt:lpstr>Prezentacja programu PowerPoint</vt:lpstr>
      <vt:lpstr>Postępowania w razie pożaru</vt:lpstr>
      <vt:lpstr>Postępowania w razie pożaru</vt:lpstr>
      <vt:lpstr>Postępowania w razie pożaru</vt:lpstr>
      <vt:lpstr>Zasady ochrony przeciwpożarowej</vt:lpstr>
      <vt:lpstr>Zasady ochrony przeciwpożarowej</vt:lpstr>
      <vt:lpstr>Zasady ochrony przeciwpożarowej</vt:lpstr>
      <vt:lpstr>Zasady ochrony przeciwpożarowej</vt:lpstr>
      <vt:lpstr>Zasady ochrony przeciwpożarowej</vt:lpstr>
      <vt:lpstr>Zasady ochrony przeciwpożarowej</vt:lpstr>
      <vt:lpstr>Zasady ochrony przeciwpożarowej</vt:lpstr>
      <vt:lpstr>Ewakuacja</vt:lpstr>
      <vt:lpstr>Ewakuacja</vt:lpstr>
      <vt:lpstr>Ewakuacja</vt:lpstr>
      <vt:lpstr>Ewakuacja</vt:lpstr>
      <vt:lpstr>Ewakuacja</vt:lpstr>
      <vt:lpstr>Ewakuacja</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Aleksandra Babel</dc:creator>
  <cp:lastModifiedBy>User</cp:lastModifiedBy>
  <cp:revision>73</cp:revision>
  <cp:lastPrinted>2022-11-08T12:03:42Z</cp:lastPrinted>
  <dcterms:created xsi:type="dcterms:W3CDTF">2022-05-12T07:36:57Z</dcterms:created>
  <dcterms:modified xsi:type="dcterms:W3CDTF">2023-06-20T07:47:27Z</dcterms:modified>
</cp:coreProperties>
</file>