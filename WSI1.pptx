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6"/>
  </p:notesMasterIdLst>
  <p:handoutMasterIdLst>
    <p:handoutMasterId r:id="rId17"/>
  </p:handoutMasterIdLst>
  <p:sldIdLst>
    <p:sldId id="256" r:id="rId2"/>
    <p:sldId id="257" r:id="rId3"/>
    <p:sldId id="271" r:id="rId4"/>
    <p:sldId id="259" r:id="rId5"/>
    <p:sldId id="258" r:id="rId6"/>
    <p:sldId id="260" r:id="rId7"/>
    <p:sldId id="261" r:id="rId8"/>
    <p:sldId id="264" r:id="rId9"/>
    <p:sldId id="263" r:id="rId10"/>
    <p:sldId id="266" r:id="rId11"/>
    <p:sldId id="269" r:id="rId12"/>
    <p:sldId id="265" r:id="rId13"/>
    <p:sldId id="267" r:id="rId14"/>
    <p:sldId id="268" r:id="rId15"/>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06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898" autoAdjust="0"/>
    <p:restoredTop sz="95501" autoAdjust="0"/>
  </p:normalViewPr>
  <p:slideViewPr>
    <p:cSldViewPr>
      <p:cViewPr varScale="1">
        <p:scale>
          <a:sx n="91" d="100"/>
          <a:sy n="91" d="100"/>
        </p:scale>
        <p:origin x="498"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76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278A0DB-30D9-4752-8393-519622047A80}" type="datetimeFigureOut">
              <a:rPr lang="pl-PL" smtClean="0"/>
              <a:pPr/>
              <a:t>03.10.2026</a:t>
            </a:fld>
            <a:endParaRPr lang="pl-PL"/>
          </a:p>
        </p:txBody>
      </p:sp>
      <p:sp>
        <p:nvSpPr>
          <p:cNvPr id="4" name="Symbol zastępczy stopki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pl-PL"/>
          </a:p>
        </p:txBody>
      </p:sp>
      <p:sp>
        <p:nvSpPr>
          <p:cNvPr id="5" name="Symbol zastępczy numeru slajdu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85ED38-6C1E-4FF3-945B-81CA17E74F3A}" type="slidenum">
              <a:rPr lang="pl-PL" smtClean="0"/>
              <a:pPr/>
              <a:t>‹#›</a:t>
            </a:fld>
            <a:endParaRPr lang="pl-PL"/>
          </a:p>
        </p:txBody>
      </p:sp>
    </p:spTree>
    <p:extLst>
      <p:ext uri="{BB962C8B-B14F-4D97-AF65-F5344CB8AC3E}">
        <p14:creationId xmlns:p14="http://schemas.microsoft.com/office/powerpoint/2010/main" val="27835905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7B125CFE-0527-4EFB-AAC0-BF1D9CF0342D}" type="slidenum">
              <a:rPr lang="en-US"/>
              <a:pPr>
                <a:defRPr/>
              </a:pPr>
              <a:t>‹#›</a:t>
            </a:fld>
            <a:endParaRPr lang="en-US"/>
          </a:p>
        </p:txBody>
      </p:sp>
    </p:spTree>
    <p:extLst>
      <p:ext uri="{BB962C8B-B14F-4D97-AF65-F5344CB8AC3E}">
        <p14:creationId xmlns:p14="http://schemas.microsoft.com/office/powerpoint/2010/main" val="37450108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2</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694027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3</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227157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4</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055757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5</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852530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6</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691614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7</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613139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8</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614008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9</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702929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10</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142742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11</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16874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12</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143191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13</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740795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4E08F9FB-D285-4E79-A873-DBC58C3836C1}" type="slidenum">
              <a:rPr lang="en-US"/>
              <a:pPr/>
              <a:t>14</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909794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4" name="Rectangle 2"/>
          <p:cNvSpPr>
            <a:spLocks noChangeArrowheads="1"/>
          </p:cNvSpPr>
          <p:nvPr/>
        </p:nvSpPr>
        <p:spPr bwMode="hidden">
          <a:xfrm>
            <a:off x="228600" y="3200400"/>
            <a:ext cx="8763000" cy="1341438"/>
          </a:xfrm>
          <a:prstGeom prst="rect">
            <a:avLst/>
          </a:prstGeom>
          <a:gradFill rotWithShape="0">
            <a:gsLst>
              <a:gs pos="0">
                <a:schemeClr val="bg2"/>
              </a:gs>
              <a:gs pos="100000">
                <a:schemeClr val="bg1"/>
              </a:gs>
            </a:gsLst>
            <a:path path="shape">
              <a:fillToRect l="50000" t="50000" r="50000" b="50000"/>
            </a:path>
          </a:gradFill>
          <a:ln w="9525">
            <a:noFill/>
            <a:miter lim="800000"/>
            <a:headEnd/>
            <a:tailEnd/>
          </a:ln>
          <a:effectLst/>
        </p:spPr>
        <p:txBody>
          <a:bodyPr wrap="none" anchor="ctr"/>
          <a:lstStyle/>
          <a:p>
            <a:pPr algn="ctr">
              <a:defRPr/>
            </a:pPr>
            <a:endParaRPr kumimoji="1" lang="pl-PL"/>
          </a:p>
        </p:txBody>
      </p:sp>
      <p:pic>
        <p:nvPicPr>
          <p:cNvPr id="5" name="Picture 3" descr="D:\FRONTPAGE THEMES\NATURE\ANABNR2.PNG"/>
          <p:cNvPicPr>
            <a:picLocks noChangeAspect="1" noChangeArrowheads="1"/>
          </p:cNvPicPr>
          <p:nvPr/>
        </p:nvPicPr>
        <p:blipFill>
          <a:blip r:embed="rId2"/>
          <a:srcRect l="-900" t="-1314" r="-2" b="-36961"/>
          <a:stretch>
            <a:fillRect/>
          </a:stretch>
        </p:blipFill>
        <p:spPr bwMode="auto">
          <a:xfrm>
            <a:off x="533400" y="3200400"/>
            <a:ext cx="8458200" cy="1158875"/>
          </a:xfrm>
          <a:prstGeom prst="rect">
            <a:avLst/>
          </a:prstGeom>
          <a:noFill/>
          <a:ln w="9525">
            <a:noFill/>
            <a:miter lim="800000"/>
            <a:headEnd/>
            <a:tailEnd/>
          </a:ln>
        </p:spPr>
      </p:pic>
      <p:sp>
        <p:nvSpPr>
          <p:cNvPr id="6" name="Rectangle 4"/>
          <p:cNvSpPr>
            <a:spLocks noChangeArrowheads="1"/>
          </p:cNvSpPr>
          <p:nvPr/>
        </p:nvSpPr>
        <p:spPr bwMode="hidden">
          <a:xfrm>
            <a:off x="795338" y="2895600"/>
            <a:ext cx="304800" cy="990600"/>
          </a:xfrm>
          <a:prstGeom prst="rect">
            <a:avLst/>
          </a:prstGeom>
          <a:solidFill>
            <a:schemeClr val="accent2">
              <a:alpha val="50000"/>
            </a:schemeClr>
          </a:solidFill>
          <a:ln w="9525">
            <a:noFill/>
            <a:miter lim="800000"/>
            <a:headEnd/>
            <a:tailEnd/>
          </a:ln>
          <a:effectLst/>
        </p:spPr>
        <p:txBody>
          <a:bodyPr wrap="none" anchor="ctr"/>
          <a:lstStyle/>
          <a:p>
            <a:pPr algn="ctr">
              <a:defRPr/>
            </a:pPr>
            <a:endParaRPr kumimoji="1" lang="pl-PL"/>
          </a:p>
        </p:txBody>
      </p:sp>
      <p:sp>
        <p:nvSpPr>
          <p:cNvPr id="4101" name="Rectangle 5"/>
          <p:cNvSpPr>
            <a:spLocks noGrp="1" noChangeArrowheads="1"/>
          </p:cNvSpPr>
          <p:nvPr>
            <p:ph type="ctrTitle"/>
          </p:nvPr>
        </p:nvSpPr>
        <p:spPr>
          <a:xfrm>
            <a:off x="1143000" y="1981200"/>
            <a:ext cx="7772400" cy="1143000"/>
          </a:xfrm>
        </p:spPr>
        <p:txBody>
          <a:bodyPr/>
          <a:lstStyle>
            <a:lvl1pPr>
              <a:defRPr/>
            </a:lvl1pPr>
          </a:lstStyle>
          <a:p>
            <a:r>
              <a:rPr lang="en-US"/>
              <a:t>Click to edit Master title style</a:t>
            </a:r>
          </a:p>
        </p:txBody>
      </p:sp>
      <p:sp>
        <p:nvSpPr>
          <p:cNvPr id="4102" name="Rectangle 6"/>
          <p:cNvSpPr>
            <a:spLocks noGrp="1" noChangeArrowheads="1"/>
          </p:cNvSpPr>
          <p:nvPr>
            <p:ph type="subTitle" idx="1"/>
          </p:nvPr>
        </p:nvSpPr>
        <p:spPr>
          <a:xfrm>
            <a:off x="2038350" y="4351338"/>
            <a:ext cx="6400800" cy="1371600"/>
          </a:xfrm>
        </p:spPr>
        <p:txBody>
          <a:bodyPr/>
          <a:lstStyle>
            <a:lvl1pPr marL="0" indent="0">
              <a:buFont typeface="Wingdings" pitchFamily="2" charset="2"/>
              <a:buNone/>
              <a:defRPr/>
            </a:lvl1pPr>
          </a:lstStyle>
          <a:p>
            <a:r>
              <a:rPr lang="en-US"/>
              <a:t>Click to edit Master subtitle style</a:t>
            </a:r>
          </a:p>
        </p:txBody>
      </p:sp>
      <p:sp>
        <p:nvSpPr>
          <p:cNvPr id="7" name="Rectangle 7"/>
          <p:cNvSpPr>
            <a:spLocks noGrp="1" noChangeArrowheads="1"/>
          </p:cNvSpPr>
          <p:nvPr>
            <p:ph type="dt" sz="half" idx="10"/>
          </p:nvPr>
        </p:nvSpPr>
        <p:spPr>
          <a:xfrm>
            <a:off x="685800" y="6324600"/>
            <a:ext cx="1905000" cy="457200"/>
          </a:xfrm>
        </p:spPr>
        <p:txBody>
          <a:bodyPr/>
          <a:lstStyle>
            <a:lvl1pPr>
              <a:defRPr smtClean="0"/>
            </a:lvl1pPr>
          </a:lstStyle>
          <a:p>
            <a:pPr>
              <a:defRPr/>
            </a:pPr>
            <a:endParaRPr lang="en-US"/>
          </a:p>
        </p:txBody>
      </p:sp>
      <p:sp>
        <p:nvSpPr>
          <p:cNvPr id="8" name="Rectangle 8"/>
          <p:cNvSpPr>
            <a:spLocks noGrp="1" noChangeArrowheads="1"/>
          </p:cNvSpPr>
          <p:nvPr>
            <p:ph type="ftr" sz="quarter" idx="11"/>
          </p:nvPr>
        </p:nvSpPr>
        <p:spPr>
          <a:xfrm>
            <a:off x="3124200" y="6324600"/>
            <a:ext cx="2895600" cy="457200"/>
          </a:xfrm>
        </p:spPr>
        <p:txBody>
          <a:bodyPr/>
          <a:lstStyle>
            <a:lvl1pPr>
              <a:defRPr smtClean="0"/>
            </a:lvl1pPr>
          </a:lstStyle>
          <a:p>
            <a:pPr>
              <a:defRPr/>
            </a:pPr>
            <a:endParaRPr lang="en-US"/>
          </a:p>
        </p:txBody>
      </p:sp>
      <p:sp>
        <p:nvSpPr>
          <p:cNvPr id="9" name="Rectangle 9"/>
          <p:cNvSpPr>
            <a:spLocks noGrp="1" noChangeArrowheads="1"/>
          </p:cNvSpPr>
          <p:nvPr>
            <p:ph type="sldNum" sz="quarter" idx="12"/>
          </p:nvPr>
        </p:nvSpPr>
        <p:spPr>
          <a:xfrm>
            <a:off x="6553200" y="6324600"/>
            <a:ext cx="1905000" cy="457200"/>
          </a:xfrm>
        </p:spPr>
        <p:txBody>
          <a:bodyPr/>
          <a:lstStyle>
            <a:lvl1pPr>
              <a:defRPr sz="1400" smtClean="0"/>
            </a:lvl1pPr>
          </a:lstStyle>
          <a:p>
            <a:pPr>
              <a:defRPr/>
            </a:pPr>
            <a:fld id="{C010BC13-77CA-47FA-8570-6268595ABB2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031E7EC0-99A2-4E55-A87D-66405DF69162}" type="slidenum">
              <a:rPr lang="en-US"/>
              <a:pPr>
                <a:defRPr/>
              </a:pPr>
              <a:t>‹#›</a:t>
            </a:fld>
            <a:endParaRPr lang="en-US" sz="1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l-PL"/>
              <a:t>Kliknij, aby edytować style wzorca tekstu</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E11066FE-30CC-471E-809F-517783FF36C5}" type="slidenum">
              <a:rPr lang="en-US"/>
              <a:pPr>
                <a:defRPr/>
              </a:pPr>
              <a:t>‹#›</a:t>
            </a:fld>
            <a:endParaRPr lang="en-US" sz="1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1143000" y="2133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5105400" y="21336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B4867BBC-DF38-4141-8E9F-F86865D34036}" type="slidenum">
              <a:rPr lang="en-US"/>
              <a:pPr>
                <a:defRPr/>
              </a:pPr>
              <a:t>‹#›</a:t>
            </a:fld>
            <a:endParaRPr lang="en-US" sz="14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457200" y="274638"/>
            <a:ext cx="8229600" cy="1143000"/>
          </a:xfrm>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Rectangle 7"/>
          <p:cNvSpPr>
            <a:spLocks noGrp="1" noChangeArrowheads="1"/>
          </p:cNvSpPr>
          <p:nvPr>
            <p:ph type="dt" sz="half" idx="10"/>
          </p:nvPr>
        </p:nvSpPr>
        <p:spPr>
          <a:ln/>
        </p:spPr>
        <p:txBody>
          <a:bodyPr/>
          <a:lstStyle>
            <a:lvl1pPr>
              <a:defRPr/>
            </a:lvl1pPr>
          </a:lstStyle>
          <a:p>
            <a:pPr>
              <a:defRPr/>
            </a:pPr>
            <a:endParaRPr lang="en-US"/>
          </a:p>
        </p:txBody>
      </p:sp>
      <p:sp>
        <p:nvSpPr>
          <p:cNvPr id="8" name="Rectangle 8"/>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pPr>
              <a:defRPr/>
            </a:pPr>
            <a:fld id="{197DB5E6-4574-46A4-94A6-165EF9AAA450}" type="slidenum">
              <a:rPr lang="en-US"/>
              <a:pPr>
                <a:defRPr/>
              </a:pPr>
              <a:t>‹#›</a:t>
            </a:fld>
            <a:endParaRPr lang="en-US" sz="14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ylko tytuł">
    <p:spTree>
      <p:nvGrpSpPr>
        <p:cNvPr id="1" name=""/>
        <p:cNvGrpSpPr/>
        <p:nvPr/>
      </p:nvGrpSpPr>
      <p:grpSpPr>
        <a:xfrm>
          <a:off x="0" y="0"/>
          <a:ext cx="0" cy="0"/>
          <a:chOff x="0" y="0"/>
          <a:chExt cx="0" cy="0"/>
        </a:xfrm>
      </p:grpSpPr>
      <p:sp>
        <p:nvSpPr>
          <p:cNvPr id="2" name="Rectangle 2"/>
          <p:cNvSpPr>
            <a:spLocks noChangeArrowheads="1"/>
          </p:cNvSpPr>
          <p:nvPr/>
        </p:nvSpPr>
        <p:spPr bwMode="hidden">
          <a:xfrm>
            <a:off x="152400" y="0"/>
            <a:ext cx="1447800" cy="685800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pl-PL"/>
          </a:p>
        </p:txBody>
      </p:sp>
      <p:sp>
        <p:nvSpPr>
          <p:cNvPr id="3" name="Rectangle 3"/>
          <p:cNvSpPr>
            <a:spLocks noChangeArrowheads="1"/>
          </p:cNvSpPr>
          <p:nvPr/>
        </p:nvSpPr>
        <p:spPr bwMode="hidden">
          <a:xfrm>
            <a:off x="1676400" y="0"/>
            <a:ext cx="7467600" cy="1219200"/>
          </a:xfrm>
          <a:prstGeom prst="rect">
            <a:avLst/>
          </a:prstGeom>
          <a:gradFill rotWithShape="0">
            <a:gsLst>
              <a:gs pos="0">
                <a:schemeClr val="bg2"/>
              </a:gs>
              <a:gs pos="100000">
                <a:schemeClr val="bg1"/>
              </a:gs>
            </a:gsLst>
            <a:path path="shape">
              <a:fillToRect l="50000" t="50000" r="50000" b="50000"/>
            </a:path>
          </a:gradFill>
          <a:ln w="9525">
            <a:noFill/>
            <a:miter lim="800000"/>
            <a:headEnd/>
            <a:tailEnd/>
          </a:ln>
          <a:effectLst/>
        </p:spPr>
        <p:txBody>
          <a:bodyPr wrap="none" anchor="ctr"/>
          <a:lstStyle/>
          <a:p>
            <a:pPr algn="ctr">
              <a:defRPr/>
            </a:pPr>
            <a:endParaRPr kumimoji="1" lang="pl-PL"/>
          </a:p>
        </p:txBody>
      </p:sp>
      <p:sp>
        <p:nvSpPr>
          <p:cNvPr id="4" name="Rectangle 4" descr="Stationery"/>
          <p:cNvSpPr>
            <a:spLocks noChangeArrowheads="1"/>
          </p:cNvSpPr>
          <p:nvPr/>
        </p:nvSpPr>
        <p:spPr bwMode="auto">
          <a:xfrm>
            <a:off x="457200" y="0"/>
            <a:ext cx="1219200" cy="762000"/>
          </a:xfrm>
          <a:prstGeom prst="rect">
            <a:avLst/>
          </a:prstGeom>
          <a:blipFill dpi="0" rotWithShape="0">
            <a:blip r:embed="rId2"/>
            <a:srcRect/>
            <a:tile tx="0" ty="0" sx="100000" sy="100000" flip="none" algn="tl"/>
          </a:blipFill>
          <a:ln w="9525">
            <a:noFill/>
            <a:miter lim="800000"/>
            <a:headEnd/>
            <a:tailEnd/>
          </a:ln>
          <a:effectLst/>
        </p:spPr>
        <p:txBody>
          <a:bodyPr wrap="none" anchor="ctr"/>
          <a:lstStyle/>
          <a:p>
            <a:pPr algn="ctr">
              <a:defRPr/>
            </a:pPr>
            <a:endParaRPr kumimoji="1" lang="pl-PL"/>
          </a:p>
        </p:txBody>
      </p:sp>
      <p:sp>
        <p:nvSpPr>
          <p:cNvPr id="5" name="Rectangle 5" descr="Stationery"/>
          <p:cNvSpPr>
            <a:spLocks noChangeArrowheads="1"/>
          </p:cNvSpPr>
          <p:nvPr/>
        </p:nvSpPr>
        <p:spPr bwMode="auto">
          <a:xfrm>
            <a:off x="0" y="0"/>
            <a:ext cx="457200" cy="6858000"/>
          </a:xfrm>
          <a:prstGeom prst="rect">
            <a:avLst/>
          </a:prstGeom>
          <a:blipFill dpi="0" rotWithShape="0">
            <a:blip r:embed="rId2"/>
            <a:srcRect/>
            <a:tile tx="0" ty="0" sx="100000" sy="100000" flip="none" algn="tl"/>
          </a:blipFill>
          <a:ln w="9525">
            <a:noFill/>
            <a:miter lim="800000"/>
            <a:headEnd/>
            <a:tailEnd/>
          </a:ln>
          <a:effectLst/>
        </p:spPr>
        <p:txBody>
          <a:bodyPr wrap="none" anchor="ctr"/>
          <a:lstStyle/>
          <a:p>
            <a:pPr algn="ctr">
              <a:defRPr/>
            </a:pPr>
            <a:endParaRPr kumimoji="1" lang="pl-PL"/>
          </a:p>
        </p:txBody>
      </p:sp>
      <p:pic>
        <p:nvPicPr>
          <p:cNvPr id="6" name="Picture 9" descr="C:\Wendy\anabnr2.GIF"/>
          <p:cNvPicPr>
            <a:picLocks noChangeAspect="1" noChangeArrowheads="1"/>
          </p:cNvPicPr>
          <p:nvPr/>
        </p:nvPicPr>
        <p:blipFill>
          <a:blip r:embed="rId3"/>
          <a:srcRect/>
          <a:stretch>
            <a:fillRect/>
          </a:stretch>
        </p:blipFill>
        <p:spPr bwMode="auto">
          <a:xfrm>
            <a:off x="1228725" y="0"/>
            <a:ext cx="7915275" cy="754063"/>
          </a:xfrm>
          <a:prstGeom prst="rect">
            <a:avLst/>
          </a:prstGeom>
          <a:noFill/>
          <a:ln w="9525">
            <a:noFill/>
            <a:miter lim="800000"/>
            <a:headEnd/>
            <a:tailEnd/>
          </a:ln>
        </p:spPr>
      </p:pic>
      <p:sp>
        <p:nvSpPr>
          <p:cNvPr id="7" name="Rectangle 10"/>
          <p:cNvSpPr>
            <a:spLocks noChangeArrowheads="1"/>
          </p:cNvSpPr>
          <p:nvPr/>
        </p:nvSpPr>
        <p:spPr bwMode="auto">
          <a:xfrm>
            <a:off x="304800" y="457200"/>
            <a:ext cx="2514600" cy="304800"/>
          </a:xfrm>
          <a:prstGeom prst="rect">
            <a:avLst/>
          </a:prstGeom>
          <a:solidFill>
            <a:schemeClr val="accent2">
              <a:alpha val="50000"/>
            </a:schemeClr>
          </a:solidFill>
          <a:ln w="9525">
            <a:noFill/>
            <a:miter lim="800000"/>
            <a:headEnd/>
            <a:tailEnd/>
          </a:ln>
          <a:effectLst/>
        </p:spPr>
        <p:txBody>
          <a:bodyPr wrap="none" anchor="ctr"/>
          <a:lstStyle/>
          <a:p>
            <a:pPr algn="ctr">
              <a:defRPr/>
            </a:pPr>
            <a:endParaRPr kumimoji="1" lang="pl-PL"/>
          </a:p>
        </p:txBody>
      </p:sp>
      <p:sp>
        <p:nvSpPr>
          <p:cNvPr id="8" name="Text Box 14"/>
          <p:cNvSpPr txBox="1">
            <a:spLocks noChangeArrowheads="1"/>
          </p:cNvSpPr>
          <p:nvPr/>
        </p:nvSpPr>
        <p:spPr bwMode="auto">
          <a:xfrm>
            <a:off x="900113" y="6381750"/>
            <a:ext cx="7978775" cy="274638"/>
          </a:xfrm>
          <a:prstGeom prst="rect">
            <a:avLst/>
          </a:prstGeom>
          <a:noFill/>
          <a:ln w="9525">
            <a:noFill/>
            <a:miter lim="800000"/>
            <a:headEnd/>
            <a:tailEnd/>
          </a:ln>
          <a:effectLst/>
        </p:spPr>
        <p:txBody>
          <a:bodyPr>
            <a:spAutoFit/>
          </a:bodyPr>
          <a:lstStyle/>
          <a:p>
            <a:pPr algn="r">
              <a:spcBef>
                <a:spcPct val="50000"/>
              </a:spcBef>
            </a:pPr>
            <a:r>
              <a:rPr lang="pl-PL" sz="1200" i="1" dirty="0">
                <a:solidFill>
                  <a:schemeClr val="tx2"/>
                </a:solidFill>
              </a:rPr>
              <a:t>Wprowadzenie do systemów informacyjnych – wykład 1	</a:t>
            </a:r>
            <a:fld id="{3B157DD2-2D09-4B57-849C-ED9464A13B2E}" type="slidenum">
              <a:rPr lang="en-US" sz="1200" i="1"/>
              <a:pPr algn="r">
                <a:spcBef>
                  <a:spcPct val="50000"/>
                </a:spcBef>
              </a:pPr>
              <a:t>‹#›</a:t>
            </a:fld>
            <a:endParaRPr lang="en-US" sz="1200" i="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endParaRPr lang="en-US"/>
          </a:p>
        </p:txBody>
      </p:sp>
      <p:sp>
        <p:nvSpPr>
          <p:cNvPr id="3" name="Rectangle 8"/>
          <p:cNvSpPr>
            <a:spLocks noGrp="1" noChangeArrowheads="1"/>
          </p:cNvSpPr>
          <p:nvPr>
            <p:ph type="ftr" sz="quarter" idx="11"/>
          </p:nvPr>
        </p:nvSpPr>
        <p:spPr>
          <a:ln/>
        </p:spPr>
        <p:txBody>
          <a:bodyPr/>
          <a:lstStyle>
            <a:lvl1pPr>
              <a:defRPr/>
            </a:lvl1pPr>
          </a:lstStyle>
          <a:p>
            <a:pPr>
              <a:defRPr/>
            </a:pPr>
            <a:endParaRPr lang="en-US"/>
          </a:p>
        </p:txBody>
      </p:sp>
      <p:sp>
        <p:nvSpPr>
          <p:cNvPr id="4" name="Rectangle 11"/>
          <p:cNvSpPr>
            <a:spLocks noGrp="1" noChangeArrowheads="1"/>
          </p:cNvSpPr>
          <p:nvPr>
            <p:ph type="sldNum" sz="quarter" idx="12"/>
          </p:nvPr>
        </p:nvSpPr>
        <p:spPr>
          <a:ln/>
        </p:spPr>
        <p:txBody>
          <a:bodyPr/>
          <a:lstStyle>
            <a:lvl1pPr>
              <a:defRPr/>
            </a:lvl1pPr>
          </a:lstStyle>
          <a:p>
            <a:pPr>
              <a:defRPr/>
            </a:pPr>
            <a:fld id="{9B438671-5843-4AE4-844C-313AE8466FFF}" type="slidenum">
              <a:rPr lang="en-US"/>
              <a:pPr>
                <a:defRPr/>
              </a:pPr>
              <a:t>‹#›</a:t>
            </a:fld>
            <a:endParaRPr lang="en-US" sz="14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F3105652-FD41-4633-9ECE-B00515E95EA0}" type="slidenum">
              <a:rPr lang="en-US"/>
              <a:pPr>
                <a:defRPr/>
              </a:pPr>
              <a:t>‹#›</a:t>
            </a:fld>
            <a:endParaRPr lang="en-US" sz="14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7"/>
          <p:cNvSpPr>
            <a:spLocks noGrp="1" noChangeArrowheads="1"/>
          </p:cNvSpPr>
          <p:nvPr>
            <p:ph type="dt" sz="half" idx="10"/>
          </p:nvPr>
        </p:nvSpPr>
        <p:spPr>
          <a:ln/>
        </p:spPr>
        <p:txBody>
          <a:bodyPr/>
          <a:lstStyle>
            <a:lvl1pPr>
              <a:defRPr/>
            </a:lvl1pPr>
          </a:lstStyle>
          <a:p>
            <a:pPr>
              <a:defRPr/>
            </a:pPr>
            <a:endParaRPr 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D577EE58-A727-4E57-9C69-D16E347844E5}" type="slidenum">
              <a:rPr lang="en-US"/>
              <a:pPr>
                <a:defRPr/>
              </a:pPr>
              <a:t>‹#›</a:t>
            </a:fld>
            <a:endParaRPr lang="en-US" sz="14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533364F9-68B3-44BE-9D3B-EBDA2C5C9DB5}" type="slidenum">
              <a:rPr lang="en-US"/>
              <a:pPr>
                <a:defRPr/>
              </a:pPr>
              <a:t>‹#›</a:t>
            </a:fld>
            <a:endParaRPr lang="en-US" sz="14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953250" y="838200"/>
            <a:ext cx="1962150" cy="5410200"/>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1066800" y="838200"/>
            <a:ext cx="5734050" cy="5410200"/>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7"/>
          <p:cNvSpPr>
            <a:spLocks noGrp="1" noChangeArrowheads="1"/>
          </p:cNvSpPr>
          <p:nvPr>
            <p:ph type="dt" sz="half" idx="10"/>
          </p:nvPr>
        </p:nvSpPr>
        <p:spPr>
          <a:ln/>
        </p:spPr>
        <p:txBody>
          <a:bodyPr/>
          <a:lstStyle>
            <a:lvl1pPr>
              <a:defRPr/>
            </a:lvl1pPr>
          </a:lstStyle>
          <a:p>
            <a:pPr>
              <a:defRPr/>
            </a:pPr>
            <a:endParaRPr 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pPr>
              <a:defRPr/>
            </a:pPr>
            <a:fld id="{1CEA36F3-1DFF-4B17-B9AC-456721FDAC12}" type="slidenum">
              <a:rPr lang="en-US"/>
              <a:pPr>
                <a:defRPr/>
              </a:pPr>
              <a:t>‹#›</a:t>
            </a:fld>
            <a:endParaRPr lang="en-US" sz="14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hidden">
          <a:xfrm>
            <a:off x="152400" y="0"/>
            <a:ext cx="1447800" cy="685800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pl-PL"/>
          </a:p>
        </p:txBody>
      </p:sp>
      <p:sp>
        <p:nvSpPr>
          <p:cNvPr id="3075" name="Rectangle 3"/>
          <p:cNvSpPr>
            <a:spLocks noChangeArrowheads="1"/>
          </p:cNvSpPr>
          <p:nvPr/>
        </p:nvSpPr>
        <p:spPr bwMode="hidden">
          <a:xfrm>
            <a:off x="1676400" y="0"/>
            <a:ext cx="7467600" cy="1219200"/>
          </a:xfrm>
          <a:prstGeom prst="rect">
            <a:avLst/>
          </a:prstGeom>
          <a:gradFill rotWithShape="0">
            <a:gsLst>
              <a:gs pos="0">
                <a:schemeClr val="bg2"/>
              </a:gs>
              <a:gs pos="100000">
                <a:schemeClr val="bg1"/>
              </a:gs>
            </a:gsLst>
            <a:path path="shape">
              <a:fillToRect l="50000" t="50000" r="50000" b="50000"/>
            </a:path>
          </a:gradFill>
          <a:ln w="9525">
            <a:noFill/>
            <a:miter lim="800000"/>
            <a:headEnd/>
            <a:tailEnd/>
          </a:ln>
          <a:effectLst/>
        </p:spPr>
        <p:txBody>
          <a:bodyPr wrap="none" anchor="ctr"/>
          <a:lstStyle/>
          <a:p>
            <a:pPr algn="ctr">
              <a:defRPr/>
            </a:pPr>
            <a:endParaRPr kumimoji="1" lang="pl-PL"/>
          </a:p>
        </p:txBody>
      </p:sp>
      <p:sp>
        <p:nvSpPr>
          <p:cNvPr id="3076" name="Rectangle 4" descr="Stationery"/>
          <p:cNvSpPr>
            <a:spLocks noChangeArrowheads="1"/>
          </p:cNvSpPr>
          <p:nvPr/>
        </p:nvSpPr>
        <p:spPr bwMode="auto">
          <a:xfrm>
            <a:off x="457200" y="0"/>
            <a:ext cx="1219200" cy="762000"/>
          </a:xfrm>
          <a:prstGeom prst="rect">
            <a:avLst/>
          </a:prstGeom>
          <a:blipFill dpi="0" rotWithShape="0">
            <a:blip r:embed="rId13"/>
            <a:srcRect/>
            <a:tile tx="0" ty="0" sx="100000" sy="100000" flip="none" algn="tl"/>
          </a:blipFill>
          <a:ln w="9525">
            <a:noFill/>
            <a:miter lim="800000"/>
            <a:headEnd/>
            <a:tailEnd/>
          </a:ln>
          <a:effectLst/>
        </p:spPr>
        <p:txBody>
          <a:bodyPr wrap="none" anchor="ctr"/>
          <a:lstStyle/>
          <a:p>
            <a:pPr algn="ctr">
              <a:defRPr/>
            </a:pPr>
            <a:endParaRPr kumimoji="1" lang="pl-PL"/>
          </a:p>
        </p:txBody>
      </p:sp>
      <p:sp>
        <p:nvSpPr>
          <p:cNvPr id="3077" name="Rectangle 5" descr="Stationery"/>
          <p:cNvSpPr>
            <a:spLocks noChangeArrowheads="1"/>
          </p:cNvSpPr>
          <p:nvPr/>
        </p:nvSpPr>
        <p:spPr bwMode="auto">
          <a:xfrm>
            <a:off x="0" y="0"/>
            <a:ext cx="457200" cy="6858000"/>
          </a:xfrm>
          <a:prstGeom prst="rect">
            <a:avLst/>
          </a:prstGeom>
          <a:blipFill dpi="0" rotWithShape="0">
            <a:blip r:embed="rId13"/>
            <a:srcRect/>
            <a:tile tx="0" ty="0" sx="100000" sy="100000" flip="none" algn="tl"/>
          </a:blipFill>
          <a:ln w="9525">
            <a:noFill/>
            <a:miter lim="800000"/>
            <a:headEnd/>
            <a:tailEnd/>
          </a:ln>
          <a:effectLst/>
        </p:spPr>
        <p:txBody>
          <a:bodyPr wrap="none" anchor="ctr"/>
          <a:lstStyle/>
          <a:p>
            <a:pPr algn="ctr">
              <a:defRPr/>
            </a:pPr>
            <a:endParaRPr kumimoji="1" lang="pl-PL"/>
          </a:p>
        </p:txBody>
      </p:sp>
      <p:sp>
        <p:nvSpPr>
          <p:cNvPr id="4102" name="Rectangle 6"/>
          <p:cNvSpPr>
            <a:spLocks noGrp="1" noChangeArrowheads="1"/>
          </p:cNvSpPr>
          <p:nvPr>
            <p:ph type="title"/>
          </p:nvPr>
        </p:nvSpPr>
        <p:spPr bwMode="auto">
          <a:xfrm>
            <a:off x="1066800" y="8382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3079" name="Rectangle 7"/>
          <p:cNvSpPr>
            <a:spLocks noGrp="1" noChangeArrowheads="1"/>
          </p:cNvSpPr>
          <p:nvPr>
            <p:ph type="dt" sz="half" idx="2"/>
          </p:nvPr>
        </p:nvSpPr>
        <p:spPr bwMode="auto">
          <a:xfrm>
            <a:off x="1066800" y="64135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solidFill>
                  <a:schemeClr val="tx2"/>
                </a:solidFill>
              </a:defRPr>
            </a:lvl1pPr>
          </a:lstStyle>
          <a:p>
            <a:pPr>
              <a:defRPr/>
            </a:pPr>
            <a:endParaRPr lang="en-US"/>
          </a:p>
        </p:txBody>
      </p:sp>
      <p:sp>
        <p:nvSpPr>
          <p:cNvPr id="3080" name="Rectangle 8"/>
          <p:cNvSpPr>
            <a:spLocks noGrp="1" noChangeArrowheads="1"/>
          </p:cNvSpPr>
          <p:nvPr>
            <p:ph type="ftr" sz="quarter" idx="3"/>
          </p:nvPr>
        </p:nvSpPr>
        <p:spPr bwMode="auto">
          <a:xfrm>
            <a:off x="3429000" y="64135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solidFill>
                  <a:schemeClr val="tx2"/>
                </a:solidFill>
              </a:defRPr>
            </a:lvl1pPr>
          </a:lstStyle>
          <a:p>
            <a:pPr>
              <a:defRPr/>
            </a:pPr>
            <a:endParaRPr lang="en-US"/>
          </a:p>
        </p:txBody>
      </p:sp>
      <p:pic>
        <p:nvPicPr>
          <p:cNvPr id="4105" name="Picture 9" descr="C:\Wendy\anabnr2.GIF"/>
          <p:cNvPicPr>
            <a:picLocks noChangeAspect="1" noChangeArrowheads="1"/>
          </p:cNvPicPr>
          <p:nvPr/>
        </p:nvPicPr>
        <p:blipFill>
          <a:blip r:embed="rId14"/>
          <a:srcRect/>
          <a:stretch>
            <a:fillRect/>
          </a:stretch>
        </p:blipFill>
        <p:spPr bwMode="auto">
          <a:xfrm>
            <a:off x="1228725" y="0"/>
            <a:ext cx="7915275" cy="754063"/>
          </a:xfrm>
          <a:prstGeom prst="rect">
            <a:avLst/>
          </a:prstGeom>
          <a:noFill/>
          <a:ln w="9525">
            <a:noFill/>
            <a:miter lim="800000"/>
            <a:headEnd/>
            <a:tailEnd/>
          </a:ln>
        </p:spPr>
      </p:pic>
      <p:sp>
        <p:nvSpPr>
          <p:cNvPr id="3082" name="Rectangle 10"/>
          <p:cNvSpPr>
            <a:spLocks noChangeArrowheads="1"/>
          </p:cNvSpPr>
          <p:nvPr/>
        </p:nvSpPr>
        <p:spPr bwMode="auto">
          <a:xfrm>
            <a:off x="304800" y="457200"/>
            <a:ext cx="2514600" cy="304800"/>
          </a:xfrm>
          <a:prstGeom prst="rect">
            <a:avLst/>
          </a:prstGeom>
          <a:solidFill>
            <a:schemeClr val="accent2">
              <a:alpha val="50000"/>
            </a:schemeClr>
          </a:solidFill>
          <a:ln w="9525">
            <a:noFill/>
            <a:miter lim="800000"/>
            <a:headEnd/>
            <a:tailEnd/>
          </a:ln>
          <a:effectLst/>
        </p:spPr>
        <p:txBody>
          <a:bodyPr wrap="none" anchor="ctr"/>
          <a:lstStyle/>
          <a:p>
            <a:pPr algn="ctr">
              <a:defRPr/>
            </a:pPr>
            <a:endParaRPr kumimoji="1" lang="pl-PL"/>
          </a:p>
        </p:txBody>
      </p:sp>
      <p:sp>
        <p:nvSpPr>
          <p:cNvPr id="3083" name="Rectangle 11"/>
          <p:cNvSpPr>
            <a:spLocks noGrp="1" noChangeArrowheads="1"/>
          </p:cNvSpPr>
          <p:nvPr>
            <p:ph type="sldNum" sz="quarter" idx="4"/>
          </p:nvPr>
        </p:nvSpPr>
        <p:spPr bwMode="auto">
          <a:xfrm>
            <a:off x="8229600" y="6413500"/>
            <a:ext cx="914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mtClean="0">
                <a:solidFill>
                  <a:schemeClr val="tx2"/>
                </a:solidFill>
              </a:defRPr>
            </a:lvl1pPr>
          </a:lstStyle>
          <a:p>
            <a:pPr>
              <a:defRPr/>
            </a:pPr>
            <a:fld id="{C077162A-FDB6-43ED-9B52-935DE3806D80}" type="slidenum">
              <a:rPr lang="en-US"/>
              <a:pPr>
                <a:defRPr/>
              </a:pPr>
              <a:t>‹#›</a:t>
            </a:fld>
            <a:endParaRPr lang="en-US" sz="1400"/>
          </a:p>
        </p:txBody>
      </p:sp>
      <p:sp>
        <p:nvSpPr>
          <p:cNvPr id="4108" name="Rectangle 12"/>
          <p:cNvSpPr>
            <a:spLocks noGrp="1" noChangeArrowheads="1"/>
          </p:cNvSpPr>
          <p:nvPr>
            <p:ph type="body" idx="1"/>
          </p:nvPr>
        </p:nvSpPr>
        <p:spPr bwMode="auto">
          <a:xfrm>
            <a:off x="1143000" y="21336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85" name="Text Box 13"/>
          <p:cNvSpPr txBox="1">
            <a:spLocks noChangeArrowheads="1"/>
          </p:cNvSpPr>
          <p:nvPr/>
        </p:nvSpPr>
        <p:spPr bwMode="auto">
          <a:xfrm>
            <a:off x="8458200" y="6613525"/>
            <a:ext cx="457200" cy="244475"/>
          </a:xfrm>
          <a:prstGeom prst="rect">
            <a:avLst/>
          </a:prstGeom>
          <a:noFill/>
          <a:ln w="9525">
            <a:noFill/>
            <a:miter lim="800000"/>
            <a:headEnd/>
            <a:tailEnd/>
          </a:ln>
          <a:effectLst/>
        </p:spPr>
        <p:txBody>
          <a:bodyPr>
            <a:spAutoFit/>
          </a:bodyPr>
          <a:lstStyle/>
          <a:p>
            <a:pPr>
              <a:spcBef>
                <a:spcPct val="50000"/>
              </a:spcBef>
              <a:defRPr/>
            </a:pPr>
            <a:fld id="{F63514A7-7C2D-44B8-B30D-412EF671A109}" type="slidenum">
              <a:rPr lang="en-US" sz="1000"/>
              <a:pPr>
                <a:spcBef>
                  <a:spcPct val="50000"/>
                </a:spcBef>
                <a:defRPr/>
              </a:pPr>
              <a:t>‹#›</a:t>
            </a:fld>
            <a:endParaRPr lang="en-US" sz="1000"/>
          </a:p>
        </p:txBody>
      </p:sp>
      <p:sp>
        <p:nvSpPr>
          <p:cNvPr id="3086" name="Text Box 14"/>
          <p:cNvSpPr txBox="1">
            <a:spLocks noChangeArrowheads="1"/>
          </p:cNvSpPr>
          <p:nvPr/>
        </p:nvSpPr>
        <p:spPr bwMode="auto">
          <a:xfrm>
            <a:off x="914400" y="6096000"/>
            <a:ext cx="3657600" cy="762000"/>
          </a:xfrm>
          <a:prstGeom prst="rect">
            <a:avLst/>
          </a:prstGeom>
          <a:noFill/>
          <a:ln w="9525">
            <a:noFill/>
            <a:miter lim="800000"/>
            <a:headEnd/>
            <a:tailEnd/>
          </a:ln>
          <a:effectLst/>
        </p:spPr>
        <p:txBody>
          <a:bodyPr>
            <a:spAutoFit/>
          </a:bodyPr>
          <a:lstStyle/>
          <a:p>
            <a:pPr>
              <a:spcBef>
                <a:spcPct val="50000"/>
              </a:spcBef>
              <a:defRPr/>
            </a:pPr>
            <a:r>
              <a:rPr lang="pl-PL" sz="1200" i="1">
                <a:solidFill>
                  <a:schemeClr val="tx2"/>
                </a:solidFill>
              </a:rPr>
              <a:t>Nauczanie informatyki przez Internet </a:t>
            </a:r>
            <a:r>
              <a:rPr lang="en-US" sz="1200" i="1">
                <a:solidFill>
                  <a:schemeClr val="tx2"/>
                </a:solidFill>
              </a:rPr>
              <a:t>w </a:t>
            </a:r>
            <a:r>
              <a:rPr lang="pl-PL" sz="1200" i="1">
                <a:solidFill>
                  <a:schemeClr val="tx2"/>
                </a:solidFill>
                <a:cs typeface="Times New Roman" charset="0"/>
              </a:rPr>
              <a:t>PJWSTK</a:t>
            </a:r>
            <a:r>
              <a:rPr lang="en-US" sz="4400">
                <a:solidFill>
                  <a:schemeClr val="tx2"/>
                </a:solidFill>
              </a:rPr>
              <a:t> </a:t>
            </a:r>
          </a:p>
        </p:txBody>
      </p:sp>
    </p:spTree>
  </p:cSld>
  <p:clrMap bg1="lt1" tx1="dk1" bg2="lt2" tx2="dk2" accent1="accent1" accent2="accent2" accent3="accent3" accent4="accent4" accent5="accent5" accent6="accent6" hlink="hlink" folHlink="folHlink"/>
  <p:sldLayoutIdLst>
    <p:sldLayoutId id="2147483672" r:id="rId1"/>
    <p:sldLayoutId id="2147483663" r:id="rId2"/>
    <p:sldLayoutId id="2147483664" r:id="rId3"/>
    <p:sldLayoutId id="2147483665" r:id="rId4"/>
    <p:sldLayoutId id="2147483666" r:id="rId5"/>
    <p:sldLayoutId id="2147483673"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imes New Roman" charset="0"/>
        </a:defRPr>
      </a:lvl2pPr>
      <a:lvl3pPr algn="l" rtl="0" eaLnBrk="0" fontAlgn="base" hangingPunct="0">
        <a:spcBef>
          <a:spcPct val="0"/>
        </a:spcBef>
        <a:spcAft>
          <a:spcPct val="0"/>
        </a:spcAft>
        <a:defRPr sz="4400">
          <a:solidFill>
            <a:schemeClr val="tx2"/>
          </a:solidFill>
          <a:latin typeface="Times New Roman" charset="0"/>
        </a:defRPr>
      </a:lvl3pPr>
      <a:lvl4pPr algn="l" rtl="0" eaLnBrk="0" fontAlgn="base" hangingPunct="0">
        <a:spcBef>
          <a:spcPct val="0"/>
        </a:spcBef>
        <a:spcAft>
          <a:spcPct val="0"/>
        </a:spcAft>
        <a:defRPr sz="4400">
          <a:solidFill>
            <a:schemeClr val="tx2"/>
          </a:solidFill>
          <a:latin typeface="Times New Roman" charset="0"/>
        </a:defRPr>
      </a:lvl4pPr>
      <a:lvl5pPr algn="l" rtl="0" eaLnBrk="0" fontAlgn="base" hangingPunct="0">
        <a:spcBef>
          <a:spcPct val="0"/>
        </a:spcBef>
        <a:spcAft>
          <a:spcPct val="0"/>
        </a:spcAft>
        <a:defRPr sz="4400">
          <a:solidFill>
            <a:schemeClr val="tx2"/>
          </a:solidFill>
          <a:latin typeface="Times New Roman" charset="0"/>
        </a:defRPr>
      </a:lvl5pPr>
      <a:lvl6pPr marL="457200" algn="l" rtl="0" fontAlgn="base">
        <a:spcBef>
          <a:spcPct val="0"/>
        </a:spcBef>
        <a:spcAft>
          <a:spcPct val="0"/>
        </a:spcAft>
        <a:defRPr sz="4400">
          <a:solidFill>
            <a:schemeClr val="tx2"/>
          </a:solidFill>
          <a:latin typeface="Times New Roman" charset="0"/>
        </a:defRPr>
      </a:lvl6pPr>
      <a:lvl7pPr marL="914400" algn="l" rtl="0" fontAlgn="base">
        <a:spcBef>
          <a:spcPct val="0"/>
        </a:spcBef>
        <a:spcAft>
          <a:spcPct val="0"/>
        </a:spcAft>
        <a:defRPr sz="4400">
          <a:solidFill>
            <a:schemeClr val="tx2"/>
          </a:solidFill>
          <a:latin typeface="Times New Roman" charset="0"/>
        </a:defRPr>
      </a:lvl7pPr>
      <a:lvl8pPr marL="1371600" algn="l" rtl="0" fontAlgn="base">
        <a:spcBef>
          <a:spcPct val="0"/>
        </a:spcBef>
        <a:spcAft>
          <a:spcPct val="0"/>
        </a:spcAft>
        <a:defRPr sz="4400">
          <a:solidFill>
            <a:schemeClr val="tx2"/>
          </a:solidFill>
          <a:latin typeface="Times New Roman" charset="0"/>
        </a:defRPr>
      </a:lvl8pPr>
      <a:lvl9pPr marL="1828800" algn="l" rtl="0" fontAlgn="base">
        <a:spcBef>
          <a:spcPct val="0"/>
        </a:spcBef>
        <a:spcAft>
          <a:spcPct val="0"/>
        </a:spcAft>
        <a:defRPr sz="4400">
          <a:solidFill>
            <a:schemeClr val="tx2"/>
          </a:solidFill>
          <a:latin typeface="Times New Roman" charset="0"/>
        </a:defRPr>
      </a:lvl9pPr>
    </p:titleStyle>
    <p:bodyStyle>
      <a:lvl1pPr marL="457200" indent="-457200" algn="l" rtl="0" eaLnBrk="0" fontAlgn="base" hangingPunct="0">
        <a:spcBef>
          <a:spcPct val="20000"/>
        </a:spcBef>
        <a:spcAft>
          <a:spcPct val="0"/>
        </a:spcAft>
        <a:buClr>
          <a:srgbClr val="A50021"/>
        </a:buClr>
        <a:buSzPct val="75000"/>
        <a:buFont typeface="Wingdings" pitchFamily="2" charset="2"/>
        <a:buChar char="n"/>
        <a:defRPr sz="3200">
          <a:solidFill>
            <a:schemeClr val="tx1"/>
          </a:solidFill>
          <a:latin typeface="+mn-lt"/>
          <a:ea typeface="+mn-ea"/>
          <a:cs typeface="+mn-cs"/>
        </a:defRPr>
      </a:lvl1pPr>
      <a:lvl2pPr marL="1027113" indent="-455613" algn="l" rtl="0" eaLnBrk="0" fontAlgn="base" hangingPunct="0">
        <a:spcBef>
          <a:spcPct val="20000"/>
        </a:spcBef>
        <a:spcAft>
          <a:spcPct val="0"/>
        </a:spcAft>
        <a:buClr>
          <a:schemeClr val="accent2"/>
        </a:buClr>
        <a:buSzPct val="75000"/>
        <a:buFont typeface="Wingdings" pitchFamily="2" charset="2"/>
        <a:buChar char="n"/>
        <a:defRPr sz="2800">
          <a:solidFill>
            <a:schemeClr val="tx1"/>
          </a:solidFill>
          <a:latin typeface="+mn-lt"/>
        </a:defRPr>
      </a:lvl2pPr>
      <a:lvl3pPr marL="1370013" indent="-228600" algn="l" rtl="0" eaLnBrk="0" fontAlgn="base" hangingPunct="0">
        <a:spcBef>
          <a:spcPct val="20000"/>
        </a:spcBef>
        <a:spcAft>
          <a:spcPct val="0"/>
        </a:spcAft>
        <a:buClr>
          <a:srgbClr val="666699"/>
        </a:buClr>
        <a:buSzPct val="70000"/>
        <a:buFont typeface="Wingdings" pitchFamily="2" charset="2"/>
        <a:buChar char="n"/>
        <a:defRPr sz="2400">
          <a:solidFill>
            <a:schemeClr val="tx1"/>
          </a:solidFill>
          <a:latin typeface="+mn-lt"/>
        </a:defRPr>
      </a:lvl3pPr>
      <a:lvl4pPr marL="1712913" indent="-228600" algn="l" rtl="0" eaLnBrk="0" fontAlgn="base" hangingPunct="0">
        <a:spcBef>
          <a:spcPct val="20000"/>
        </a:spcBef>
        <a:spcAft>
          <a:spcPct val="0"/>
        </a:spcAft>
        <a:buSzPct val="6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hlink"/>
        </a:buClr>
        <a:buSzPct val="55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hlink"/>
        </a:buClr>
        <a:buSzPct val="55000"/>
        <a:buFont typeface="Wingdings" pitchFamily="2" charset="2"/>
        <a:buChar char="n"/>
        <a:defRPr sz="2000">
          <a:solidFill>
            <a:schemeClr val="tx1"/>
          </a:solidFill>
          <a:latin typeface="+mn-lt"/>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0" y="0"/>
            <a:ext cx="8991600" cy="2819400"/>
          </a:xfrm>
        </p:spPr>
        <p:txBody>
          <a:bodyPr/>
          <a:lstStyle/>
          <a:p>
            <a:pPr algn="ctr" eaLnBrk="1" hangingPunct="1">
              <a:lnSpc>
                <a:spcPct val="135000"/>
              </a:lnSpc>
            </a:pPr>
            <a:r>
              <a:rPr lang="pl-PL" sz="4000" b="1" dirty="0">
                <a:latin typeface="Book Antiqua" pitchFamily="18" charset="0"/>
              </a:rPr>
              <a:t>Wprowadzenie do systemów informacyjnych (WSI)</a:t>
            </a:r>
            <a:br>
              <a:rPr lang="pl-PL" sz="4000" b="1" dirty="0">
                <a:latin typeface="Book Antiqua" pitchFamily="18" charset="0"/>
              </a:rPr>
            </a:br>
            <a:r>
              <a:rPr lang="pl-PL" sz="4000" b="1" dirty="0">
                <a:latin typeface="Book Antiqua" pitchFamily="18" charset="0"/>
              </a:rPr>
              <a:t>Wykład 1</a:t>
            </a:r>
            <a:endParaRPr lang="en-US" sz="4000" dirty="0">
              <a:latin typeface="Book Antiqua" pitchFamily="18" charset="0"/>
              <a:cs typeface="Times New Roman" charset="0"/>
            </a:endParaRPr>
          </a:p>
        </p:txBody>
      </p:sp>
      <p:sp>
        <p:nvSpPr>
          <p:cNvPr id="7171" name="Rectangle 3"/>
          <p:cNvSpPr>
            <a:spLocks noGrp="1" noChangeArrowheads="1"/>
          </p:cNvSpPr>
          <p:nvPr>
            <p:ph type="subTitle" idx="1"/>
          </p:nvPr>
        </p:nvSpPr>
        <p:spPr>
          <a:xfrm>
            <a:off x="381000" y="4351338"/>
            <a:ext cx="8534400" cy="2278062"/>
          </a:xfrm>
        </p:spPr>
        <p:txBody>
          <a:bodyPr/>
          <a:lstStyle/>
          <a:p>
            <a:pPr algn="ctr" eaLnBrk="1" hangingPunct="1"/>
            <a:r>
              <a:rPr lang="en-US" sz="2400" i="1"/>
              <a:t>dr inż. </a:t>
            </a:r>
            <a:r>
              <a:rPr lang="pl-PL" sz="2400" i="1"/>
              <a:t>Paweł Lenkiewicz</a:t>
            </a:r>
            <a:endParaRPr lang="en-US" sz="2400" i="1"/>
          </a:p>
          <a:p>
            <a:pPr algn="ctr" eaLnBrk="1" hangingPunct="1"/>
            <a:br>
              <a:rPr lang="pl-PL" sz="2400">
                <a:latin typeface="Book Antiqua" pitchFamily="18" charset="0"/>
                <a:cs typeface="Times New Roman" charset="0"/>
              </a:rPr>
            </a:br>
            <a:endParaRPr lang="en-US" sz="2400">
              <a:latin typeface="Book Antiqua" pitchFamily="18" charset="0"/>
              <a:cs typeface="Times New Roman"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Główny cel wykładu</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2400657"/>
          </a:xfrm>
          <a:prstGeom prst="rect">
            <a:avLst/>
          </a:prstGeom>
          <a:noFill/>
          <a:ln w="9525">
            <a:noFill/>
            <a:miter lim="800000"/>
            <a:headEnd/>
            <a:tailEnd/>
          </a:ln>
        </p:spPr>
        <p:txBody>
          <a:bodyPr>
            <a:spAutoFit/>
          </a:bodyPr>
          <a:lstStyle/>
          <a:p>
            <a:pPr>
              <a:lnSpc>
                <a:spcPct val="125000"/>
              </a:lnSpc>
              <a:spcBef>
                <a:spcPts val="0"/>
              </a:spcBef>
            </a:pPr>
            <a:r>
              <a:rPr lang="pl-PL" dirty="0">
                <a:cs typeface="Times New Roman" charset="0"/>
              </a:rPr>
              <a:t>Pokazać informatykę w szerszym kontekście.</a:t>
            </a:r>
          </a:p>
          <a:p>
            <a:pPr>
              <a:lnSpc>
                <a:spcPct val="125000"/>
              </a:lnSpc>
              <a:spcBef>
                <a:spcPts val="0"/>
              </a:spcBef>
            </a:pPr>
            <a:endParaRPr lang="pl-PL" dirty="0">
              <a:cs typeface="Times New Roman" charset="0"/>
            </a:endParaRPr>
          </a:p>
          <a:p>
            <a:pPr>
              <a:lnSpc>
                <a:spcPct val="125000"/>
              </a:lnSpc>
              <a:spcBef>
                <a:spcPts val="0"/>
              </a:spcBef>
            </a:pPr>
            <a:r>
              <a:rPr lang="pl-PL" dirty="0">
                <a:cs typeface="Times New Roman" charset="0"/>
              </a:rPr>
              <a:t>Nie tylko komputer i działający na nim program, lecz wiele komputerów (również serwerów), działające na nich oprogramowanie i ludzie, który z nich korzystają.</a:t>
            </a:r>
            <a:endParaRPr lang="en-US" dirty="0">
              <a:cs typeface="Times New Roman" charset="0"/>
            </a:endParaRPr>
          </a:p>
        </p:txBody>
      </p:sp>
    </p:spTree>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en-US" sz="4000" b="1">
                <a:latin typeface="Book Antiqua" pitchFamily="18" charset="0"/>
                <a:cs typeface="Times New Roman" charset="0"/>
              </a:rPr>
              <a:t>Plan wykładów</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6404" y="1916832"/>
            <a:ext cx="8382000" cy="1895712"/>
          </a:xfrm>
          <a:prstGeom prst="rect">
            <a:avLst/>
          </a:prstGeom>
          <a:noFill/>
          <a:ln w="9525">
            <a:noFill/>
            <a:miter lim="800000"/>
            <a:headEnd/>
            <a:tailEnd/>
          </a:ln>
        </p:spPr>
        <p:txBody>
          <a:bodyPr>
            <a:spAutoFit/>
          </a:bodyPr>
          <a:lstStyle/>
          <a:p>
            <a:pPr>
              <a:lnSpc>
                <a:spcPct val="125000"/>
              </a:lnSpc>
              <a:spcBef>
                <a:spcPts val="0"/>
              </a:spcBef>
            </a:pPr>
            <a:r>
              <a:rPr lang="en-US">
                <a:cs typeface="Times New Roman" charset="0"/>
              </a:rPr>
              <a:t>Wstęp</a:t>
            </a:r>
          </a:p>
          <a:p>
            <a:pPr>
              <a:lnSpc>
                <a:spcPct val="125000"/>
              </a:lnSpc>
              <a:spcBef>
                <a:spcPts val="0"/>
              </a:spcBef>
            </a:pPr>
            <a:r>
              <a:rPr lang="en-US">
                <a:cs typeface="Times New Roman" charset="0"/>
              </a:rPr>
              <a:t>Inżynieria oprogramowania</a:t>
            </a:r>
          </a:p>
          <a:p>
            <a:pPr>
              <a:lnSpc>
                <a:spcPct val="125000"/>
              </a:lnSpc>
              <a:spcBef>
                <a:spcPts val="0"/>
              </a:spcBef>
            </a:pPr>
            <a:r>
              <a:rPr lang="en-US">
                <a:cs typeface="Times New Roman" charset="0"/>
              </a:rPr>
              <a:t>Bazy danych (3 wykłady)</a:t>
            </a:r>
          </a:p>
          <a:p>
            <a:pPr>
              <a:lnSpc>
                <a:spcPct val="125000"/>
              </a:lnSpc>
              <a:spcBef>
                <a:spcPts val="0"/>
              </a:spcBef>
            </a:pPr>
            <a:r>
              <a:rPr lang="en-US">
                <a:cs typeface="Times New Roman" charset="0"/>
              </a:rPr>
              <a:t>Bezpieczeństwo systemów informacyjnych</a:t>
            </a:r>
            <a:endParaRPr lang="en-US" dirty="0">
              <a:cs typeface="Times New Roman" charset="0"/>
            </a:endParaRPr>
          </a:p>
        </p:txBody>
      </p:sp>
    </p:spTree>
    <p:extLst>
      <p:ext uri="{BB962C8B-B14F-4D97-AF65-F5344CB8AC3E}">
        <p14:creationId xmlns:p14="http://schemas.microsoft.com/office/powerpoint/2010/main" val="2320356420"/>
      </p:ext>
    </p:extLst>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System informacyjny a informatyczny</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3323987"/>
          </a:xfrm>
          <a:prstGeom prst="rect">
            <a:avLst/>
          </a:prstGeom>
          <a:noFill/>
          <a:ln w="9525">
            <a:noFill/>
            <a:miter lim="800000"/>
            <a:headEnd/>
            <a:tailEnd/>
          </a:ln>
        </p:spPr>
        <p:txBody>
          <a:bodyPr>
            <a:spAutoFit/>
          </a:bodyPr>
          <a:lstStyle/>
          <a:p>
            <a:pPr marL="360000" indent="-360000">
              <a:lnSpc>
                <a:spcPct val="125000"/>
              </a:lnSpc>
              <a:spcBef>
                <a:spcPts val="0"/>
              </a:spcBef>
              <a:buFontTx/>
              <a:buChar char="•"/>
            </a:pPr>
            <a:r>
              <a:rPr lang="pl-PL" dirty="0">
                <a:cs typeface="Times New Roman" charset="0"/>
              </a:rPr>
              <a:t>System informatyczny – zbiór powiązanych ze sobą elementów służących przetwarzaniu danych przy pomocy narzędzi informatycznych.</a:t>
            </a:r>
          </a:p>
          <a:p>
            <a:pPr marL="342900" indent="-342900">
              <a:lnSpc>
                <a:spcPct val="125000"/>
              </a:lnSpc>
              <a:spcBef>
                <a:spcPts val="0"/>
              </a:spcBef>
              <a:buFont typeface="Arial" panose="020B0604020202020204" pitchFamily="34" charset="0"/>
              <a:buChar char="•"/>
            </a:pPr>
            <a:r>
              <a:rPr lang="pl-PL" dirty="0">
                <a:cs typeface="Times New Roman" charset="0"/>
              </a:rPr>
              <a:t>System informacyjny – struktura pozwalająca użytkownikowi na przetwarzanie informacji. Nie musi być systemem informatycznym, lecz w ramach tego wykładu zajmiemy się głównie aspektami informatycznymi systemów.</a:t>
            </a:r>
            <a:endParaRPr lang="en-US" dirty="0">
              <a:cs typeface="Times New Roman" charset="0"/>
            </a:endParaRPr>
          </a:p>
        </p:txBody>
      </p:sp>
    </p:spTree>
    <p:extLst>
      <p:ext uri="{BB962C8B-B14F-4D97-AF65-F5344CB8AC3E}">
        <p14:creationId xmlns:p14="http://schemas.microsoft.com/office/powerpoint/2010/main" val="319079782"/>
      </p:ext>
    </p:extLst>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System informacyjny a informatyczny</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3785652"/>
          </a:xfrm>
          <a:prstGeom prst="rect">
            <a:avLst/>
          </a:prstGeom>
          <a:noFill/>
          <a:ln w="9525">
            <a:noFill/>
            <a:miter lim="800000"/>
            <a:headEnd/>
            <a:tailEnd/>
          </a:ln>
        </p:spPr>
        <p:txBody>
          <a:bodyPr>
            <a:spAutoFit/>
          </a:bodyPr>
          <a:lstStyle/>
          <a:p>
            <a:pPr>
              <a:lnSpc>
                <a:spcPct val="125000"/>
              </a:lnSpc>
              <a:spcBef>
                <a:spcPts val="0"/>
              </a:spcBef>
            </a:pPr>
            <a:r>
              <a:rPr lang="pl-PL" dirty="0">
                <a:cs typeface="Times New Roman" charset="0"/>
              </a:rPr>
              <a:t>Praktycznie każda większa instytucja w dzisiejszych czasach nie może obyć się bez systemu informatycznego. Stanowi on podstawę bieżącej działalności operacyjnej (przyspieszenie obiegu informacji, automatyzacja procedur, obniżenie kosztów), jak również dostarczenie informacji pozwalających na podejmowanie decyzji strategicznych.</a:t>
            </a:r>
          </a:p>
          <a:p>
            <a:pPr>
              <a:lnSpc>
                <a:spcPct val="125000"/>
              </a:lnSpc>
              <a:spcBef>
                <a:spcPts val="0"/>
              </a:spcBef>
            </a:pPr>
            <a:endParaRPr lang="pl-PL" dirty="0">
              <a:cs typeface="Times New Roman" charset="0"/>
            </a:endParaRPr>
          </a:p>
          <a:p>
            <a:pPr>
              <a:lnSpc>
                <a:spcPct val="125000"/>
              </a:lnSpc>
              <a:spcBef>
                <a:spcPts val="0"/>
              </a:spcBef>
            </a:pPr>
            <a:r>
              <a:rPr lang="pl-PL" dirty="0">
                <a:cs typeface="Times New Roman" charset="0"/>
              </a:rPr>
              <a:t>Przykład: System </a:t>
            </a:r>
            <a:r>
              <a:rPr lang="pl-PL" dirty="0" err="1">
                <a:cs typeface="Times New Roman" charset="0"/>
              </a:rPr>
              <a:t>Gakko</a:t>
            </a:r>
            <a:r>
              <a:rPr lang="pl-PL" dirty="0">
                <a:cs typeface="Times New Roman" charset="0"/>
              </a:rPr>
              <a:t> </a:t>
            </a:r>
            <a:r>
              <a:rPr lang="pl-PL">
                <a:cs typeface="Times New Roman" charset="0"/>
              </a:rPr>
              <a:t>w PJATK.</a:t>
            </a:r>
            <a:endParaRPr lang="en-US" dirty="0">
              <a:cs typeface="Times New Roman" charset="0"/>
            </a:endParaRPr>
          </a:p>
        </p:txBody>
      </p:sp>
    </p:spTree>
    <p:extLst>
      <p:ext uri="{BB962C8B-B14F-4D97-AF65-F5344CB8AC3E}">
        <p14:creationId xmlns:p14="http://schemas.microsoft.com/office/powerpoint/2010/main" val="1825112140"/>
      </p:ext>
    </p:extLst>
  </p:cSld>
  <p:clrMapOvr>
    <a:masterClrMapping/>
  </p:clrMapOvr>
  <p:transition>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Architektura klient – serwer</a:t>
            </a:r>
            <a:endParaRPr lang="en-US" sz="4000" b="1" dirty="0">
              <a:latin typeface="Book Antiqua" pitchFamily="18" charset="0"/>
              <a:cs typeface="Times New Roman" charset="0"/>
            </a:endParaRPr>
          </a:p>
        </p:txBody>
      </p:sp>
      <p:sp>
        <p:nvSpPr>
          <p:cNvPr id="4" name="Ramka 3"/>
          <p:cNvSpPr/>
          <p:nvPr/>
        </p:nvSpPr>
        <p:spPr bwMode="auto">
          <a:xfrm>
            <a:off x="1619672" y="2255406"/>
            <a:ext cx="1656184" cy="648072"/>
          </a:xfrm>
          <a:prstGeom prst="fram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l-P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Klient</a:t>
            </a:r>
          </a:p>
        </p:txBody>
      </p:sp>
      <p:sp>
        <p:nvSpPr>
          <p:cNvPr id="5" name="Ramka 4"/>
          <p:cNvSpPr/>
          <p:nvPr/>
        </p:nvSpPr>
        <p:spPr bwMode="auto">
          <a:xfrm>
            <a:off x="6948264" y="2255406"/>
            <a:ext cx="1656184" cy="648072"/>
          </a:xfrm>
          <a:prstGeom prst="fram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l-P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Klient</a:t>
            </a:r>
          </a:p>
        </p:txBody>
      </p:sp>
      <p:sp>
        <p:nvSpPr>
          <p:cNvPr id="6" name="Ramka 5"/>
          <p:cNvSpPr/>
          <p:nvPr/>
        </p:nvSpPr>
        <p:spPr bwMode="auto">
          <a:xfrm>
            <a:off x="6948264" y="4509120"/>
            <a:ext cx="1656184" cy="648072"/>
          </a:xfrm>
          <a:prstGeom prst="fram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l-P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Klient</a:t>
            </a:r>
          </a:p>
        </p:txBody>
      </p:sp>
      <p:sp>
        <p:nvSpPr>
          <p:cNvPr id="7" name="Ramka 6"/>
          <p:cNvSpPr/>
          <p:nvPr/>
        </p:nvSpPr>
        <p:spPr bwMode="auto">
          <a:xfrm>
            <a:off x="1619672" y="4509120"/>
            <a:ext cx="1656184" cy="648072"/>
          </a:xfrm>
          <a:prstGeom prst="fram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l-P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Klient</a:t>
            </a:r>
          </a:p>
        </p:txBody>
      </p:sp>
      <p:sp>
        <p:nvSpPr>
          <p:cNvPr id="8" name="Schemat blokowy: dysk magnetyczny 7"/>
          <p:cNvSpPr/>
          <p:nvPr/>
        </p:nvSpPr>
        <p:spPr bwMode="auto">
          <a:xfrm>
            <a:off x="4499992" y="3140968"/>
            <a:ext cx="1080120" cy="1008112"/>
          </a:xfrm>
          <a:prstGeom prst="flowChartMagneticDisk">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l-P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Serwer</a:t>
            </a:r>
          </a:p>
        </p:txBody>
      </p:sp>
      <p:cxnSp>
        <p:nvCxnSpPr>
          <p:cNvPr id="9" name="Łącznik prosty ze strzałką 8"/>
          <p:cNvCxnSpPr/>
          <p:nvPr/>
        </p:nvCxnSpPr>
        <p:spPr bwMode="auto">
          <a:xfrm>
            <a:off x="3275856" y="2996952"/>
            <a:ext cx="1080120" cy="360040"/>
          </a:xfrm>
          <a:prstGeom prst="straightConnector1">
            <a:avLst/>
          </a:prstGeom>
          <a:solidFill>
            <a:schemeClr val="accent1"/>
          </a:solidFill>
          <a:ln w="9525" cap="flat" cmpd="sng" algn="ctr">
            <a:solidFill>
              <a:schemeClr val="tx1"/>
            </a:solidFill>
            <a:prstDash val="solid"/>
            <a:miter lim="800000"/>
            <a:headEnd type="triangle"/>
            <a:tailEnd type="triangle"/>
          </a:ln>
          <a:effectLst/>
        </p:spPr>
      </p:cxnSp>
      <p:cxnSp>
        <p:nvCxnSpPr>
          <p:cNvPr id="11" name="Łącznik prosty ze strzałką 10"/>
          <p:cNvCxnSpPr/>
          <p:nvPr/>
        </p:nvCxnSpPr>
        <p:spPr bwMode="auto">
          <a:xfrm flipV="1">
            <a:off x="5724128" y="2996952"/>
            <a:ext cx="1080120" cy="360040"/>
          </a:xfrm>
          <a:prstGeom prst="straightConnector1">
            <a:avLst/>
          </a:prstGeom>
          <a:solidFill>
            <a:schemeClr val="accent1"/>
          </a:solidFill>
          <a:ln w="9525" cap="flat" cmpd="sng" algn="ctr">
            <a:solidFill>
              <a:schemeClr val="tx1"/>
            </a:solidFill>
            <a:prstDash val="solid"/>
            <a:miter lim="800000"/>
            <a:headEnd type="triangle"/>
            <a:tailEnd type="triangle"/>
          </a:ln>
          <a:effectLst/>
        </p:spPr>
      </p:cxnSp>
      <p:cxnSp>
        <p:nvCxnSpPr>
          <p:cNvPr id="14" name="Łącznik prosty ze strzałką 13"/>
          <p:cNvCxnSpPr/>
          <p:nvPr/>
        </p:nvCxnSpPr>
        <p:spPr bwMode="auto">
          <a:xfrm flipV="1">
            <a:off x="3275856" y="4044010"/>
            <a:ext cx="1080120" cy="360040"/>
          </a:xfrm>
          <a:prstGeom prst="straightConnector1">
            <a:avLst/>
          </a:prstGeom>
          <a:solidFill>
            <a:schemeClr val="accent1"/>
          </a:solidFill>
          <a:ln w="9525" cap="flat" cmpd="sng" algn="ctr">
            <a:solidFill>
              <a:schemeClr val="tx1"/>
            </a:solidFill>
            <a:prstDash val="solid"/>
            <a:miter lim="800000"/>
            <a:headEnd type="triangle"/>
            <a:tailEnd type="triangle"/>
          </a:ln>
          <a:effectLst/>
        </p:spPr>
      </p:cxnSp>
      <p:cxnSp>
        <p:nvCxnSpPr>
          <p:cNvPr id="15" name="Łącznik prosty ze strzałką 14"/>
          <p:cNvCxnSpPr/>
          <p:nvPr/>
        </p:nvCxnSpPr>
        <p:spPr bwMode="auto">
          <a:xfrm>
            <a:off x="5724128" y="4044010"/>
            <a:ext cx="1080120" cy="360040"/>
          </a:xfrm>
          <a:prstGeom prst="straightConnector1">
            <a:avLst/>
          </a:prstGeom>
          <a:solidFill>
            <a:schemeClr val="accent1"/>
          </a:solidFill>
          <a:ln w="9525" cap="flat" cmpd="sng" algn="ctr">
            <a:solidFill>
              <a:schemeClr val="tx1"/>
            </a:solidFill>
            <a:prstDash val="solid"/>
            <a:miter lim="800000"/>
            <a:headEnd type="triangle"/>
            <a:tailEnd type="triangle"/>
          </a:ln>
          <a:effectLst/>
        </p:spPr>
      </p:cxnSp>
    </p:spTree>
    <p:extLst>
      <p:ext uri="{BB962C8B-B14F-4D97-AF65-F5344CB8AC3E}">
        <p14:creationId xmlns:p14="http://schemas.microsoft.com/office/powerpoint/2010/main" val="2961881751"/>
      </p:ext>
    </p:extLst>
  </p:cSld>
  <p:clrMapOvr>
    <a:masterClrMapping/>
  </p:clrMapOvr>
  <p:transition>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Rola serwera</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4708981"/>
          </a:xfrm>
          <a:prstGeom prst="rect">
            <a:avLst/>
          </a:prstGeom>
          <a:noFill/>
          <a:ln w="9525">
            <a:noFill/>
            <a:miter lim="800000"/>
            <a:headEnd/>
            <a:tailEnd/>
          </a:ln>
        </p:spPr>
        <p:txBody>
          <a:bodyPr>
            <a:spAutoFit/>
          </a:bodyPr>
          <a:lstStyle/>
          <a:p>
            <a:pPr marL="342900" indent="-342900">
              <a:lnSpc>
                <a:spcPct val="125000"/>
              </a:lnSpc>
              <a:spcBef>
                <a:spcPts val="0"/>
              </a:spcBef>
              <a:buFont typeface="Arial" panose="020B0604020202020204" pitchFamily="34" charset="0"/>
              <a:buChar char="•"/>
            </a:pPr>
            <a:r>
              <a:rPr lang="pl-PL" dirty="0">
                <a:cs typeface="Times New Roman" charset="0"/>
              </a:rPr>
              <a:t>Przechowywanie danych.</a:t>
            </a:r>
          </a:p>
          <a:p>
            <a:pPr marL="342900" indent="-342900">
              <a:lnSpc>
                <a:spcPct val="125000"/>
              </a:lnSpc>
              <a:spcBef>
                <a:spcPts val="0"/>
              </a:spcBef>
              <a:buFont typeface="Arial" panose="020B0604020202020204" pitchFamily="34" charset="0"/>
              <a:buChar char="•"/>
            </a:pPr>
            <a:r>
              <a:rPr lang="pl-PL" dirty="0">
                <a:cs typeface="Times New Roman" charset="0"/>
              </a:rPr>
              <a:t>Udostępnianie danych.</a:t>
            </a:r>
          </a:p>
          <a:p>
            <a:pPr marL="342900" indent="-342900">
              <a:lnSpc>
                <a:spcPct val="125000"/>
              </a:lnSpc>
              <a:spcBef>
                <a:spcPts val="0"/>
              </a:spcBef>
              <a:buFont typeface="Arial" panose="020B0604020202020204" pitchFamily="34" charset="0"/>
              <a:buChar char="•"/>
            </a:pPr>
            <a:r>
              <a:rPr lang="pl-PL" dirty="0">
                <a:cs typeface="Times New Roman" charset="0"/>
              </a:rPr>
              <a:t>Kontrola nad spójnością danych.</a:t>
            </a:r>
          </a:p>
          <a:p>
            <a:pPr marL="342900" indent="-342900">
              <a:lnSpc>
                <a:spcPct val="125000"/>
              </a:lnSpc>
              <a:spcBef>
                <a:spcPts val="0"/>
              </a:spcBef>
              <a:buFont typeface="Arial" panose="020B0604020202020204" pitchFamily="34" charset="0"/>
              <a:buChar char="•"/>
            </a:pPr>
            <a:r>
              <a:rPr lang="pl-PL" dirty="0">
                <a:cs typeface="Times New Roman" charset="0"/>
              </a:rPr>
              <a:t>Kontrola dostępu.</a:t>
            </a:r>
          </a:p>
          <a:p>
            <a:pPr marL="342900" indent="-342900">
              <a:lnSpc>
                <a:spcPct val="125000"/>
              </a:lnSpc>
              <a:spcBef>
                <a:spcPts val="0"/>
              </a:spcBef>
              <a:buFont typeface="Arial" panose="020B0604020202020204" pitchFamily="34" charset="0"/>
              <a:buChar char="•"/>
            </a:pPr>
            <a:endParaRPr lang="pl-PL" dirty="0">
              <a:cs typeface="Times New Roman" charset="0"/>
            </a:endParaRPr>
          </a:p>
          <a:p>
            <a:pPr>
              <a:lnSpc>
                <a:spcPct val="125000"/>
              </a:lnSpc>
              <a:spcBef>
                <a:spcPts val="0"/>
              </a:spcBef>
            </a:pPr>
            <a:r>
              <a:rPr lang="pl-PL" dirty="0">
                <a:cs typeface="Times New Roman" charset="0"/>
              </a:rPr>
              <a:t>Zawiera zwykle:</a:t>
            </a:r>
          </a:p>
          <a:p>
            <a:pPr marL="342900" indent="-342900">
              <a:lnSpc>
                <a:spcPct val="125000"/>
              </a:lnSpc>
              <a:spcBef>
                <a:spcPts val="0"/>
              </a:spcBef>
              <a:buFont typeface="Arial" panose="020B0604020202020204" pitchFamily="34" charset="0"/>
              <a:buChar char="•"/>
            </a:pPr>
            <a:r>
              <a:rPr lang="pl-PL" dirty="0">
                <a:cs typeface="Times New Roman" charset="0"/>
              </a:rPr>
              <a:t>Serwer baz danych.</a:t>
            </a:r>
          </a:p>
          <a:p>
            <a:pPr marL="342900" indent="-342900">
              <a:lnSpc>
                <a:spcPct val="125000"/>
              </a:lnSpc>
              <a:spcBef>
                <a:spcPts val="0"/>
              </a:spcBef>
              <a:buFont typeface="Arial" panose="020B0604020202020204" pitchFamily="34" charset="0"/>
              <a:buChar char="•"/>
            </a:pPr>
            <a:r>
              <a:rPr lang="pl-PL" dirty="0">
                <a:cs typeface="Times New Roman" charset="0"/>
              </a:rPr>
              <a:t>Serwer www.</a:t>
            </a:r>
          </a:p>
          <a:p>
            <a:pPr marL="342900" indent="-342900">
              <a:lnSpc>
                <a:spcPct val="125000"/>
              </a:lnSpc>
              <a:spcBef>
                <a:spcPts val="0"/>
              </a:spcBef>
              <a:buFont typeface="Arial" panose="020B0604020202020204" pitchFamily="34" charset="0"/>
              <a:buChar char="•"/>
            </a:pPr>
            <a:r>
              <a:rPr lang="pl-PL" dirty="0">
                <a:cs typeface="Times New Roman" charset="0"/>
              </a:rPr>
              <a:t>Inne…</a:t>
            </a:r>
          </a:p>
          <a:p>
            <a:pPr marL="342900" indent="-342900">
              <a:lnSpc>
                <a:spcPct val="125000"/>
              </a:lnSpc>
              <a:spcBef>
                <a:spcPts val="0"/>
              </a:spcBef>
              <a:buFont typeface="Arial" panose="020B0604020202020204" pitchFamily="34" charset="0"/>
              <a:buChar char="•"/>
            </a:pPr>
            <a:endParaRPr lang="en-US" dirty="0">
              <a:cs typeface="Times New Roman" charset="0"/>
            </a:endParaRPr>
          </a:p>
        </p:txBody>
      </p:sp>
    </p:spTree>
    <p:extLst>
      <p:ext uri="{BB962C8B-B14F-4D97-AF65-F5344CB8AC3E}">
        <p14:creationId xmlns:p14="http://schemas.microsoft.com/office/powerpoint/2010/main" val="752793358"/>
      </p:ext>
    </p:extLst>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Serwer baz danych</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3785652"/>
          </a:xfrm>
          <a:prstGeom prst="rect">
            <a:avLst/>
          </a:prstGeom>
          <a:noFill/>
          <a:ln w="9525">
            <a:noFill/>
            <a:miter lim="800000"/>
            <a:headEnd/>
            <a:tailEnd/>
          </a:ln>
        </p:spPr>
        <p:txBody>
          <a:bodyPr>
            <a:spAutoFit/>
          </a:bodyPr>
          <a:lstStyle/>
          <a:p>
            <a:pPr marL="342900" indent="-342900">
              <a:lnSpc>
                <a:spcPct val="125000"/>
              </a:lnSpc>
              <a:spcBef>
                <a:spcPts val="0"/>
              </a:spcBef>
              <a:buFont typeface="Arial" panose="020B0604020202020204" pitchFamily="34" charset="0"/>
              <a:buChar char="•"/>
            </a:pPr>
            <a:r>
              <a:rPr lang="pl-PL" dirty="0">
                <a:cs typeface="Times New Roman" charset="0"/>
              </a:rPr>
              <a:t>Zdecydowana większość baz </a:t>
            </a:r>
            <a:r>
              <a:rPr lang="pl-PL">
                <a:cs typeface="Times New Roman" charset="0"/>
              </a:rPr>
              <a:t>danych </a:t>
            </a:r>
            <a:r>
              <a:rPr lang="en-US">
                <a:cs typeface="Times New Roman" charset="0"/>
              </a:rPr>
              <a:t>t</a:t>
            </a:r>
            <a:r>
              <a:rPr lang="pl-PL">
                <a:cs typeface="Times New Roman" charset="0"/>
              </a:rPr>
              <a:t>o </a:t>
            </a:r>
            <a:r>
              <a:rPr lang="pl-PL" dirty="0">
                <a:cs typeface="Times New Roman" charset="0"/>
              </a:rPr>
              <a:t>bazy relacyjne.</a:t>
            </a:r>
          </a:p>
          <a:p>
            <a:pPr marL="342900" indent="-342900">
              <a:lnSpc>
                <a:spcPct val="125000"/>
              </a:lnSpc>
              <a:spcBef>
                <a:spcPts val="0"/>
              </a:spcBef>
              <a:buFont typeface="Arial" panose="020B0604020202020204" pitchFamily="34" charset="0"/>
              <a:buChar char="•"/>
            </a:pPr>
            <a:r>
              <a:rPr lang="pl-PL" dirty="0">
                <a:cs typeface="Times New Roman" charset="0"/>
              </a:rPr>
              <a:t>Najpopularniejsze serwery: </a:t>
            </a:r>
            <a:r>
              <a:rPr lang="pl-PL" dirty="0" err="1">
                <a:cs typeface="Times New Roman" charset="0"/>
              </a:rPr>
              <a:t>Oracle</a:t>
            </a:r>
            <a:r>
              <a:rPr lang="pl-PL" dirty="0">
                <a:cs typeface="Times New Roman" charset="0"/>
              </a:rPr>
              <a:t>, Microsoft SQL Server, </a:t>
            </a:r>
            <a:r>
              <a:rPr lang="pl-PL" dirty="0" err="1">
                <a:cs typeface="Times New Roman" charset="0"/>
              </a:rPr>
              <a:t>MySQL</a:t>
            </a:r>
            <a:r>
              <a:rPr lang="pl-PL" dirty="0">
                <a:cs typeface="Times New Roman" charset="0"/>
              </a:rPr>
              <a:t>, </a:t>
            </a:r>
            <a:r>
              <a:rPr lang="pl-PL" dirty="0" err="1">
                <a:cs typeface="Times New Roman" charset="0"/>
              </a:rPr>
              <a:t>PostgreSQL</a:t>
            </a:r>
            <a:r>
              <a:rPr lang="pl-PL" dirty="0">
                <a:cs typeface="Times New Roman" charset="0"/>
              </a:rPr>
              <a:t>.</a:t>
            </a:r>
          </a:p>
          <a:p>
            <a:pPr marL="342900" indent="-342900">
              <a:lnSpc>
                <a:spcPct val="125000"/>
              </a:lnSpc>
              <a:spcBef>
                <a:spcPts val="0"/>
              </a:spcBef>
              <a:buFont typeface="Arial" panose="020B0604020202020204" pitchFamily="34" charset="0"/>
              <a:buChar char="•"/>
            </a:pPr>
            <a:r>
              <a:rPr lang="pl-PL" dirty="0">
                <a:cs typeface="Times New Roman" charset="0"/>
              </a:rPr>
              <a:t>Do komunikacji między klientem a serwerem baz danych używany jest język SQL, objęty standardem ANSI/ISO.</a:t>
            </a: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en-US" dirty="0">
              <a:cs typeface="Times New Roman" charset="0"/>
            </a:endParaRPr>
          </a:p>
        </p:txBody>
      </p:sp>
      <p:sp>
        <p:nvSpPr>
          <p:cNvPr id="4" name="Ramka 3"/>
          <p:cNvSpPr/>
          <p:nvPr/>
        </p:nvSpPr>
        <p:spPr bwMode="auto">
          <a:xfrm>
            <a:off x="1763688" y="4923518"/>
            <a:ext cx="1656184" cy="648072"/>
          </a:xfrm>
          <a:prstGeom prst="frame">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l-P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Klient</a:t>
            </a:r>
          </a:p>
        </p:txBody>
      </p:sp>
      <p:sp>
        <p:nvSpPr>
          <p:cNvPr id="5" name="Schemat blokowy: dysk magnetyczny 4"/>
          <p:cNvSpPr/>
          <p:nvPr/>
        </p:nvSpPr>
        <p:spPr bwMode="auto">
          <a:xfrm>
            <a:off x="6084168" y="4656952"/>
            <a:ext cx="1080120" cy="1008112"/>
          </a:xfrm>
          <a:prstGeom prst="flowChartMagneticDisk">
            <a:avLst/>
          </a:prstGeom>
          <a:solidFill>
            <a:schemeClr val="accent1"/>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pl-P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Serwer</a:t>
            </a:r>
          </a:p>
        </p:txBody>
      </p:sp>
      <p:cxnSp>
        <p:nvCxnSpPr>
          <p:cNvPr id="6" name="Łącznik prosty ze strzałką 5"/>
          <p:cNvCxnSpPr/>
          <p:nvPr/>
        </p:nvCxnSpPr>
        <p:spPr bwMode="auto">
          <a:xfrm>
            <a:off x="3570040" y="5247554"/>
            <a:ext cx="2370112" cy="0"/>
          </a:xfrm>
          <a:prstGeom prst="straightConnector1">
            <a:avLst/>
          </a:prstGeom>
          <a:solidFill>
            <a:schemeClr val="accent1"/>
          </a:solidFill>
          <a:ln w="9525" cap="flat" cmpd="sng" algn="ctr">
            <a:solidFill>
              <a:schemeClr val="tx1"/>
            </a:solidFill>
            <a:prstDash val="solid"/>
            <a:miter lim="800000"/>
            <a:headEnd type="triangle"/>
            <a:tailEnd type="triangle"/>
          </a:ln>
          <a:effectLst/>
        </p:spPr>
      </p:cxnSp>
      <p:sp>
        <p:nvSpPr>
          <p:cNvPr id="3" name="pole tekstowe 2"/>
          <p:cNvSpPr txBox="1"/>
          <p:nvPr/>
        </p:nvSpPr>
        <p:spPr>
          <a:xfrm>
            <a:off x="4394946" y="4785889"/>
            <a:ext cx="800219" cy="461665"/>
          </a:xfrm>
          <a:prstGeom prst="rect">
            <a:avLst/>
          </a:prstGeom>
          <a:noFill/>
        </p:spPr>
        <p:txBody>
          <a:bodyPr wrap="none" rtlCol="0">
            <a:spAutoFit/>
          </a:bodyPr>
          <a:lstStyle/>
          <a:p>
            <a:r>
              <a:rPr lang="pl-PL" dirty="0">
                <a:latin typeface="Arial" panose="020B0604020202020204" pitchFamily="34" charset="0"/>
                <a:cs typeface="Arial" panose="020B0604020202020204" pitchFamily="34" charset="0"/>
              </a:rPr>
              <a:t>SQL</a:t>
            </a:r>
          </a:p>
        </p:txBody>
      </p:sp>
    </p:spTree>
    <p:extLst>
      <p:ext uri="{BB962C8B-B14F-4D97-AF65-F5344CB8AC3E}">
        <p14:creationId xmlns:p14="http://schemas.microsoft.com/office/powerpoint/2010/main" val="550369119"/>
      </p:ext>
    </p:extLst>
  </p:cSld>
  <p:clrMapOvr>
    <a:masterClrMapping/>
  </p:clrMapOvr>
  <p:transition>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Rola klienta</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4247317"/>
          </a:xfrm>
          <a:prstGeom prst="rect">
            <a:avLst/>
          </a:prstGeom>
          <a:noFill/>
          <a:ln w="9525">
            <a:noFill/>
            <a:miter lim="800000"/>
            <a:headEnd/>
            <a:tailEnd/>
          </a:ln>
        </p:spPr>
        <p:txBody>
          <a:bodyPr>
            <a:spAutoFit/>
          </a:bodyPr>
          <a:lstStyle/>
          <a:p>
            <a:pPr marL="342900" indent="-342900">
              <a:lnSpc>
                <a:spcPct val="125000"/>
              </a:lnSpc>
              <a:spcBef>
                <a:spcPts val="0"/>
              </a:spcBef>
              <a:buFont typeface="Arial" panose="020B0604020202020204" pitchFamily="34" charset="0"/>
              <a:buChar char="•"/>
            </a:pPr>
            <a:r>
              <a:rPr lang="pl-PL" dirty="0">
                <a:cs typeface="Times New Roman" charset="0"/>
              </a:rPr>
              <a:t>Prezentacja danych końcowemu użytkownikowi.</a:t>
            </a:r>
          </a:p>
          <a:p>
            <a:pPr marL="342900" indent="-342900">
              <a:lnSpc>
                <a:spcPct val="125000"/>
              </a:lnSpc>
              <a:spcBef>
                <a:spcPts val="0"/>
              </a:spcBef>
              <a:buFont typeface="Arial" panose="020B0604020202020204" pitchFamily="34" charset="0"/>
              <a:buChar char="•"/>
            </a:pPr>
            <a:r>
              <a:rPr lang="pl-PL" dirty="0">
                <a:cs typeface="Times New Roman" charset="0"/>
              </a:rPr>
              <a:t>Umożliwienie użytkownikowi wygodnej pracy z danymi (przyjazny interfejs użytkownika).</a:t>
            </a:r>
          </a:p>
          <a:p>
            <a:pPr marL="342900" indent="-342900">
              <a:lnSpc>
                <a:spcPct val="125000"/>
              </a:lnSpc>
              <a:spcBef>
                <a:spcPts val="0"/>
              </a:spcBef>
              <a:buFont typeface="Arial" panose="020B0604020202020204" pitchFamily="34" charset="0"/>
              <a:buChar char="•"/>
            </a:pPr>
            <a:r>
              <a:rPr lang="pl-PL" dirty="0">
                <a:cs typeface="Times New Roman" charset="0"/>
              </a:rPr>
              <a:t>Wstępna walidacja danych (zabezpieczenie przed wykonywaniem nieprawidłowych operacji na danych lub wprowadzaniem błędnych danych).</a:t>
            </a: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en-US" dirty="0">
              <a:cs typeface="Times New Roman" charset="0"/>
            </a:endParaRPr>
          </a:p>
        </p:txBody>
      </p:sp>
    </p:spTree>
    <p:extLst>
      <p:ext uri="{BB962C8B-B14F-4D97-AF65-F5344CB8AC3E}">
        <p14:creationId xmlns:p14="http://schemas.microsoft.com/office/powerpoint/2010/main" val="48873748"/>
      </p:ext>
    </p:extLst>
  </p:cSld>
  <p:clrMapOvr>
    <a:masterClrMapping/>
  </p:clrMapOvr>
  <p:transition>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Klient stacjonarny / www</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4708981"/>
          </a:xfrm>
          <a:prstGeom prst="rect">
            <a:avLst/>
          </a:prstGeom>
          <a:noFill/>
          <a:ln w="9525">
            <a:noFill/>
            <a:miter lim="800000"/>
            <a:headEnd/>
            <a:tailEnd/>
          </a:ln>
        </p:spPr>
        <p:txBody>
          <a:bodyPr>
            <a:spAutoFit/>
          </a:bodyPr>
          <a:lstStyle/>
          <a:p>
            <a:pPr>
              <a:lnSpc>
                <a:spcPct val="125000"/>
              </a:lnSpc>
              <a:spcBef>
                <a:spcPts val="0"/>
              </a:spcBef>
            </a:pPr>
            <a:r>
              <a:rPr lang="pl-PL" dirty="0">
                <a:cs typeface="Times New Roman" charset="0"/>
              </a:rPr>
              <a:t>Klient stacjonarny (zwykle – gruby klient):</a:t>
            </a:r>
          </a:p>
          <a:p>
            <a:pPr marL="342900" indent="-342900">
              <a:lnSpc>
                <a:spcPct val="125000"/>
              </a:lnSpc>
              <a:spcBef>
                <a:spcPts val="0"/>
              </a:spcBef>
              <a:buFont typeface="Arial" panose="020B0604020202020204" pitchFamily="34" charset="0"/>
              <a:buChar char="•"/>
            </a:pPr>
            <a:r>
              <a:rPr lang="pl-PL" dirty="0">
                <a:solidFill>
                  <a:srgbClr val="00B050"/>
                </a:solidFill>
                <a:cs typeface="Times New Roman" charset="0"/>
              </a:rPr>
              <a:t>Wygodniejsza praca z danymi.</a:t>
            </a:r>
          </a:p>
          <a:p>
            <a:pPr marL="342900" indent="-342900">
              <a:lnSpc>
                <a:spcPct val="125000"/>
              </a:lnSpc>
              <a:spcBef>
                <a:spcPts val="0"/>
              </a:spcBef>
              <a:buFont typeface="Arial" panose="020B0604020202020204" pitchFamily="34" charset="0"/>
              <a:buChar char="•"/>
            </a:pPr>
            <a:r>
              <a:rPr lang="pl-PL" dirty="0">
                <a:solidFill>
                  <a:srgbClr val="FF0000"/>
                </a:solidFill>
                <a:cs typeface="Times New Roman" charset="0"/>
              </a:rPr>
              <a:t>Konieczność instalacji programu na komputerze klienta.</a:t>
            </a:r>
          </a:p>
          <a:p>
            <a:pPr marL="342900" indent="-342900">
              <a:lnSpc>
                <a:spcPct val="125000"/>
              </a:lnSpc>
              <a:spcBef>
                <a:spcPts val="0"/>
              </a:spcBef>
              <a:buFont typeface="Arial" panose="020B0604020202020204" pitchFamily="34" charset="0"/>
              <a:buChar char="•"/>
            </a:pPr>
            <a:endParaRPr lang="pl-PL" dirty="0">
              <a:cs typeface="Times New Roman" charset="0"/>
            </a:endParaRPr>
          </a:p>
          <a:p>
            <a:pPr>
              <a:lnSpc>
                <a:spcPct val="125000"/>
              </a:lnSpc>
              <a:spcBef>
                <a:spcPts val="0"/>
              </a:spcBef>
            </a:pPr>
            <a:r>
              <a:rPr lang="pl-PL" dirty="0">
                <a:cs typeface="Times New Roman" charset="0"/>
              </a:rPr>
              <a:t>Klient www (cienki klient):</a:t>
            </a:r>
          </a:p>
          <a:p>
            <a:pPr marL="342900" indent="-342900">
              <a:lnSpc>
                <a:spcPct val="125000"/>
              </a:lnSpc>
              <a:spcBef>
                <a:spcPts val="0"/>
              </a:spcBef>
              <a:buFont typeface="Arial" panose="020B0604020202020204" pitchFamily="34" charset="0"/>
              <a:buChar char="•"/>
            </a:pPr>
            <a:r>
              <a:rPr lang="pl-PL" dirty="0">
                <a:solidFill>
                  <a:srgbClr val="00B050"/>
                </a:solidFill>
                <a:cs typeface="Times New Roman" charset="0"/>
              </a:rPr>
              <a:t>Brak konieczności instalacji – wystarczy przeglądarka.</a:t>
            </a:r>
          </a:p>
          <a:p>
            <a:pPr marL="342900" indent="-342900">
              <a:lnSpc>
                <a:spcPct val="125000"/>
              </a:lnSpc>
              <a:spcBef>
                <a:spcPts val="0"/>
              </a:spcBef>
              <a:buFont typeface="Arial" panose="020B0604020202020204" pitchFamily="34" charset="0"/>
              <a:buChar char="•"/>
            </a:pPr>
            <a:r>
              <a:rPr lang="pl-PL" dirty="0">
                <a:solidFill>
                  <a:srgbClr val="00B050"/>
                </a:solidFill>
                <a:cs typeface="Times New Roman" charset="0"/>
              </a:rPr>
              <a:t>Łatwiejsza konserwacja – administrator nie musi zajmować się komputerami klientów.</a:t>
            </a:r>
          </a:p>
          <a:p>
            <a:pPr marL="342900" indent="-342900">
              <a:lnSpc>
                <a:spcPct val="125000"/>
              </a:lnSpc>
              <a:spcBef>
                <a:spcPts val="0"/>
              </a:spcBef>
              <a:buFont typeface="Arial" panose="020B0604020202020204" pitchFamily="34" charset="0"/>
              <a:buChar char="•"/>
            </a:pPr>
            <a:r>
              <a:rPr lang="pl-PL" dirty="0">
                <a:solidFill>
                  <a:srgbClr val="FF0000"/>
                </a:solidFill>
                <a:cs typeface="Times New Roman" charset="0"/>
              </a:rPr>
              <a:t>Ograniczenia wynikające z możliwości HTTP / HTML, np. konieczność przeładowywania strony.</a:t>
            </a:r>
          </a:p>
        </p:txBody>
      </p:sp>
    </p:spTree>
    <p:extLst>
      <p:ext uri="{BB962C8B-B14F-4D97-AF65-F5344CB8AC3E}">
        <p14:creationId xmlns:p14="http://schemas.microsoft.com/office/powerpoint/2010/main" val="559773744"/>
      </p:ext>
    </p:extLst>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Architektura dwu i trójwarstwowa</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5170646"/>
          </a:xfrm>
          <a:prstGeom prst="rect">
            <a:avLst/>
          </a:prstGeom>
          <a:noFill/>
          <a:ln w="9525">
            <a:noFill/>
            <a:miter lim="800000"/>
            <a:headEnd/>
            <a:tailEnd/>
          </a:ln>
        </p:spPr>
        <p:txBody>
          <a:bodyPr>
            <a:spAutoFit/>
          </a:bodyPr>
          <a:lstStyle/>
          <a:p>
            <a:pPr marL="342900" indent="-342900">
              <a:lnSpc>
                <a:spcPct val="125000"/>
              </a:lnSpc>
              <a:spcBef>
                <a:spcPts val="0"/>
              </a:spcBef>
              <a:buFont typeface="Arial" panose="020B0604020202020204" pitchFamily="34" charset="0"/>
              <a:buChar char="•"/>
            </a:pPr>
            <a:r>
              <a:rPr lang="pl-PL" dirty="0">
                <a:cs typeface="Times New Roman" charset="0"/>
              </a:rPr>
              <a:t>Architektura dwuwarstwowa – klasyczna architektura klient-serwer, tzn. zarówno składowanie, jak i całe przetwarzanie danych znajduje się w jednym miejscu na serwerze.</a:t>
            </a:r>
          </a:p>
          <a:p>
            <a:pPr marL="342900" indent="-342900">
              <a:lnSpc>
                <a:spcPct val="125000"/>
              </a:lnSpc>
              <a:spcBef>
                <a:spcPts val="0"/>
              </a:spcBef>
              <a:buFont typeface="Arial" panose="020B0604020202020204" pitchFamily="34" charset="0"/>
              <a:buChar char="•"/>
            </a:pPr>
            <a:r>
              <a:rPr lang="pl-PL" dirty="0">
                <a:cs typeface="Times New Roman" charset="0"/>
              </a:rPr>
              <a:t>Architektura trójwarstwowa – składowanie danych oddzielone od przetwarzania danych.</a:t>
            </a:r>
          </a:p>
          <a:p>
            <a:pPr marL="342900" indent="-342900">
              <a:lnSpc>
                <a:spcPct val="125000"/>
              </a:lnSpc>
              <a:spcBef>
                <a:spcPts val="0"/>
              </a:spcBef>
              <a:buFont typeface="Arial" panose="020B0604020202020204" pitchFamily="34" charset="0"/>
              <a:buChar char="•"/>
            </a:pPr>
            <a:r>
              <a:rPr lang="pl-PL" dirty="0">
                <a:cs typeface="Times New Roman" charset="0"/>
              </a:rPr>
              <a:t>Architektura wielowarstwowa – dodatkowe warstwy, np. warstwa logiki biznesowej, implementująca najważniejsze procedury z punktu widzenia organizacji.</a:t>
            </a: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en-US" dirty="0">
              <a:cs typeface="Times New Roman" charset="0"/>
            </a:endParaRPr>
          </a:p>
        </p:txBody>
      </p:sp>
    </p:spTree>
    <p:extLst>
      <p:ext uri="{BB962C8B-B14F-4D97-AF65-F5344CB8AC3E}">
        <p14:creationId xmlns:p14="http://schemas.microsoft.com/office/powerpoint/2010/main" val="3961534884"/>
      </p:ext>
    </p:extLst>
  </p:cSld>
  <p:clrMapOvr>
    <a:masterClrMapping/>
  </p:clrMapOvr>
  <p:transition>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Baza scentralizowana a rozproszona</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2819041"/>
          </a:xfrm>
          <a:prstGeom prst="rect">
            <a:avLst/>
          </a:prstGeom>
          <a:noFill/>
          <a:ln w="9525">
            <a:noFill/>
            <a:miter lim="800000"/>
            <a:headEnd/>
            <a:tailEnd/>
          </a:ln>
        </p:spPr>
        <p:txBody>
          <a:bodyPr>
            <a:spAutoFit/>
          </a:bodyPr>
          <a:lstStyle/>
          <a:p>
            <a:pPr marL="342900" indent="-342900">
              <a:lnSpc>
                <a:spcPct val="125000"/>
              </a:lnSpc>
              <a:spcBef>
                <a:spcPts val="0"/>
              </a:spcBef>
              <a:buFont typeface="Arial" panose="020B0604020202020204" pitchFamily="34" charset="0"/>
              <a:buChar char="•"/>
            </a:pPr>
            <a:r>
              <a:rPr lang="pl-PL" dirty="0">
                <a:cs typeface="Times New Roman" charset="0"/>
              </a:rPr>
              <a:t>Scentralizowana – jeden serwer baz </a:t>
            </a:r>
            <a:r>
              <a:rPr lang="pl-PL">
                <a:cs typeface="Times New Roman" charset="0"/>
              </a:rPr>
              <a:t>danych.</a:t>
            </a:r>
            <a:endParaRPr lang="pl-PL" dirty="0">
              <a:cs typeface="Times New Roman" charset="0"/>
            </a:endParaRPr>
          </a:p>
          <a:p>
            <a:pPr marL="342900" indent="-342900">
              <a:lnSpc>
                <a:spcPct val="125000"/>
              </a:lnSpc>
              <a:spcBef>
                <a:spcPts val="0"/>
              </a:spcBef>
              <a:buFont typeface="Arial" panose="020B0604020202020204" pitchFamily="34" charset="0"/>
              <a:buChar char="•"/>
            </a:pPr>
            <a:r>
              <a:rPr lang="pl-PL" dirty="0">
                <a:cs typeface="Times New Roman" charset="0"/>
              </a:rPr>
              <a:t>Rozproszona – wiele serwerów wymieniających się danymi (replikacja).</a:t>
            </a: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pl-PL" dirty="0">
              <a:cs typeface="Times New Roman" charset="0"/>
            </a:endParaRPr>
          </a:p>
          <a:p>
            <a:pPr marL="342900" indent="-342900">
              <a:lnSpc>
                <a:spcPct val="125000"/>
              </a:lnSpc>
              <a:spcBef>
                <a:spcPts val="0"/>
              </a:spcBef>
              <a:buFont typeface="Arial" panose="020B0604020202020204" pitchFamily="34" charset="0"/>
              <a:buChar char="•"/>
            </a:pPr>
            <a:endParaRPr lang="en-US" dirty="0">
              <a:cs typeface="Times New Roman" charset="0"/>
            </a:endParaRPr>
          </a:p>
        </p:txBody>
      </p:sp>
    </p:spTree>
    <p:extLst>
      <p:ext uri="{BB962C8B-B14F-4D97-AF65-F5344CB8AC3E}">
        <p14:creationId xmlns:p14="http://schemas.microsoft.com/office/powerpoint/2010/main" val="2805140179"/>
      </p:ext>
    </p:extLst>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Rozwiązania „w chmurze”</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4247317"/>
          </a:xfrm>
          <a:prstGeom prst="rect">
            <a:avLst/>
          </a:prstGeom>
          <a:noFill/>
          <a:ln w="9525">
            <a:noFill/>
            <a:miter lim="800000"/>
            <a:headEnd/>
            <a:tailEnd/>
          </a:ln>
        </p:spPr>
        <p:txBody>
          <a:bodyPr>
            <a:spAutoFit/>
          </a:bodyPr>
          <a:lstStyle/>
          <a:p>
            <a:pPr marL="342900" indent="-342900">
              <a:lnSpc>
                <a:spcPct val="125000"/>
              </a:lnSpc>
              <a:spcBef>
                <a:spcPts val="0"/>
              </a:spcBef>
              <a:buFont typeface="Arial" panose="020B0604020202020204" pitchFamily="34" charset="0"/>
              <a:buChar char="•"/>
            </a:pPr>
            <a:r>
              <a:rPr lang="pl-PL" dirty="0">
                <a:cs typeface="Times New Roman" charset="0"/>
              </a:rPr>
              <a:t>Nie ma jednego / wielu dedykowanych serwerów, lecz „chmura” (cloud computing).</a:t>
            </a:r>
          </a:p>
          <a:p>
            <a:pPr marL="342900" indent="-342900">
              <a:lnSpc>
                <a:spcPct val="125000"/>
              </a:lnSpc>
              <a:spcBef>
                <a:spcPts val="0"/>
              </a:spcBef>
              <a:buFont typeface="Arial" panose="020B0604020202020204" pitchFamily="34" charset="0"/>
              <a:buChar char="•"/>
            </a:pPr>
            <a:r>
              <a:rPr lang="pl-PL" dirty="0">
                <a:cs typeface="Times New Roman" charset="0"/>
              </a:rPr>
              <a:t>Jest to model oparty na usługach dostarczanych przez usługodawcę (np. usługi Google: </a:t>
            </a:r>
            <a:r>
              <a:rPr lang="pl-PL" dirty="0" err="1">
                <a:cs typeface="Times New Roman" charset="0"/>
              </a:rPr>
              <a:t>Gmail</a:t>
            </a:r>
            <a:r>
              <a:rPr lang="pl-PL" dirty="0">
                <a:cs typeface="Times New Roman" charset="0"/>
              </a:rPr>
              <a:t>, Google </a:t>
            </a:r>
            <a:r>
              <a:rPr lang="pl-PL" dirty="0" err="1">
                <a:cs typeface="Times New Roman" charset="0"/>
              </a:rPr>
              <a:t>Calendar</a:t>
            </a:r>
            <a:r>
              <a:rPr lang="pl-PL">
                <a:cs typeface="Times New Roman" charset="0"/>
              </a:rPr>
              <a:t>, Google </a:t>
            </a:r>
            <a:r>
              <a:rPr lang="pl-PL" dirty="0" err="1">
                <a:cs typeface="Times New Roman" charset="0"/>
              </a:rPr>
              <a:t>Docs</a:t>
            </a:r>
            <a:r>
              <a:rPr lang="pl-PL" dirty="0">
                <a:cs typeface="Times New Roman" charset="0"/>
              </a:rPr>
              <a:t> i wiele innych).</a:t>
            </a:r>
          </a:p>
          <a:p>
            <a:pPr marL="342900" indent="-342900">
              <a:lnSpc>
                <a:spcPct val="125000"/>
              </a:lnSpc>
              <a:spcBef>
                <a:spcPts val="0"/>
              </a:spcBef>
              <a:buFont typeface="Arial" panose="020B0604020202020204" pitchFamily="34" charset="0"/>
              <a:buChar char="•"/>
            </a:pPr>
            <a:r>
              <a:rPr lang="pl-PL" dirty="0">
                <a:cs typeface="Times New Roman" charset="0"/>
              </a:rPr>
              <a:t>Nie interesuje nas, gdzie znajduje się komputer przetwarzający nasze żądania (zwykle bardzo wiele komputerów). Zajmuje się tym „chmura”.</a:t>
            </a:r>
          </a:p>
          <a:p>
            <a:pPr>
              <a:lnSpc>
                <a:spcPct val="125000"/>
              </a:lnSpc>
              <a:spcBef>
                <a:spcPts val="0"/>
              </a:spcBef>
            </a:pPr>
            <a:endParaRPr lang="en-US" dirty="0">
              <a:cs typeface="Times New Roman" charset="0"/>
            </a:endParaRPr>
          </a:p>
        </p:txBody>
      </p:sp>
    </p:spTree>
    <p:extLst>
      <p:ext uri="{BB962C8B-B14F-4D97-AF65-F5344CB8AC3E}">
        <p14:creationId xmlns:p14="http://schemas.microsoft.com/office/powerpoint/2010/main" val="2909610057"/>
      </p:ext>
    </p:extLst>
  </p:cSld>
  <p:clrMapOvr>
    <a:masterClrMapping/>
  </p:clrMapOvr>
  <p:transition>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571500" y="533400"/>
            <a:ext cx="8429625" cy="1143000"/>
          </a:xfrm>
        </p:spPr>
        <p:txBody>
          <a:bodyPr/>
          <a:lstStyle/>
          <a:p>
            <a:pPr algn="ctr" eaLnBrk="1" hangingPunct="1"/>
            <a:r>
              <a:rPr lang="pl-PL" sz="4000" b="1" dirty="0">
                <a:latin typeface="Book Antiqua" pitchFamily="18" charset="0"/>
                <a:cs typeface="Times New Roman" charset="0"/>
              </a:rPr>
              <a:t>Rozwiązania „w chmurze”</a:t>
            </a:r>
            <a:endParaRPr lang="en-US" sz="4000" b="1" dirty="0">
              <a:latin typeface="Book Antiqua" pitchFamily="18" charset="0"/>
              <a:cs typeface="Times New Roman" charset="0"/>
            </a:endParaRPr>
          </a:p>
        </p:txBody>
      </p:sp>
      <p:sp>
        <p:nvSpPr>
          <p:cNvPr id="8195" name="Text Box 3"/>
          <p:cNvSpPr txBox="1">
            <a:spLocks noChangeArrowheads="1"/>
          </p:cNvSpPr>
          <p:nvPr/>
        </p:nvSpPr>
        <p:spPr bwMode="auto">
          <a:xfrm>
            <a:off x="533400" y="1785938"/>
            <a:ext cx="8382000" cy="3323987"/>
          </a:xfrm>
          <a:prstGeom prst="rect">
            <a:avLst/>
          </a:prstGeom>
          <a:noFill/>
          <a:ln w="9525">
            <a:noFill/>
            <a:miter lim="800000"/>
            <a:headEnd/>
            <a:tailEnd/>
          </a:ln>
        </p:spPr>
        <p:txBody>
          <a:bodyPr>
            <a:spAutoFit/>
          </a:bodyPr>
          <a:lstStyle/>
          <a:p>
            <a:pPr marL="342900" indent="-342900">
              <a:lnSpc>
                <a:spcPct val="125000"/>
              </a:lnSpc>
              <a:spcBef>
                <a:spcPts val="0"/>
              </a:spcBef>
              <a:buFont typeface="Arial" panose="020B0604020202020204" pitchFamily="34" charset="0"/>
              <a:buChar char="•"/>
            </a:pPr>
            <a:r>
              <a:rPr lang="pl-PL" dirty="0">
                <a:cs typeface="Times New Roman" charset="0"/>
              </a:rPr>
              <a:t>Brak konieczności instalacji i utrzymania infrastruktury.</a:t>
            </a:r>
          </a:p>
          <a:p>
            <a:pPr marL="342900" indent="-342900">
              <a:lnSpc>
                <a:spcPct val="125000"/>
              </a:lnSpc>
              <a:spcBef>
                <a:spcPts val="0"/>
              </a:spcBef>
              <a:buFont typeface="Arial" panose="020B0604020202020204" pitchFamily="34" charset="0"/>
              <a:buChar char="•"/>
            </a:pPr>
            <a:r>
              <a:rPr lang="pl-PL" dirty="0">
                <a:cs typeface="Times New Roman" charset="0"/>
              </a:rPr>
              <a:t>Coraz więcej dostępnych usług, np. są już dostępne nie tylko proste usługi jak e-mail czy arkusze kalkulacyjne, lecz również np. serwery baz danych.</a:t>
            </a:r>
          </a:p>
          <a:p>
            <a:pPr marL="342900" indent="-342900">
              <a:lnSpc>
                <a:spcPct val="125000"/>
              </a:lnSpc>
              <a:spcBef>
                <a:spcPts val="0"/>
              </a:spcBef>
              <a:buFont typeface="Arial" panose="020B0604020202020204" pitchFamily="34" charset="0"/>
              <a:buChar char="•"/>
            </a:pPr>
            <a:r>
              <a:rPr lang="pl-PL" dirty="0">
                <a:cs typeface="Times New Roman" charset="0"/>
              </a:rPr>
              <a:t>Przykład: Windows </a:t>
            </a:r>
            <a:r>
              <a:rPr lang="pl-PL" dirty="0" err="1">
                <a:cs typeface="Times New Roman" charset="0"/>
              </a:rPr>
              <a:t>Azure</a:t>
            </a:r>
            <a:r>
              <a:rPr lang="pl-PL" dirty="0">
                <a:cs typeface="Times New Roman" charset="0"/>
              </a:rPr>
              <a:t>: środowisko uruchomieniowe aplikacji, serwer baz danych, składowanie danych…</a:t>
            </a:r>
          </a:p>
          <a:p>
            <a:pPr marL="342900" indent="-342900">
              <a:lnSpc>
                <a:spcPct val="125000"/>
              </a:lnSpc>
              <a:spcBef>
                <a:spcPts val="0"/>
              </a:spcBef>
              <a:buFont typeface="Arial" panose="020B0604020202020204" pitchFamily="34" charset="0"/>
              <a:buChar char="•"/>
            </a:pPr>
            <a:endParaRPr lang="en-US" dirty="0">
              <a:cs typeface="Times New Roman" charset="0"/>
            </a:endParaRPr>
          </a:p>
        </p:txBody>
      </p:sp>
    </p:spTree>
    <p:extLst>
      <p:ext uri="{BB962C8B-B14F-4D97-AF65-F5344CB8AC3E}">
        <p14:creationId xmlns:p14="http://schemas.microsoft.com/office/powerpoint/2010/main" val="3462848623"/>
      </p:ext>
    </p:extLst>
  </p:cSld>
  <p:clrMapOvr>
    <a:masterClrMapping/>
  </p:clrMapOvr>
  <p:transition>
    <p:dissolve/>
  </p:transition>
</p:sld>
</file>

<file path=ppt/theme/theme1.xml><?xml version="1.0" encoding="utf-8"?>
<a:theme xmlns:a="http://schemas.openxmlformats.org/drawingml/2006/main" name="MatKonfPras">
  <a:themeElements>
    <a:clrScheme name="MatKonfPras 2">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B0AE6A"/>
      </a:hlink>
      <a:folHlink>
        <a:srgbClr val="C3E684"/>
      </a:folHlink>
    </a:clrScheme>
    <a:fontScheme name="MatKonfPras">
      <a:majorFont>
        <a:latin typeface="Times New Roman"/>
        <a:ea typeface=""/>
        <a:cs typeface=""/>
      </a:majorFont>
      <a:minorFont>
        <a:latin typeface="Times New Roman"/>
        <a:ea typeface=""/>
        <a:cs typeface=""/>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MatKonfPras 1">
        <a:dk1>
          <a:srgbClr val="666699"/>
        </a:dk1>
        <a:lt1>
          <a:srgbClr val="FFFFCC"/>
        </a:lt1>
        <a:dk2>
          <a:srgbClr val="687FCA"/>
        </a:dk2>
        <a:lt2>
          <a:srgbClr val="192449"/>
        </a:lt2>
        <a:accent1>
          <a:srgbClr val="C9DDF1"/>
        </a:accent1>
        <a:accent2>
          <a:srgbClr val="FAC164"/>
        </a:accent2>
        <a:accent3>
          <a:srgbClr val="B9C0E1"/>
        </a:accent3>
        <a:accent4>
          <a:srgbClr val="DADAAE"/>
        </a:accent4>
        <a:accent5>
          <a:srgbClr val="E1EB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MatKonfPras 2">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B0AE6A"/>
        </a:hlink>
        <a:folHlink>
          <a:srgbClr val="C3E684"/>
        </a:folHlink>
      </a:clrScheme>
      <a:clrMap bg1="lt1" tx1="dk1" bg2="lt2" tx2="dk2" accent1="accent1" accent2="accent2" accent3="accent3" accent4="accent4" accent5="accent5" accent6="accent6" hlink="hlink" folHlink="folHlink"/>
    </a:extraClrScheme>
    <a:extraClrScheme>
      <a:clrScheme name="MatKonfPras 3">
        <a:dk1>
          <a:srgbClr val="333333"/>
        </a:dk1>
        <a:lt1>
          <a:srgbClr val="FFFFFF"/>
        </a:lt1>
        <a:dk2>
          <a:srgbClr val="000000"/>
        </a:dk2>
        <a:lt2>
          <a:srgbClr val="DDDDDD"/>
        </a:lt2>
        <a:accent1>
          <a:srgbClr val="DDDDDD"/>
        </a:accent1>
        <a:accent2>
          <a:srgbClr val="B2B2B2"/>
        </a:accent2>
        <a:accent3>
          <a:srgbClr val="FFFFFF"/>
        </a:accent3>
        <a:accent4>
          <a:srgbClr val="2A2A2A"/>
        </a:accent4>
        <a:accent5>
          <a:srgbClr val="EBEBEB"/>
        </a:accent5>
        <a:accent6>
          <a:srgbClr val="A1A1A1"/>
        </a:accent6>
        <a:hlink>
          <a:srgbClr val="808080"/>
        </a:hlink>
        <a:folHlink>
          <a:srgbClr val="5F5F5F"/>
        </a:folHlink>
      </a:clrScheme>
      <a:clrMap bg1="lt1" tx1="dk1" bg2="lt2" tx2="dk2" accent1="accent1" accent2="accent2" accent3="accent3" accent4="accent4" accent5="accent5" accent6="accent6" hlink="hlink" folHlink="folHlink"/>
    </a:extraClrScheme>
    <a:extraClrScheme>
      <a:clrScheme name="MatKonfPras 4">
        <a:dk1>
          <a:srgbClr val="8061A5"/>
        </a:dk1>
        <a:lt1>
          <a:srgbClr val="FFFFCC"/>
        </a:lt1>
        <a:dk2>
          <a:srgbClr val="967DB5"/>
        </a:dk2>
        <a:lt2>
          <a:srgbClr val="192449"/>
        </a:lt2>
        <a:accent1>
          <a:srgbClr val="D6C9F1"/>
        </a:accent1>
        <a:accent2>
          <a:srgbClr val="FAC164"/>
        </a:accent2>
        <a:accent3>
          <a:srgbClr val="C9BFD7"/>
        </a:accent3>
        <a:accent4>
          <a:srgbClr val="DADAAE"/>
        </a:accent4>
        <a:accent5>
          <a:srgbClr val="E8E1F7"/>
        </a:accent5>
        <a:accent6>
          <a:srgbClr val="E3AF5A"/>
        </a:accent6>
        <a:hlink>
          <a:srgbClr val="B0AE6A"/>
        </a:hlink>
        <a:folHlink>
          <a:srgbClr val="C3E684"/>
        </a:folHlink>
      </a:clrScheme>
      <a:clrMap bg1="dk2" tx1="lt1" bg2="dk1" tx2="lt2" accent1="accent1" accent2="accent2" accent3="accent3" accent4="accent4" accent5="accent5" accent6="accent6" hlink="hlink" folHlink="folHlink"/>
    </a:extraClrScheme>
    <a:extraClrScheme>
      <a:clrScheme name="MatKonfPras 5">
        <a:dk1>
          <a:srgbClr val="5B5249"/>
        </a:dk1>
        <a:lt1>
          <a:srgbClr val="FFFFFF"/>
        </a:lt1>
        <a:dk2>
          <a:srgbClr val="2A3D7A"/>
        </a:dk2>
        <a:lt2>
          <a:srgbClr val="CEC8BA"/>
        </a:lt2>
        <a:accent1>
          <a:srgbClr val="C9DDF1"/>
        </a:accent1>
        <a:accent2>
          <a:srgbClr val="FAC164"/>
        </a:accent2>
        <a:accent3>
          <a:srgbClr val="FFFFFF"/>
        </a:accent3>
        <a:accent4>
          <a:srgbClr val="4C453D"/>
        </a:accent4>
        <a:accent5>
          <a:srgbClr val="E1EBF7"/>
        </a:accent5>
        <a:accent6>
          <a:srgbClr val="E3AF5A"/>
        </a:accent6>
        <a:hlink>
          <a:srgbClr val="993333"/>
        </a:hlink>
        <a:folHlink>
          <a:srgbClr val="33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E:\0Internetowe\0Referat\MatKonfPras.pot</Template>
  <TotalTime>1659</TotalTime>
  <Words>567</Words>
  <Application>Microsoft Office PowerPoint</Application>
  <PresentationFormat>On-screen Show (4:3)</PresentationFormat>
  <Paragraphs>87</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Book Antiqua</vt:lpstr>
      <vt:lpstr>Times New Roman</vt:lpstr>
      <vt:lpstr>Wingdings</vt:lpstr>
      <vt:lpstr>MatKonfPras</vt:lpstr>
      <vt:lpstr>Wprowadzenie do systemów informacyjnych (WSI) Wykład 1</vt:lpstr>
      <vt:lpstr>Główny cel wykładu</vt:lpstr>
      <vt:lpstr>Plan wykładów</vt:lpstr>
      <vt:lpstr>System informacyjny a informatyczny</vt:lpstr>
      <vt:lpstr>System informacyjny a informatyczny</vt:lpstr>
      <vt:lpstr>Architektura klient – serwer</vt:lpstr>
      <vt:lpstr>Rola serwera</vt:lpstr>
      <vt:lpstr>Serwer baz danych</vt:lpstr>
      <vt:lpstr>Rola klienta</vt:lpstr>
      <vt:lpstr>Klient stacjonarny / www</vt:lpstr>
      <vt:lpstr>Architektura dwu i trójwarstwowa</vt:lpstr>
      <vt:lpstr>Baza scentralizowana a rozproszona</vt:lpstr>
      <vt:lpstr>Rozwiązania „w chmurze”</vt:lpstr>
      <vt:lpstr>Rozwiązania „w chmurze”</vt:lpstr>
    </vt:vector>
  </TitlesOfParts>
  <Company>PJWSTK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Administrowanie bazami danych - wykład 1</dc:title>
  <dc:creator>Paweł Lenkiewicz</dc:creator>
  <cp:lastModifiedBy>Pawel Lenkiewicz</cp:lastModifiedBy>
  <cp:revision>88</cp:revision>
  <dcterms:created xsi:type="dcterms:W3CDTF">2004-05-02T10:14:55Z</dcterms:created>
  <dcterms:modified xsi:type="dcterms:W3CDTF">2026-10-03T13:07:07Z</dcterms:modified>
</cp:coreProperties>
</file>